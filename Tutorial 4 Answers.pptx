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2" r:id="rId3"/>
    <p:sldId id="273" r:id="rId4"/>
    <p:sldId id="274" r:id="rId5"/>
    <p:sldId id="275" r:id="rId6"/>
    <p:sldId id="276" r:id="rId7"/>
    <p:sldId id="283" r:id="rId8"/>
    <p:sldId id="278" r:id="rId9"/>
    <p:sldId id="257" r:id="rId10"/>
    <p:sldId id="258" r:id="rId11"/>
    <p:sldId id="259" r:id="rId12"/>
    <p:sldId id="260" r:id="rId13"/>
    <p:sldId id="261" r:id="rId14"/>
    <p:sldId id="264" r:id="rId15"/>
    <p:sldId id="265" r:id="rId16"/>
    <p:sldId id="266" r:id="rId17"/>
    <p:sldId id="267" r:id="rId18"/>
    <p:sldId id="280" r:id="rId19"/>
    <p:sldId id="279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2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7B63-6BBA-1A56-93F4-BCCAB132C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2463B-C07F-1124-E70E-6FE957B39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7C72D-9257-2ED1-796D-D5F1F74D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75DB9-8A97-8365-ADBF-B99ED282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B06A3-781B-9231-4C65-F269BE2A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237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18EE-853A-DE95-6821-6143B655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B62E-4B75-5DBD-CE5F-5576F3A3F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681E5-AFF6-7419-9982-CB37E698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95EFE-06B7-5311-C2A6-5FB19741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51A78-BCCC-EFC5-E251-A934043B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219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609E-7FE0-FB4D-8FAD-2047058B1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542DA-8E68-1037-FA3F-49E5B3D80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ED7D-2D9B-3C10-D6D2-8E3BD07E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9160-120A-5FB4-34A3-12CAE6ED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A247-E389-10E5-CD4A-9BC3679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559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F1DB-8228-884F-8C52-AF28C890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9820-6FCB-F109-6A29-4307F0150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1820A-CEE7-DE56-2D9A-CCF29B9FE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7D2F4-0F7D-4DE2-7E36-FB06D138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B6319-20C3-B6D9-C7F5-0F20B03E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BC7E6-D38C-9CED-6DA1-C5CDEA02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611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5C56-1D3D-F6F1-EC70-8AB4BE9B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67E3A-6E1A-B261-8D3F-B19DB5B9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DCC2B-48B6-08DD-151D-CFE7D5BD1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4AB13-8DFB-22FA-7E6D-9F0D56B70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7B835-8C78-A6F1-7A05-F3B63672E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B66BDF-6032-88CE-977D-3F38E01B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69E48-FD0B-08CC-D615-5E2FCD16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42CF2-8EDF-BB37-FE5C-1D1BBD78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241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B709-37DD-45BA-2216-06CC1804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C0E8D-2688-FE0A-29FE-48FE987B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984BB-48B1-9D95-97E5-CA527184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2895-63DA-A8C9-E835-4B9FF891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804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1EAB5-C106-D427-A177-08DC7A6D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9BE0E-6376-8845-5964-9AF530C3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34FBD-B38F-36E6-6630-4616785D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093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1369-505E-E462-F4B4-4C5D759C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FB3D-698A-5ED2-4089-2234BEF26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4BB7B-B859-9E2A-4227-322B84D39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42560-CE7E-4FC8-EDE7-0CA6C602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3AA65-40FF-1FEE-9610-DEB0F2AD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032E4-1BEF-C612-AF76-5E14EDC4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802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22C1-8310-91E0-43F2-0F387A6D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B624E-A242-6E36-E164-654C0D0D7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119C4-354B-B7C5-4ABF-34247C533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38714-DB73-B668-C068-CB10A784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2AAB8-D67D-B6A6-E958-D47A1856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0F53D-C2F8-10B0-856C-FE5FA960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8923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6FC1-5F95-95E9-C706-77D4DB95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A5E87-964B-7CF4-2394-586B51651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7A4BC-FCB3-F133-7642-D9EBD73F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10298-08AE-89AB-77A5-5EEE8B44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9B928-B37B-1A39-9F5B-2629D84A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9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A3B7B-FDF2-6CB5-7330-E6727AC5D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AD996-8A5E-983D-221D-A58C6A14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87C58-783D-B9A0-CAE2-1FAE3AFA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F578F-AE6F-705D-61C9-9320421D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94E2B-8C1C-3693-92EC-25CFE2DD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038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76E71-A511-8EB6-0781-9D1B45F4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12F56-8664-55CC-5653-ED5FB66FC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47BFE-B0FB-FD54-5579-128EB312B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4D8F1-B301-4E8A-A9BE-A068CA41F6FD}" type="datetimeFigureOut">
              <a:rPr lang="en-SG" smtClean="0"/>
              <a:t>15/4/2026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93C74-90D2-96FC-40B1-3DF1912A6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3114-7A93-821E-25B5-C6B5B0C87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516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843E-D48D-4F5A-8859-B8EE2D2FB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256"/>
            <a:ext cx="9144000" cy="1851820"/>
          </a:xfrm>
        </p:spPr>
        <p:txBody>
          <a:bodyPr/>
          <a:lstStyle/>
          <a:p>
            <a:r>
              <a:rPr lang="en-SG" b="1" dirty="0"/>
              <a:t>CS4225/CS5425 Big Data Systems for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D3E95-D5D2-A5BD-C3C7-11AAF1145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4807"/>
            <a:ext cx="9144000" cy="3055937"/>
          </a:xfrm>
        </p:spPr>
        <p:txBody>
          <a:bodyPr>
            <a:normAutofit fontScale="92500" lnSpcReduction="10000"/>
          </a:bodyPr>
          <a:lstStyle/>
          <a:p>
            <a:r>
              <a:rPr lang="en-SG" sz="3900"/>
              <a:t>Tutorial 4 </a:t>
            </a:r>
            <a:r>
              <a:rPr lang="en-SG" sz="3900" dirty="0"/>
              <a:t>Answers</a:t>
            </a:r>
          </a:p>
          <a:p>
            <a:endParaRPr lang="en-SG" sz="3200" dirty="0"/>
          </a:p>
          <a:p>
            <a:pPr algn="ctr" eaLnBrk="1" hangingPunct="1"/>
            <a:r>
              <a:rPr lang="en-US" sz="3000" dirty="0">
                <a:latin typeface="+mj-lt"/>
              </a:rPr>
              <a:t>Desmond Lau</a:t>
            </a:r>
          </a:p>
          <a:p>
            <a:pPr algn="ctr" eaLnBrk="1" hangingPunct="1"/>
            <a:r>
              <a:rPr lang="en-US" sz="3000" dirty="0">
                <a:latin typeface="+mj-lt"/>
              </a:rPr>
              <a:t>School of Computing</a:t>
            </a:r>
          </a:p>
          <a:p>
            <a:pPr algn="ctr" eaLnBrk="1" hangingPunct="1"/>
            <a:r>
              <a:rPr lang="en-US" sz="3000" dirty="0">
                <a:latin typeface="+mj-lt"/>
              </a:rPr>
              <a:t>National University of Singapore</a:t>
            </a:r>
          </a:p>
          <a:p>
            <a:pPr algn="ctr" eaLnBrk="1" hangingPunct="1"/>
            <a:r>
              <a:rPr lang="en-SG" sz="3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dlau@nus.edu.sg</a:t>
            </a:r>
            <a:endParaRPr lang="en-SG" sz="3000" dirty="0"/>
          </a:p>
        </p:txBody>
      </p:sp>
    </p:spTree>
    <p:extLst>
      <p:ext uri="{BB962C8B-B14F-4D97-AF65-F5344CB8AC3E}">
        <p14:creationId xmlns:p14="http://schemas.microsoft.com/office/powerpoint/2010/main" val="419816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5B11-3DCD-07E8-D9DB-33419FA8A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392B0-7981-2AA6-9203-15BCB6A47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three Web pages with the following links: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Suppose we compute PageRank with a β of 0.7 (note: we assume that the sum of the </a:t>
            </a:r>
            <a:r>
              <a:rPr lang="en-US" dirty="0" err="1"/>
              <a:t>PageRanks</a:t>
            </a:r>
            <a:r>
              <a:rPr lang="en-US" dirty="0"/>
              <a:t> of the three pages must be 1, to handle the problem that otherwise any multiple of a solution will also be a solution). Compute the </a:t>
            </a:r>
            <a:r>
              <a:rPr lang="en-US" dirty="0" err="1"/>
              <a:t>PageRanks</a:t>
            </a:r>
            <a:r>
              <a:rPr lang="en-US" dirty="0"/>
              <a:t> a, b, and c of the three pages A, B, and C, respectively.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67B8D-37A6-6D11-8AE7-DF9BAFED1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744" y="1690688"/>
            <a:ext cx="2299258" cy="219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1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92DAD6F-0448-6821-30A4-2E1B9C71A04C}"/>
              </a:ext>
            </a:extLst>
          </p:cNvPr>
          <p:cNvGrpSpPr/>
          <p:nvPr/>
        </p:nvGrpSpPr>
        <p:grpSpPr>
          <a:xfrm>
            <a:off x="133424" y="476250"/>
            <a:ext cx="5785176" cy="4769882"/>
            <a:chOff x="133424" y="476250"/>
            <a:chExt cx="5785176" cy="47698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1FF97CF-CB4C-CF10-470D-313FD2217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424" y="476250"/>
              <a:ext cx="5785176" cy="4171950"/>
            </a:xfrm>
            <a:prstGeom prst="rect">
              <a:avLst/>
            </a:prstGeom>
          </p:spPr>
        </p:pic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DF26DD0-E8A4-DA64-0446-BEB841C3AEAB}"/>
                </a:ext>
              </a:extLst>
            </p:cNvPr>
            <p:cNvSpPr txBox="1"/>
            <p:nvPr/>
          </p:nvSpPr>
          <p:spPr>
            <a:xfrm>
              <a:off x="1959211" y="4876800"/>
              <a:ext cx="21336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Lecture 10 Slide 48</a:t>
              </a:r>
              <a:endParaRPr lang="en-SG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0B07AA-3117-5E4D-5394-E0BA936C8333}"/>
              </a:ext>
            </a:extLst>
          </p:cNvPr>
          <p:cNvGrpSpPr/>
          <p:nvPr/>
        </p:nvGrpSpPr>
        <p:grpSpPr>
          <a:xfrm>
            <a:off x="5954436" y="400050"/>
            <a:ext cx="6104140" cy="4846082"/>
            <a:chOff x="5954436" y="400050"/>
            <a:chExt cx="6104140" cy="48460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C51B8B2-FF90-F570-315D-345AFB496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4436" y="400050"/>
              <a:ext cx="6104140" cy="4476750"/>
            </a:xfrm>
            <a:prstGeom prst="rect">
              <a:avLst/>
            </a:prstGeom>
          </p:spPr>
        </p:pic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FC033F9C-C625-12AC-54D7-2C6AF39ACA87}"/>
                </a:ext>
              </a:extLst>
            </p:cNvPr>
            <p:cNvSpPr txBox="1"/>
            <p:nvPr/>
          </p:nvSpPr>
          <p:spPr>
            <a:xfrm>
              <a:off x="7939705" y="4876800"/>
              <a:ext cx="21336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Lecture 10 Slide 49</a:t>
              </a:r>
              <a:endParaRPr lang="en-SG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9905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E71BAD-51E8-10C9-333A-FB0CE52BDB4A}"/>
                  </a:ext>
                </a:extLst>
              </p:cNvPr>
              <p:cNvSpPr txBox="1"/>
              <p:nvPr/>
            </p:nvSpPr>
            <p:spPr>
              <a:xfrm>
                <a:off x="285749" y="2680254"/>
                <a:ext cx="3400425" cy="679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  <m:f>
                            <m:fPr>
                              <m:ctrlPr>
                                <a:rPr lang="en-SG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SG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f>
                        <m:fPr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E71BAD-51E8-10C9-333A-FB0CE52BD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2680254"/>
                <a:ext cx="3400425" cy="679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>
            <a:extLst>
              <a:ext uri="{FF2B5EF4-FFF2-40B4-BE49-F238E27FC236}">
                <a16:creationId xmlns:a16="http://schemas.microsoft.com/office/drawing/2014/main" id="{C251AAD9-01B9-3974-93D0-9ECAA0020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47" y="241514"/>
            <a:ext cx="2553056" cy="2438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ABC3FBB-9B2D-26AA-D0E8-0250998049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86201" y="400050"/>
                <a:ext cx="7219950" cy="602218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Importance of a 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a</a:t>
                </a:r>
                <a:r>
                  <a:rPr lang="en-US" dirty="0"/>
                  <a:t>)</a:t>
                </a:r>
                <a:endParaRPr lang="en-US" baseline="-25000" dirty="0"/>
              </a:p>
              <a:p>
                <a:pPr lvl="1"/>
                <a:r>
                  <a:rPr lang="en-SG" dirty="0"/>
                  <a:t>No in-link, first term = 0</a:t>
                </a:r>
              </a:p>
              <a:p>
                <a:pPr lvl="1"/>
                <a:r>
                  <a:rPr lang="en-SG" dirty="0"/>
                  <a:t>Second term = (1 -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) × 1 / 3 = 0.3 / 3 = 0.1</a:t>
                </a:r>
              </a:p>
              <a:p>
                <a:pPr lvl="1"/>
                <a:r>
                  <a:rPr lang="en-US" dirty="0" err="1"/>
                  <a:t>r</a:t>
                </a:r>
                <a:r>
                  <a:rPr lang="en-US" baseline="-25000" dirty="0" err="1"/>
                  <a:t>a</a:t>
                </a:r>
                <a:r>
                  <a:rPr lang="en-SG" dirty="0"/>
                  <a:t> = 0.1</a:t>
                </a:r>
              </a:p>
              <a:p>
                <a:pPr lvl="1"/>
                <a:endParaRPr lang="en-SG" dirty="0"/>
              </a:p>
              <a:p>
                <a:r>
                  <a:rPr lang="en-US" dirty="0"/>
                  <a:t>Importance of </a:t>
                </a:r>
                <a:r>
                  <a:rPr lang="en-SG" dirty="0"/>
                  <a:t>b </a:t>
                </a:r>
                <a:r>
                  <a:rPr lang="en-US" dirty="0"/>
                  <a:t>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b</a:t>
                </a:r>
                <a:r>
                  <a:rPr lang="en-US" dirty="0"/>
                  <a:t>)</a:t>
                </a:r>
                <a:endParaRPr lang="en-SG" baseline="-25000" dirty="0"/>
              </a:p>
              <a:p>
                <a:pPr lvl="1"/>
                <a:r>
                  <a:rPr lang="en-SG" dirty="0"/>
                  <a:t>First term =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× (</a:t>
                </a:r>
                <a:r>
                  <a:rPr lang="en-SG" dirty="0" err="1"/>
                  <a:t>r</a:t>
                </a:r>
                <a:r>
                  <a:rPr lang="en-SG" baseline="-25000" dirty="0" err="1"/>
                  <a:t>a</a:t>
                </a:r>
                <a:r>
                  <a:rPr lang="en-SG" dirty="0"/>
                  <a:t> / d</a:t>
                </a:r>
                <a:r>
                  <a:rPr lang="en-SG" baseline="-25000" dirty="0"/>
                  <a:t>a</a:t>
                </a:r>
                <a:r>
                  <a:rPr lang="en-SG" dirty="0"/>
                  <a:t>) = 0.7 × (0.1 / 2) = 0.035</a:t>
                </a:r>
              </a:p>
              <a:p>
                <a:pPr lvl="2"/>
                <a:r>
                  <a:rPr lang="en-SG" dirty="0"/>
                  <a:t>In-link from A (which has 2 out-link). </a:t>
                </a:r>
              </a:p>
              <a:p>
                <a:pPr lvl="1"/>
                <a:r>
                  <a:rPr lang="en-SG" dirty="0"/>
                  <a:t>Second term = 0.1</a:t>
                </a:r>
              </a:p>
              <a:p>
                <a:pPr lvl="1"/>
                <a:r>
                  <a:rPr lang="en-SG" dirty="0" err="1"/>
                  <a:t>r</a:t>
                </a:r>
                <a:r>
                  <a:rPr lang="en-SG" baseline="-25000" dirty="0" err="1"/>
                  <a:t>b</a:t>
                </a:r>
                <a:r>
                  <a:rPr lang="en-SG" dirty="0"/>
                  <a:t> = 0.035 + 0.1 = 0.135</a:t>
                </a:r>
              </a:p>
              <a:p>
                <a:pPr lvl="1"/>
                <a:endParaRPr lang="en-SG" dirty="0"/>
              </a:p>
              <a:p>
                <a:r>
                  <a:rPr lang="en-US" dirty="0"/>
                  <a:t>Importance of </a:t>
                </a:r>
                <a:r>
                  <a:rPr lang="en-SG" dirty="0"/>
                  <a:t>c </a:t>
                </a:r>
                <a:r>
                  <a:rPr lang="en-US" dirty="0"/>
                  <a:t>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c</a:t>
                </a:r>
                <a:r>
                  <a:rPr lang="en-US" dirty="0"/>
                  <a:t>)</a:t>
                </a:r>
                <a:endParaRPr lang="en-SG" baseline="-25000" dirty="0"/>
              </a:p>
              <a:p>
                <a:pPr lvl="1">
                  <a:lnSpc>
                    <a:spcPct val="120000"/>
                  </a:lnSpc>
                </a:pPr>
                <a:r>
                  <a:rPr lang="en-SG" dirty="0"/>
                  <a:t>First term =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× (</a:t>
                </a:r>
                <a:r>
                  <a:rPr lang="en-SG" dirty="0" err="1"/>
                  <a:t>r</a:t>
                </a:r>
                <a:r>
                  <a:rPr lang="en-SG" baseline="-25000" dirty="0" err="1"/>
                  <a:t>a</a:t>
                </a:r>
                <a:r>
                  <a:rPr lang="en-SG" dirty="0"/>
                  <a:t> / d</a:t>
                </a:r>
                <a:r>
                  <a:rPr lang="en-SG" baseline="-25000" dirty="0"/>
                  <a:t>a</a:t>
                </a:r>
                <a:r>
                  <a:rPr lang="en-SG" dirty="0"/>
                  <a:t>) +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× (</a:t>
                </a:r>
                <a:r>
                  <a:rPr lang="en-SG" dirty="0" err="1"/>
                  <a:t>r</a:t>
                </a:r>
                <a:r>
                  <a:rPr lang="en-SG" baseline="-25000" dirty="0" err="1"/>
                  <a:t>b</a:t>
                </a:r>
                <a:r>
                  <a:rPr lang="en-SG" dirty="0"/>
                  <a:t> / </a:t>
                </a:r>
                <a:r>
                  <a:rPr lang="en-SG" dirty="0" err="1"/>
                  <a:t>d</a:t>
                </a:r>
                <a:r>
                  <a:rPr lang="en-SG" baseline="-25000" dirty="0" err="1"/>
                  <a:t>b</a:t>
                </a:r>
                <a:r>
                  <a:rPr lang="en-SG" dirty="0"/>
                  <a:t>) </a:t>
                </a:r>
                <a14:m>
                  <m:oMath xmlns:m="http://schemas.openxmlformats.org/officeDocument/2006/math">
                    <m:r>
                      <a:rPr lang="en-SG" b="0" i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x (r</a:t>
                </a:r>
                <a:r>
                  <a:rPr lang="en-SG" baseline="-25000" dirty="0"/>
                  <a:t>c</a:t>
                </a:r>
                <a:r>
                  <a:rPr lang="en-SG" dirty="0"/>
                  <a:t> / d</a:t>
                </a:r>
                <a:r>
                  <a:rPr lang="en-SG" baseline="-25000" dirty="0"/>
                  <a:t>c</a:t>
                </a:r>
                <a:r>
                  <a:rPr lang="en-SG" dirty="0"/>
                  <a:t>) = 0.035 + 0.7 × 0.135 + 0.7r</a:t>
                </a:r>
                <a:r>
                  <a:rPr lang="en-SG" baseline="-25000" dirty="0"/>
                  <a:t>c</a:t>
                </a:r>
                <a:r>
                  <a:rPr lang="en-SG" dirty="0"/>
                  <a:t> = 0.1295 + 0.7r</a:t>
                </a:r>
                <a:r>
                  <a:rPr lang="en-SG" baseline="-25000" dirty="0"/>
                  <a:t>c</a:t>
                </a:r>
                <a:endParaRPr lang="en-SG" dirty="0"/>
              </a:p>
              <a:p>
                <a:pPr lvl="2"/>
                <a:r>
                  <a:rPr lang="en-SG" dirty="0"/>
                  <a:t>In-link from A (which has 2 out-link)</a:t>
                </a:r>
              </a:p>
              <a:p>
                <a:pPr lvl="2"/>
                <a:r>
                  <a:rPr lang="en-SG" dirty="0"/>
                  <a:t>In-link from B (which has 1 out-link)</a:t>
                </a:r>
              </a:p>
              <a:p>
                <a:pPr lvl="2"/>
                <a:r>
                  <a:rPr lang="en-SG" dirty="0"/>
                  <a:t>In-link from C (which has 1 out-link)</a:t>
                </a:r>
              </a:p>
              <a:p>
                <a:pPr lvl="1"/>
                <a:r>
                  <a:rPr lang="en-SG" dirty="0"/>
                  <a:t>Second term = 0.1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SG" dirty="0"/>
                  <a:t>r</a:t>
                </a:r>
                <a:r>
                  <a:rPr lang="en-SG" baseline="-25000" dirty="0"/>
                  <a:t>c</a:t>
                </a:r>
                <a:r>
                  <a:rPr lang="en-SG" dirty="0"/>
                  <a:t> = 0.1295 + 0.7r</a:t>
                </a:r>
                <a:r>
                  <a:rPr lang="en-SG" baseline="-25000" dirty="0"/>
                  <a:t>c </a:t>
                </a:r>
                <a:r>
                  <a:rPr lang="en-SG" dirty="0"/>
                  <a:t>+ 0.1 = 0.7r</a:t>
                </a:r>
                <a:r>
                  <a:rPr lang="en-SG" baseline="-25000" dirty="0"/>
                  <a:t>c</a:t>
                </a:r>
                <a:r>
                  <a:rPr lang="en-SG" dirty="0"/>
                  <a:t> + 0.2295, so 0.3r</a:t>
                </a:r>
                <a:r>
                  <a:rPr lang="en-SG" baseline="-25000" dirty="0"/>
                  <a:t>c</a:t>
                </a:r>
                <a:r>
                  <a:rPr lang="en-SG" dirty="0"/>
                  <a:t> = 0.2295, and r</a:t>
                </a:r>
                <a:r>
                  <a:rPr lang="en-SG" baseline="-25000" dirty="0"/>
                  <a:t>c</a:t>
                </a:r>
                <a:r>
                  <a:rPr lang="en-SG" dirty="0"/>
                  <a:t> = 0.2295 / 0.3 = 0.765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SG" dirty="0"/>
                  <a:t>Alternatively, r</a:t>
                </a:r>
                <a:r>
                  <a:rPr lang="en-SG" baseline="-25000" dirty="0"/>
                  <a:t>c</a:t>
                </a:r>
                <a:r>
                  <a:rPr lang="en-SG" dirty="0"/>
                  <a:t> = 1 –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a</a:t>
                </a:r>
                <a:r>
                  <a:rPr lang="en-US" dirty="0"/>
                  <a:t> </a:t>
                </a:r>
                <a:r>
                  <a:rPr lang="en-SG" dirty="0"/>
                  <a:t>–</a:t>
                </a:r>
                <a:r>
                  <a:rPr lang="en-US" dirty="0"/>
                  <a:t>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b</a:t>
                </a:r>
                <a:r>
                  <a:rPr lang="en-SG" dirty="0"/>
                  <a:t> = 1 – 0.1 – 0.135 = 0.765</a:t>
                </a:r>
              </a:p>
              <a:p>
                <a:pPr lvl="1">
                  <a:lnSpc>
                    <a:spcPct val="120000"/>
                  </a:lnSpc>
                </a:pPr>
                <a:endParaRPr lang="en-SG" dirty="0"/>
              </a:p>
              <a:p>
                <a:pPr lvl="1">
                  <a:lnSpc>
                    <a:spcPct val="120000"/>
                  </a:lnSpc>
                </a:pPr>
                <a:endParaRPr lang="en-SG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ABC3FBB-9B2D-26AA-D0E8-0250998049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6201" y="400050"/>
                <a:ext cx="7219950" cy="6022181"/>
              </a:xfrm>
              <a:blipFill>
                <a:blip r:embed="rId4"/>
                <a:stretch>
                  <a:fillRect l="-1014" t="-2126" r="-253" b="-17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C3DEF-1D21-3E97-561D-C849DF2C2088}"/>
                  </a:ext>
                </a:extLst>
              </p:cNvPr>
              <p:cNvSpPr txBox="1"/>
              <p:nvPr/>
            </p:nvSpPr>
            <p:spPr>
              <a:xfrm>
                <a:off x="1609725" y="3497817"/>
                <a:ext cx="11144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= 0.7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C3DEF-1D21-3E97-561D-C849DF2C2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3497817"/>
                <a:ext cx="1114425" cy="369332"/>
              </a:xfrm>
              <a:prstGeom prst="rect">
                <a:avLst/>
              </a:prstGeom>
              <a:blipFill>
                <a:blip r:embed="rId5"/>
                <a:stretch>
                  <a:fillRect l="-1639" t="-10000" b="-2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023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5B11-3DCD-07E8-D9DB-33419FA8A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392B0-7981-2AA6-9203-15BCB6A47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three Web pages with the following links: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Suppose we compute PageRank with a β of 0.85. Write the equations for the </a:t>
            </a:r>
            <a:r>
              <a:rPr lang="en-US" dirty="0" err="1"/>
              <a:t>PageRanks</a:t>
            </a:r>
            <a:r>
              <a:rPr lang="en-US" dirty="0"/>
              <a:t> a, b and c of the three pages A, B and C, respectively.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347354-DC92-31FE-93CA-932CE8972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75" y="1412875"/>
            <a:ext cx="3667125" cy="2444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941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E71BAD-51E8-10C9-333A-FB0CE52BDB4A}"/>
                  </a:ext>
                </a:extLst>
              </p:cNvPr>
              <p:cNvSpPr txBox="1"/>
              <p:nvPr/>
            </p:nvSpPr>
            <p:spPr>
              <a:xfrm>
                <a:off x="285749" y="2680254"/>
                <a:ext cx="3400425" cy="679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  <m:f>
                            <m:fPr>
                              <m:ctrlPr>
                                <a:rPr lang="en-SG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SG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f>
                        <m:fPr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E71BAD-51E8-10C9-333A-FB0CE52BD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2680254"/>
                <a:ext cx="3400425" cy="679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ABC3FBB-9B2D-26AA-D0E8-0250998049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86201" y="400050"/>
                <a:ext cx="7219950" cy="57864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Importance of a 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a</a:t>
                </a:r>
                <a:r>
                  <a:rPr lang="en-US" dirty="0"/>
                  <a:t>)</a:t>
                </a:r>
                <a:endParaRPr lang="en-US" baseline="-25000" dirty="0"/>
              </a:p>
              <a:p>
                <a:pPr lvl="1"/>
                <a:r>
                  <a:rPr lang="en-SG" dirty="0"/>
                  <a:t>First term =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× r</a:t>
                </a:r>
                <a:r>
                  <a:rPr lang="en-SG" baseline="-25000" dirty="0"/>
                  <a:t>c</a:t>
                </a:r>
                <a:r>
                  <a:rPr lang="en-SG" dirty="0"/>
                  <a:t> / d</a:t>
                </a:r>
                <a:r>
                  <a:rPr lang="en-SG" baseline="-25000" dirty="0"/>
                  <a:t>c</a:t>
                </a:r>
                <a:r>
                  <a:rPr lang="en-SG" dirty="0"/>
                  <a:t> = 0.85 x (r</a:t>
                </a:r>
                <a:r>
                  <a:rPr lang="en-SG" baseline="-25000" dirty="0"/>
                  <a:t>c</a:t>
                </a:r>
                <a:r>
                  <a:rPr lang="en-SG" dirty="0"/>
                  <a:t> / 1)</a:t>
                </a:r>
                <a:endParaRPr lang="en-SG" baseline="-25000" dirty="0"/>
              </a:p>
              <a:p>
                <a:pPr lvl="2"/>
                <a:r>
                  <a:rPr lang="en-SG" dirty="0"/>
                  <a:t>In-link from C (which has 1 out-link)</a:t>
                </a:r>
              </a:p>
              <a:p>
                <a:pPr lvl="1"/>
                <a:r>
                  <a:rPr lang="en-SG" dirty="0"/>
                  <a:t>Second term = (1 -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) x 1 / 3 = 0.15 / 3 = 0.05</a:t>
                </a:r>
              </a:p>
              <a:p>
                <a:pPr lvl="1"/>
                <a:r>
                  <a:rPr lang="en-SG" dirty="0" err="1"/>
                  <a:t>r</a:t>
                </a:r>
                <a:r>
                  <a:rPr lang="en-SG" baseline="-25000" dirty="0" err="1"/>
                  <a:t>a</a:t>
                </a:r>
                <a:r>
                  <a:rPr lang="en-SG" dirty="0"/>
                  <a:t> = 0.85r</a:t>
                </a:r>
                <a:r>
                  <a:rPr lang="en-SG" baseline="-25000" dirty="0"/>
                  <a:t>c</a:t>
                </a:r>
                <a:r>
                  <a:rPr lang="en-SG" dirty="0"/>
                  <a:t> + 0.05</a:t>
                </a:r>
              </a:p>
              <a:p>
                <a:pPr lvl="1"/>
                <a:endParaRPr lang="en-SG" dirty="0"/>
              </a:p>
              <a:p>
                <a:r>
                  <a:rPr lang="en-US" dirty="0"/>
                  <a:t>Importance of b 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b</a:t>
                </a:r>
                <a:r>
                  <a:rPr lang="en-US" dirty="0"/>
                  <a:t>)</a:t>
                </a:r>
                <a:endParaRPr lang="en-US" baseline="-25000" dirty="0"/>
              </a:p>
              <a:p>
                <a:pPr lvl="1"/>
                <a:r>
                  <a:rPr lang="en-SG" dirty="0"/>
                  <a:t>First term =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× (</a:t>
                </a:r>
                <a:r>
                  <a:rPr lang="en-SG" dirty="0" err="1"/>
                  <a:t>r</a:t>
                </a:r>
                <a:r>
                  <a:rPr lang="en-SG" baseline="-25000" dirty="0" err="1"/>
                  <a:t>a</a:t>
                </a:r>
                <a:r>
                  <a:rPr lang="en-SG" dirty="0"/>
                  <a:t> / d</a:t>
                </a:r>
                <a:r>
                  <a:rPr lang="en-SG" baseline="-25000" dirty="0"/>
                  <a:t>a</a:t>
                </a:r>
                <a:r>
                  <a:rPr lang="en-SG" dirty="0"/>
                  <a:t>) = 0.85 × (</a:t>
                </a:r>
                <a:r>
                  <a:rPr lang="en-SG" dirty="0" err="1"/>
                  <a:t>r</a:t>
                </a:r>
                <a:r>
                  <a:rPr lang="en-SG" baseline="-25000" dirty="0" err="1"/>
                  <a:t>a</a:t>
                </a:r>
                <a:r>
                  <a:rPr lang="en-SG" dirty="0"/>
                  <a:t> / 2) = 0.425r</a:t>
                </a:r>
                <a:r>
                  <a:rPr lang="en-SG" baseline="-25000" dirty="0"/>
                  <a:t>a</a:t>
                </a:r>
              </a:p>
              <a:p>
                <a:pPr lvl="2"/>
                <a:r>
                  <a:rPr lang="en-SG" dirty="0"/>
                  <a:t>In-link from A (which has 2 out-links). </a:t>
                </a:r>
              </a:p>
              <a:p>
                <a:pPr lvl="1"/>
                <a:r>
                  <a:rPr lang="en-SG" dirty="0"/>
                  <a:t>Second term = 0.05</a:t>
                </a:r>
              </a:p>
              <a:p>
                <a:pPr lvl="1"/>
                <a:r>
                  <a:rPr lang="en-SG" dirty="0" err="1"/>
                  <a:t>r</a:t>
                </a:r>
                <a:r>
                  <a:rPr lang="en-SG" baseline="-25000" dirty="0" err="1"/>
                  <a:t>b</a:t>
                </a:r>
                <a:r>
                  <a:rPr lang="en-SG" dirty="0"/>
                  <a:t> = 0.425r</a:t>
                </a:r>
                <a:r>
                  <a:rPr lang="en-SG" baseline="-25000" dirty="0"/>
                  <a:t>a</a:t>
                </a:r>
                <a:r>
                  <a:rPr lang="en-SG" dirty="0"/>
                  <a:t> + 0.05</a:t>
                </a:r>
              </a:p>
              <a:p>
                <a:pPr lvl="1"/>
                <a:endParaRPr lang="en-SG" dirty="0"/>
              </a:p>
              <a:p>
                <a:r>
                  <a:rPr lang="en-US" dirty="0"/>
                  <a:t>Importance of c 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c</a:t>
                </a:r>
                <a:r>
                  <a:rPr lang="en-US" dirty="0"/>
                  <a:t>)</a:t>
                </a:r>
                <a:endParaRPr lang="en-US" baseline="-25000" dirty="0"/>
              </a:p>
              <a:p>
                <a:pPr lvl="1"/>
                <a:r>
                  <a:rPr lang="en-SG" dirty="0"/>
                  <a:t>First term =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× (</a:t>
                </a:r>
                <a:r>
                  <a:rPr lang="en-SG" dirty="0" err="1"/>
                  <a:t>r</a:t>
                </a:r>
                <a:r>
                  <a:rPr lang="en-SG" baseline="-25000" dirty="0" err="1"/>
                  <a:t>a</a:t>
                </a:r>
                <a:r>
                  <a:rPr lang="en-SG" dirty="0"/>
                  <a:t> / d</a:t>
                </a:r>
                <a:r>
                  <a:rPr lang="en-SG" baseline="-25000" dirty="0"/>
                  <a:t>a</a:t>
                </a:r>
                <a:r>
                  <a:rPr lang="en-SG" dirty="0"/>
                  <a:t>) +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× (</a:t>
                </a:r>
                <a:r>
                  <a:rPr lang="en-SG" dirty="0" err="1"/>
                  <a:t>r</a:t>
                </a:r>
                <a:r>
                  <a:rPr lang="en-SG" baseline="-25000" dirty="0" err="1"/>
                  <a:t>b</a:t>
                </a:r>
                <a:r>
                  <a:rPr lang="en-SG" dirty="0"/>
                  <a:t> / </a:t>
                </a:r>
                <a:r>
                  <a:rPr lang="en-SG" dirty="0" err="1"/>
                  <a:t>d</a:t>
                </a:r>
                <a:r>
                  <a:rPr lang="en-SG" baseline="-25000" dirty="0" err="1"/>
                  <a:t>b</a:t>
                </a:r>
                <a:r>
                  <a:rPr lang="en-SG" dirty="0"/>
                  <a:t>) = 0.425r</a:t>
                </a:r>
                <a:r>
                  <a:rPr lang="en-SG" baseline="-25000" dirty="0"/>
                  <a:t>a</a:t>
                </a:r>
                <a:r>
                  <a:rPr lang="en-SG" dirty="0"/>
                  <a:t> + 0.85r</a:t>
                </a:r>
                <a:r>
                  <a:rPr lang="en-SG" baseline="-25000" dirty="0"/>
                  <a:t>b</a:t>
                </a:r>
              </a:p>
              <a:p>
                <a:pPr lvl="2"/>
                <a:r>
                  <a:rPr lang="en-SG" dirty="0"/>
                  <a:t>In-link from A (which has 2 out-links)</a:t>
                </a:r>
              </a:p>
              <a:p>
                <a:pPr lvl="2"/>
                <a:r>
                  <a:rPr lang="en-SG" dirty="0"/>
                  <a:t>In-link from B (which has 1 out-link)</a:t>
                </a:r>
              </a:p>
              <a:p>
                <a:pPr lvl="1"/>
                <a:r>
                  <a:rPr lang="en-SG" dirty="0"/>
                  <a:t>Second term = 0.05</a:t>
                </a:r>
              </a:p>
              <a:p>
                <a:pPr lvl="1"/>
                <a:r>
                  <a:rPr lang="en-SG" dirty="0"/>
                  <a:t>r</a:t>
                </a:r>
                <a:r>
                  <a:rPr lang="en-SG" baseline="-25000" dirty="0"/>
                  <a:t>c</a:t>
                </a:r>
                <a:r>
                  <a:rPr lang="en-SG" dirty="0"/>
                  <a:t> = 0.425r</a:t>
                </a:r>
                <a:r>
                  <a:rPr lang="en-SG" baseline="-25000" dirty="0"/>
                  <a:t>a</a:t>
                </a:r>
                <a:r>
                  <a:rPr lang="en-SG" dirty="0"/>
                  <a:t> + 0.85r</a:t>
                </a:r>
                <a:r>
                  <a:rPr lang="en-SG" baseline="-25000" dirty="0"/>
                  <a:t>b</a:t>
                </a:r>
                <a:r>
                  <a:rPr lang="en-SG" dirty="0"/>
                  <a:t> + 0.05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ABC3FBB-9B2D-26AA-D0E8-0250998049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6201" y="400050"/>
                <a:ext cx="7219950" cy="5786438"/>
              </a:xfrm>
              <a:blipFill>
                <a:blip r:embed="rId3"/>
                <a:stretch>
                  <a:fillRect l="-1351" t="-274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C3DEF-1D21-3E97-561D-C849DF2C2088}"/>
                  </a:ext>
                </a:extLst>
              </p:cNvPr>
              <p:cNvSpPr txBox="1"/>
              <p:nvPr/>
            </p:nvSpPr>
            <p:spPr>
              <a:xfrm>
                <a:off x="1609725" y="3497817"/>
                <a:ext cx="11144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 = 0.85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C3DEF-1D21-3E97-561D-C849DF2C2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3497817"/>
                <a:ext cx="1114425" cy="369332"/>
              </a:xfrm>
              <a:prstGeom prst="rect">
                <a:avLst/>
              </a:prstGeom>
              <a:blipFill>
                <a:blip r:embed="rId4"/>
                <a:stretch>
                  <a:fillRect l="-1639" t="-10000" b="-2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3">
            <a:extLst>
              <a:ext uri="{FF2B5EF4-FFF2-40B4-BE49-F238E27FC236}">
                <a16:creationId xmlns:a16="http://schemas.microsoft.com/office/drawing/2014/main" id="{2B0C3A0D-3A4F-A4F1-CB03-CAB2E2582D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9" y="116921"/>
            <a:ext cx="3425069" cy="22833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246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7E68F-EDDA-02E0-2252-8BA495913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7A00C-5B10-6660-302E-15785B0E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0364"/>
            <a:ext cx="9239250" cy="9126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Also note that it is also fine to use the matrix form of the PageRank equations:</a:t>
            </a:r>
          </a:p>
          <a:p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54FD39-DB8B-647C-9756-0F9CA5DB7025}"/>
                  </a:ext>
                </a:extLst>
              </p:cNvPr>
              <p:cNvSpPr txBox="1"/>
              <p:nvPr/>
            </p:nvSpPr>
            <p:spPr>
              <a:xfrm>
                <a:off x="2228850" y="1032110"/>
                <a:ext cx="7734300" cy="1733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SG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0.475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0.475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54FD39-DB8B-647C-9756-0F9CA5DB7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50" y="1032110"/>
                <a:ext cx="7734300" cy="17331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D14F353-592D-26FC-EB0E-7520B1BBE1B2}"/>
              </a:ext>
            </a:extLst>
          </p:cNvPr>
          <p:cNvSpPr txBox="1"/>
          <p:nvPr/>
        </p:nvSpPr>
        <p:spPr>
          <a:xfrm>
            <a:off x="1066800" y="3018175"/>
            <a:ext cx="923925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PageRank equation is then r=</a:t>
            </a:r>
            <a:r>
              <a:rPr lang="en-US" sz="2400" dirty="0" err="1"/>
              <a:t>Ar</a:t>
            </a:r>
            <a:r>
              <a:rPr lang="en-US" sz="2400" dirty="0"/>
              <a:t>, where r is PageRank, which could also be written as: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a=0.05a+0.05b+0.9c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             b=0.475a+0.05b+0.05c       OR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c=0.475a+0.9b+0.05c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Note that although these are equivalent solutions, we recommend you simplify to the latter presentation in the exam, for ease of marking.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18EB94-E068-DF5F-9ED9-9927BC1F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3958227"/>
            <a:ext cx="2895600" cy="136445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542939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8649D-3D89-DC6F-0227-CBA48F365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0364"/>
            <a:ext cx="9239250" cy="9126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Also note that it is also fine to use the matrix form of the PageRank equations:</a:t>
            </a:r>
          </a:p>
          <a:p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30E359-F5E0-5714-F630-280B028353CE}"/>
                  </a:ext>
                </a:extLst>
              </p:cNvPr>
              <p:cNvSpPr txBox="1"/>
              <p:nvPr/>
            </p:nvSpPr>
            <p:spPr>
              <a:xfrm>
                <a:off x="2228850" y="1032110"/>
                <a:ext cx="7734300" cy="1733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SG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SG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0.475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0.475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en-SG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30E359-F5E0-5714-F630-280B02835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50" y="1032110"/>
                <a:ext cx="7734300" cy="17331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326E6E5-E5DD-A438-6C1A-5B092F2A9451}"/>
              </a:ext>
            </a:extLst>
          </p:cNvPr>
          <p:cNvSpPr txBox="1"/>
          <p:nvPr/>
        </p:nvSpPr>
        <p:spPr>
          <a:xfrm>
            <a:off x="1066800" y="3018175"/>
            <a:ext cx="9239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PageRank equation is then r=</a:t>
            </a:r>
            <a:r>
              <a:rPr lang="en-US" sz="2400" dirty="0" err="1"/>
              <a:t>Ar</a:t>
            </a:r>
            <a:r>
              <a:rPr lang="en-US" sz="2400" dirty="0"/>
              <a:t>, where r is PageRank, which could also be written as: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D73CFB-6418-55D7-F2C7-105EA3D73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3958227"/>
            <a:ext cx="2895600" cy="136445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888358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E179-27F2-B2A8-BB2A-AF139786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F2AAB-EAC5-0DF5-72D4-BD85C1C0A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15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 the following graph: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How many dead ends are there in the graph? For each dead end (if any), please indicate the set of vertices forming the dead end. 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How many spider traps are there in the graph? For each spider trap (if any), please indicate the set of vertices forming the spider trap.</a:t>
            </a:r>
          </a:p>
          <a:p>
            <a:endParaRPr lang="en-SG" dirty="0"/>
          </a:p>
        </p:txBody>
      </p:sp>
      <p:pic>
        <p:nvPicPr>
          <p:cNvPr id="5" name="Picture 4" descr="A picture containing watch, clock&#10;&#10;Description automatically generated">
            <a:extLst>
              <a:ext uri="{FF2B5EF4-FFF2-40B4-BE49-F238E27FC236}">
                <a16:creationId xmlns:a16="http://schemas.microsoft.com/office/drawing/2014/main" id="{3C2846B0-9F7C-12B2-8F98-65A7DD8F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174" y="1533523"/>
            <a:ext cx="4608017" cy="349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34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2306-7455-27C7-9B9E-E4A92534B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Answer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817F7-8562-A4F4-1577-B0AFA0E00F22}"/>
              </a:ext>
            </a:extLst>
          </p:cNvPr>
          <p:cNvSpPr txBox="1"/>
          <p:nvPr/>
        </p:nvSpPr>
        <p:spPr>
          <a:xfrm>
            <a:off x="5111930" y="6123543"/>
            <a:ext cx="1968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Lecture 10 Slide 36</a:t>
            </a:r>
            <a:endParaRPr lang="en-S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98051-93D8-BB06-0B8B-F3950D875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050" y="1350168"/>
            <a:ext cx="7829896" cy="484346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BD2359D-C4C2-905A-B929-D233A57E4E24}"/>
              </a:ext>
            </a:extLst>
          </p:cNvPr>
          <p:cNvSpPr/>
          <p:nvPr/>
        </p:nvSpPr>
        <p:spPr>
          <a:xfrm>
            <a:off x="2539997" y="2409832"/>
            <a:ext cx="3832225" cy="2658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CA30D4-FA29-2099-1B9A-CA25839A48BA}"/>
              </a:ext>
            </a:extLst>
          </p:cNvPr>
          <p:cNvSpPr/>
          <p:nvPr/>
        </p:nvSpPr>
        <p:spPr>
          <a:xfrm>
            <a:off x="2539997" y="4250532"/>
            <a:ext cx="4217991" cy="317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9020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5BC8-4DBA-BD8C-AD13-C672AE9EC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Answer 3</a:t>
            </a:r>
          </a:p>
        </p:txBody>
      </p:sp>
      <p:pic>
        <p:nvPicPr>
          <p:cNvPr id="4" name="Picture 4" descr="A picture containing watch, clock&#10;&#10;Description automatically generated">
            <a:extLst>
              <a:ext uri="{FF2B5EF4-FFF2-40B4-BE49-F238E27FC236}">
                <a16:creationId xmlns:a16="http://schemas.microsoft.com/office/drawing/2014/main" id="{28934FC9-3444-71F3-3C2C-E549830F94B3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4187715" y="1098336"/>
            <a:ext cx="6767988" cy="513397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448708E-D760-0870-9C09-52A79E5768BA}"/>
              </a:ext>
            </a:extLst>
          </p:cNvPr>
          <p:cNvSpPr/>
          <p:nvPr/>
        </p:nvSpPr>
        <p:spPr>
          <a:xfrm>
            <a:off x="6631082" y="4834607"/>
            <a:ext cx="1325563" cy="1325563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569F53-BA4C-7D92-4C6E-71DFB9AB7645}"/>
              </a:ext>
            </a:extLst>
          </p:cNvPr>
          <p:cNvSpPr/>
          <p:nvPr/>
        </p:nvSpPr>
        <p:spPr>
          <a:xfrm>
            <a:off x="7956645" y="1246087"/>
            <a:ext cx="2202339" cy="1985554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FF6EEC-32FC-A645-623B-7B4CDF50CD96}"/>
              </a:ext>
            </a:extLst>
          </p:cNvPr>
          <p:cNvSpPr/>
          <p:nvPr/>
        </p:nvSpPr>
        <p:spPr>
          <a:xfrm>
            <a:off x="7302573" y="3449356"/>
            <a:ext cx="3805645" cy="2804160"/>
          </a:xfrm>
          <a:custGeom>
            <a:avLst/>
            <a:gdLst>
              <a:gd name="connsiteX0" fmla="*/ 0 w 3805645"/>
              <a:gd name="connsiteY0" fmla="*/ 357051 h 2804160"/>
              <a:gd name="connsiteX1" fmla="*/ 0 w 3805645"/>
              <a:gd name="connsiteY1" fmla="*/ 357051 h 2804160"/>
              <a:gd name="connsiteX2" fmla="*/ 60960 w 3805645"/>
              <a:gd name="connsiteY2" fmla="*/ 278674 h 2804160"/>
              <a:gd name="connsiteX3" fmla="*/ 235131 w 3805645"/>
              <a:gd name="connsiteY3" fmla="*/ 139337 h 2804160"/>
              <a:gd name="connsiteX4" fmla="*/ 391885 w 3805645"/>
              <a:gd name="connsiteY4" fmla="*/ 60960 h 2804160"/>
              <a:gd name="connsiteX5" fmla="*/ 444137 w 3805645"/>
              <a:gd name="connsiteY5" fmla="*/ 26125 h 2804160"/>
              <a:gd name="connsiteX6" fmla="*/ 731520 w 3805645"/>
              <a:gd name="connsiteY6" fmla="*/ 0 h 2804160"/>
              <a:gd name="connsiteX7" fmla="*/ 2037805 w 3805645"/>
              <a:gd name="connsiteY7" fmla="*/ 26125 h 2804160"/>
              <a:gd name="connsiteX8" fmla="*/ 2333897 w 3805645"/>
              <a:gd name="connsiteY8" fmla="*/ 34834 h 2804160"/>
              <a:gd name="connsiteX9" fmla="*/ 2673531 w 3805645"/>
              <a:gd name="connsiteY9" fmla="*/ 43543 h 2804160"/>
              <a:gd name="connsiteX10" fmla="*/ 2908662 w 3805645"/>
              <a:gd name="connsiteY10" fmla="*/ 60960 h 2804160"/>
              <a:gd name="connsiteX11" fmla="*/ 3065417 w 3805645"/>
              <a:gd name="connsiteY11" fmla="*/ 78377 h 2804160"/>
              <a:gd name="connsiteX12" fmla="*/ 3370217 w 3805645"/>
              <a:gd name="connsiteY12" fmla="*/ 87085 h 2804160"/>
              <a:gd name="connsiteX13" fmla="*/ 3439885 w 3805645"/>
              <a:gd name="connsiteY13" fmla="*/ 104503 h 2804160"/>
              <a:gd name="connsiteX14" fmla="*/ 3492137 w 3805645"/>
              <a:gd name="connsiteY14" fmla="*/ 139337 h 2804160"/>
              <a:gd name="connsiteX15" fmla="*/ 3596640 w 3805645"/>
              <a:gd name="connsiteY15" fmla="*/ 235131 h 2804160"/>
              <a:gd name="connsiteX16" fmla="*/ 3640182 w 3805645"/>
              <a:gd name="connsiteY16" fmla="*/ 287383 h 2804160"/>
              <a:gd name="connsiteX17" fmla="*/ 3805645 w 3805645"/>
              <a:gd name="connsiteY17" fmla="*/ 618308 h 2804160"/>
              <a:gd name="connsiteX18" fmla="*/ 3796937 w 3805645"/>
              <a:gd name="connsiteY18" fmla="*/ 722811 h 2804160"/>
              <a:gd name="connsiteX19" fmla="*/ 3788228 w 3805645"/>
              <a:gd name="connsiteY19" fmla="*/ 783771 h 2804160"/>
              <a:gd name="connsiteX20" fmla="*/ 3735977 w 3805645"/>
              <a:gd name="connsiteY20" fmla="*/ 862148 h 2804160"/>
              <a:gd name="connsiteX21" fmla="*/ 3614057 w 3805645"/>
              <a:gd name="connsiteY21" fmla="*/ 1132114 h 2804160"/>
              <a:gd name="connsiteX22" fmla="*/ 3561805 w 3805645"/>
              <a:gd name="connsiteY22" fmla="*/ 1306285 h 2804160"/>
              <a:gd name="connsiteX23" fmla="*/ 3483428 w 3805645"/>
              <a:gd name="connsiteY23" fmla="*/ 1567543 h 2804160"/>
              <a:gd name="connsiteX24" fmla="*/ 3413760 w 3805645"/>
              <a:gd name="connsiteY24" fmla="*/ 1628503 h 2804160"/>
              <a:gd name="connsiteX25" fmla="*/ 3309257 w 3805645"/>
              <a:gd name="connsiteY25" fmla="*/ 1785257 h 2804160"/>
              <a:gd name="connsiteX26" fmla="*/ 3204754 w 3805645"/>
              <a:gd name="connsiteY26" fmla="*/ 1907177 h 2804160"/>
              <a:gd name="connsiteX27" fmla="*/ 3152502 w 3805645"/>
              <a:gd name="connsiteY27" fmla="*/ 2002971 h 2804160"/>
              <a:gd name="connsiteX28" fmla="*/ 3056708 w 3805645"/>
              <a:gd name="connsiteY28" fmla="*/ 2142308 h 2804160"/>
              <a:gd name="connsiteX29" fmla="*/ 3013165 w 3805645"/>
              <a:gd name="connsiteY29" fmla="*/ 2220685 h 2804160"/>
              <a:gd name="connsiteX30" fmla="*/ 2751908 w 3805645"/>
              <a:gd name="connsiteY30" fmla="*/ 2455817 h 2804160"/>
              <a:gd name="connsiteX31" fmla="*/ 2673531 w 3805645"/>
              <a:gd name="connsiteY31" fmla="*/ 2525485 h 2804160"/>
              <a:gd name="connsiteX32" fmla="*/ 2621280 w 3805645"/>
              <a:gd name="connsiteY32" fmla="*/ 2569028 h 2804160"/>
              <a:gd name="connsiteX33" fmla="*/ 2595154 w 3805645"/>
              <a:gd name="connsiteY33" fmla="*/ 2603863 h 2804160"/>
              <a:gd name="connsiteX34" fmla="*/ 2455817 w 3805645"/>
              <a:gd name="connsiteY34" fmla="*/ 2699657 h 2804160"/>
              <a:gd name="connsiteX35" fmla="*/ 2272937 w 3805645"/>
              <a:gd name="connsiteY35" fmla="*/ 2778034 h 2804160"/>
              <a:gd name="connsiteX36" fmla="*/ 2159725 w 3805645"/>
              <a:gd name="connsiteY36" fmla="*/ 2804160 h 2804160"/>
              <a:gd name="connsiteX37" fmla="*/ 1933302 w 3805645"/>
              <a:gd name="connsiteY37" fmla="*/ 2795451 h 2804160"/>
              <a:gd name="connsiteX38" fmla="*/ 1898468 w 3805645"/>
              <a:gd name="connsiteY38" fmla="*/ 2778034 h 2804160"/>
              <a:gd name="connsiteX39" fmla="*/ 1837508 w 3805645"/>
              <a:gd name="connsiteY39" fmla="*/ 2760617 h 2804160"/>
              <a:gd name="connsiteX40" fmla="*/ 1645920 w 3805645"/>
              <a:gd name="connsiteY40" fmla="*/ 2673531 h 2804160"/>
              <a:gd name="connsiteX41" fmla="*/ 1576251 w 3805645"/>
              <a:gd name="connsiteY41" fmla="*/ 2603863 h 2804160"/>
              <a:gd name="connsiteX42" fmla="*/ 1506582 w 3805645"/>
              <a:gd name="connsiteY42" fmla="*/ 2551611 h 2804160"/>
              <a:gd name="connsiteX43" fmla="*/ 1358537 w 3805645"/>
              <a:gd name="connsiteY43" fmla="*/ 2412274 h 2804160"/>
              <a:gd name="connsiteX44" fmla="*/ 1149531 w 3805645"/>
              <a:gd name="connsiteY44" fmla="*/ 2229394 h 2804160"/>
              <a:gd name="connsiteX45" fmla="*/ 1097280 w 3805645"/>
              <a:gd name="connsiteY45" fmla="*/ 2177143 h 2804160"/>
              <a:gd name="connsiteX46" fmla="*/ 1018902 w 3805645"/>
              <a:gd name="connsiteY46" fmla="*/ 2055223 h 2804160"/>
              <a:gd name="connsiteX47" fmla="*/ 966651 w 3805645"/>
              <a:gd name="connsiteY47" fmla="*/ 1985554 h 2804160"/>
              <a:gd name="connsiteX48" fmla="*/ 896982 w 3805645"/>
              <a:gd name="connsiteY48" fmla="*/ 1872343 h 2804160"/>
              <a:gd name="connsiteX49" fmla="*/ 844731 w 3805645"/>
              <a:gd name="connsiteY49" fmla="*/ 1767840 h 2804160"/>
              <a:gd name="connsiteX50" fmla="*/ 705394 w 3805645"/>
              <a:gd name="connsiteY50" fmla="*/ 1558834 h 2804160"/>
              <a:gd name="connsiteX51" fmla="*/ 574765 w 3805645"/>
              <a:gd name="connsiteY51" fmla="*/ 1419497 h 2804160"/>
              <a:gd name="connsiteX52" fmla="*/ 496388 w 3805645"/>
              <a:gd name="connsiteY52" fmla="*/ 1341120 h 2804160"/>
              <a:gd name="connsiteX53" fmla="*/ 348342 w 3805645"/>
              <a:gd name="connsiteY53" fmla="*/ 1132114 h 2804160"/>
              <a:gd name="connsiteX54" fmla="*/ 322217 w 3805645"/>
              <a:gd name="connsiteY54" fmla="*/ 1071154 h 2804160"/>
              <a:gd name="connsiteX55" fmla="*/ 261257 w 3805645"/>
              <a:gd name="connsiteY55" fmla="*/ 949234 h 2804160"/>
              <a:gd name="connsiteX56" fmla="*/ 217714 w 3805645"/>
              <a:gd name="connsiteY56" fmla="*/ 853440 h 2804160"/>
              <a:gd name="connsiteX57" fmla="*/ 200297 w 3805645"/>
              <a:gd name="connsiteY57" fmla="*/ 809897 h 2804160"/>
              <a:gd name="connsiteX58" fmla="*/ 165462 w 3805645"/>
              <a:gd name="connsiteY58" fmla="*/ 766354 h 2804160"/>
              <a:gd name="connsiteX59" fmla="*/ 148045 w 3805645"/>
              <a:gd name="connsiteY59" fmla="*/ 731520 h 2804160"/>
              <a:gd name="connsiteX60" fmla="*/ 69668 w 3805645"/>
              <a:gd name="connsiteY60" fmla="*/ 644434 h 2804160"/>
              <a:gd name="connsiteX61" fmla="*/ 52251 w 3805645"/>
              <a:gd name="connsiteY61" fmla="*/ 583474 h 2804160"/>
              <a:gd name="connsiteX62" fmla="*/ 34834 w 3805645"/>
              <a:gd name="connsiteY62" fmla="*/ 557348 h 2804160"/>
              <a:gd name="connsiteX63" fmla="*/ 0 w 3805645"/>
              <a:gd name="connsiteY63" fmla="*/ 357051 h 280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805645" h="2804160">
                <a:moveTo>
                  <a:pt x="0" y="357051"/>
                </a:moveTo>
                <a:lnTo>
                  <a:pt x="0" y="357051"/>
                </a:lnTo>
                <a:cubicBezTo>
                  <a:pt x="20320" y="330925"/>
                  <a:pt x="39581" y="303940"/>
                  <a:pt x="60960" y="278674"/>
                </a:cubicBezTo>
                <a:cubicBezTo>
                  <a:pt x="100797" y="231594"/>
                  <a:pt x="210112" y="151847"/>
                  <a:pt x="235131" y="139337"/>
                </a:cubicBezTo>
                <a:cubicBezTo>
                  <a:pt x="287382" y="113211"/>
                  <a:pt x="340518" y="88784"/>
                  <a:pt x="391885" y="60960"/>
                </a:cubicBezTo>
                <a:cubicBezTo>
                  <a:pt x="410291" y="50990"/>
                  <a:pt x="424537" y="33475"/>
                  <a:pt x="444137" y="26125"/>
                </a:cubicBezTo>
                <a:cubicBezTo>
                  <a:pt x="516192" y="-896"/>
                  <a:pt x="683514" y="2087"/>
                  <a:pt x="731520" y="0"/>
                </a:cubicBezTo>
                <a:cubicBezTo>
                  <a:pt x="1933614" y="34345"/>
                  <a:pt x="726169" y="3114"/>
                  <a:pt x="2037805" y="26125"/>
                </a:cubicBezTo>
                <a:cubicBezTo>
                  <a:pt x="2136530" y="27857"/>
                  <a:pt x="2235194" y="32130"/>
                  <a:pt x="2333897" y="34834"/>
                </a:cubicBezTo>
                <a:lnTo>
                  <a:pt x="2673531" y="43543"/>
                </a:lnTo>
                <a:cubicBezTo>
                  <a:pt x="2751908" y="49349"/>
                  <a:pt x="2830551" y="52281"/>
                  <a:pt x="2908662" y="60960"/>
                </a:cubicBezTo>
                <a:cubicBezTo>
                  <a:pt x="2960914" y="66766"/>
                  <a:pt x="3012928" y="75406"/>
                  <a:pt x="3065417" y="78377"/>
                </a:cubicBezTo>
                <a:cubicBezTo>
                  <a:pt x="3166896" y="84121"/>
                  <a:pt x="3268617" y="84182"/>
                  <a:pt x="3370217" y="87085"/>
                </a:cubicBezTo>
                <a:cubicBezTo>
                  <a:pt x="3393440" y="92891"/>
                  <a:pt x="3419968" y="91225"/>
                  <a:pt x="3439885" y="104503"/>
                </a:cubicBezTo>
                <a:cubicBezTo>
                  <a:pt x="3457302" y="116114"/>
                  <a:pt x="3475391" y="126777"/>
                  <a:pt x="3492137" y="139337"/>
                </a:cubicBezTo>
                <a:cubicBezTo>
                  <a:pt x="3529146" y="167094"/>
                  <a:pt x="3565474" y="201131"/>
                  <a:pt x="3596640" y="235131"/>
                </a:cubicBezTo>
                <a:cubicBezTo>
                  <a:pt x="3611960" y="251844"/>
                  <a:pt x="3627961" y="268287"/>
                  <a:pt x="3640182" y="287383"/>
                </a:cubicBezTo>
                <a:cubicBezTo>
                  <a:pt x="3740458" y="444064"/>
                  <a:pt x="3735194" y="450986"/>
                  <a:pt x="3805645" y="618308"/>
                </a:cubicBezTo>
                <a:cubicBezTo>
                  <a:pt x="3802742" y="653142"/>
                  <a:pt x="3800596" y="688048"/>
                  <a:pt x="3796937" y="722811"/>
                </a:cubicBezTo>
                <a:cubicBezTo>
                  <a:pt x="3794788" y="743225"/>
                  <a:pt x="3796455" y="764966"/>
                  <a:pt x="3788228" y="783771"/>
                </a:cubicBezTo>
                <a:cubicBezTo>
                  <a:pt x="3775643" y="812537"/>
                  <a:pt x="3750019" y="834064"/>
                  <a:pt x="3735977" y="862148"/>
                </a:cubicBezTo>
                <a:cubicBezTo>
                  <a:pt x="3691819" y="950464"/>
                  <a:pt x="3642430" y="1037538"/>
                  <a:pt x="3614057" y="1132114"/>
                </a:cubicBezTo>
                <a:cubicBezTo>
                  <a:pt x="3596640" y="1190171"/>
                  <a:pt x="3577620" y="1247771"/>
                  <a:pt x="3561805" y="1306285"/>
                </a:cubicBezTo>
                <a:cubicBezTo>
                  <a:pt x="3544509" y="1370281"/>
                  <a:pt x="3523797" y="1505436"/>
                  <a:pt x="3483428" y="1567543"/>
                </a:cubicBezTo>
                <a:cubicBezTo>
                  <a:pt x="3466611" y="1593415"/>
                  <a:pt x="3433037" y="1604407"/>
                  <a:pt x="3413760" y="1628503"/>
                </a:cubicBezTo>
                <a:cubicBezTo>
                  <a:pt x="3374530" y="1677540"/>
                  <a:pt x="3346936" y="1735018"/>
                  <a:pt x="3309257" y="1785257"/>
                </a:cubicBezTo>
                <a:cubicBezTo>
                  <a:pt x="3277141" y="1828078"/>
                  <a:pt x="3236030" y="1863739"/>
                  <a:pt x="3204754" y="1907177"/>
                </a:cubicBezTo>
                <a:cubicBezTo>
                  <a:pt x="3183501" y="1936695"/>
                  <a:pt x="3171882" y="1972191"/>
                  <a:pt x="3152502" y="2002971"/>
                </a:cubicBezTo>
                <a:cubicBezTo>
                  <a:pt x="3122471" y="2050667"/>
                  <a:pt x="3084080" y="2093038"/>
                  <a:pt x="3056708" y="2142308"/>
                </a:cubicBezTo>
                <a:cubicBezTo>
                  <a:pt x="3042194" y="2168434"/>
                  <a:pt x="3032967" y="2198300"/>
                  <a:pt x="3013165" y="2220685"/>
                </a:cubicBezTo>
                <a:cubicBezTo>
                  <a:pt x="2930505" y="2314126"/>
                  <a:pt x="2844079" y="2376813"/>
                  <a:pt x="2751908" y="2455817"/>
                </a:cubicBezTo>
                <a:cubicBezTo>
                  <a:pt x="2725368" y="2478565"/>
                  <a:pt x="2699946" y="2502592"/>
                  <a:pt x="2673531" y="2525485"/>
                </a:cubicBezTo>
                <a:cubicBezTo>
                  <a:pt x="2656398" y="2540334"/>
                  <a:pt x="2634883" y="2550890"/>
                  <a:pt x="2621280" y="2569028"/>
                </a:cubicBezTo>
                <a:cubicBezTo>
                  <a:pt x="2612571" y="2580640"/>
                  <a:pt x="2606546" y="2594869"/>
                  <a:pt x="2595154" y="2603863"/>
                </a:cubicBezTo>
                <a:cubicBezTo>
                  <a:pt x="2550916" y="2638788"/>
                  <a:pt x="2506230" y="2674451"/>
                  <a:pt x="2455817" y="2699657"/>
                </a:cubicBezTo>
                <a:cubicBezTo>
                  <a:pt x="2385291" y="2734919"/>
                  <a:pt x="2355400" y="2752661"/>
                  <a:pt x="2272937" y="2778034"/>
                </a:cubicBezTo>
                <a:cubicBezTo>
                  <a:pt x="2235921" y="2789424"/>
                  <a:pt x="2197462" y="2795451"/>
                  <a:pt x="2159725" y="2804160"/>
                </a:cubicBezTo>
                <a:cubicBezTo>
                  <a:pt x="2084251" y="2801257"/>
                  <a:pt x="2008457" y="2802967"/>
                  <a:pt x="1933302" y="2795451"/>
                </a:cubicBezTo>
                <a:cubicBezTo>
                  <a:pt x="1920385" y="2794159"/>
                  <a:pt x="1910668" y="2782470"/>
                  <a:pt x="1898468" y="2778034"/>
                </a:cubicBezTo>
                <a:cubicBezTo>
                  <a:pt x="1878607" y="2770812"/>
                  <a:pt x="1857436" y="2767650"/>
                  <a:pt x="1837508" y="2760617"/>
                </a:cubicBezTo>
                <a:cubicBezTo>
                  <a:pt x="1792250" y="2744644"/>
                  <a:pt x="1681238" y="2698253"/>
                  <a:pt x="1645920" y="2673531"/>
                </a:cubicBezTo>
                <a:cubicBezTo>
                  <a:pt x="1619015" y="2654697"/>
                  <a:pt x="1600967" y="2625490"/>
                  <a:pt x="1576251" y="2603863"/>
                </a:cubicBezTo>
                <a:cubicBezTo>
                  <a:pt x="1554405" y="2584747"/>
                  <a:pt x="1528374" y="2570788"/>
                  <a:pt x="1506582" y="2551611"/>
                </a:cubicBezTo>
                <a:cubicBezTo>
                  <a:pt x="1455708" y="2506842"/>
                  <a:pt x="1414380" y="2450666"/>
                  <a:pt x="1358537" y="2412274"/>
                </a:cubicBezTo>
                <a:cubicBezTo>
                  <a:pt x="1151152" y="2269697"/>
                  <a:pt x="1279087" y="2377457"/>
                  <a:pt x="1149531" y="2229394"/>
                </a:cubicBezTo>
                <a:cubicBezTo>
                  <a:pt x="1133311" y="2210857"/>
                  <a:pt x="1112059" y="2196848"/>
                  <a:pt x="1097280" y="2177143"/>
                </a:cubicBezTo>
                <a:cubicBezTo>
                  <a:pt x="1068292" y="2138492"/>
                  <a:pt x="1046119" y="2095141"/>
                  <a:pt x="1018902" y="2055223"/>
                </a:cubicBezTo>
                <a:cubicBezTo>
                  <a:pt x="1002549" y="2031239"/>
                  <a:pt x="982036" y="2010170"/>
                  <a:pt x="966651" y="1985554"/>
                </a:cubicBezTo>
                <a:cubicBezTo>
                  <a:pt x="874204" y="1837637"/>
                  <a:pt x="983331" y="1980274"/>
                  <a:pt x="896982" y="1872343"/>
                </a:cubicBezTo>
                <a:cubicBezTo>
                  <a:pt x="868011" y="1785427"/>
                  <a:pt x="895376" y="1852248"/>
                  <a:pt x="844731" y="1767840"/>
                </a:cubicBezTo>
                <a:cubicBezTo>
                  <a:pt x="782438" y="1664018"/>
                  <a:pt x="783796" y="1642462"/>
                  <a:pt x="705394" y="1558834"/>
                </a:cubicBezTo>
                <a:cubicBezTo>
                  <a:pt x="661851" y="1512388"/>
                  <a:pt x="618855" y="1465424"/>
                  <a:pt x="574765" y="1419497"/>
                </a:cubicBezTo>
                <a:cubicBezTo>
                  <a:pt x="549178" y="1392844"/>
                  <a:pt x="515397" y="1372802"/>
                  <a:pt x="496388" y="1341120"/>
                </a:cubicBezTo>
                <a:cubicBezTo>
                  <a:pt x="400027" y="1180517"/>
                  <a:pt x="451747" y="1248444"/>
                  <a:pt x="348342" y="1132114"/>
                </a:cubicBezTo>
                <a:cubicBezTo>
                  <a:pt x="339634" y="1111794"/>
                  <a:pt x="331722" y="1091114"/>
                  <a:pt x="322217" y="1071154"/>
                </a:cubicBezTo>
                <a:cubicBezTo>
                  <a:pt x="302682" y="1030131"/>
                  <a:pt x="261257" y="949234"/>
                  <a:pt x="261257" y="949234"/>
                </a:cubicBezTo>
                <a:cubicBezTo>
                  <a:pt x="245302" y="853511"/>
                  <a:pt x="267989" y="937232"/>
                  <a:pt x="217714" y="853440"/>
                </a:cubicBezTo>
                <a:cubicBezTo>
                  <a:pt x="209671" y="840035"/>
                  <a:pt x="208340" y="823302"/>
                  <a:pt x="200297" y="809897"/>
                </a:cubicBezTo>
                <a:cubicBezTo>
                  <a:pt x="190734" y="793958"/>
                  <a:pt x="175773" y="781820"/>
                  <a:pt x="165462" y="766354"/>
                </a:cubicBezTo>
                <a:cubicBezTo>
                  <a:pt x="158261" y="755552"/>
                  <a:pt x="155246" y="742322"/>
                  <a:pt x="148045" y="731520"/>
                </a:cubicBezTo>
                <a:cubicBezTo>
                  <a:pt x="124216" y="695776"/>
                  <a:pt x="100041" y="674807"/>
                  <a:pt x="69668" y="644434"/>
                </a:cubicBezTo>
                <a:cubicBezTo>
                  <a:pt x="63862" y="624114"/>
                  <a:pt x="60100" y="603096"/>
                  <a:pt x="52251" y="583474"/>
                </a:cubicBezTo>
                <a:cubicBezTo>
                  <a:pt x="48364" y="573756"/>
                  <a:pt x="37498" y="567470"/>
                  <a:pt x="34834" y="557348"/>
                </a:cubicBezTo>
                <a:cubicBezTo>
                  <a:pt x="4428" y="441807"/>
                  <a:pt x="5806" y="390434"/>
                  <a:pt x="0" y="357051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5C27E7-5A66-2869-1E4E-9C6291CDBDFC}"/>
              </a:ext>
            </a:extLst>
          </p:cNvPr>
          <p:cNvSpPr/>
          <p:nvPr/>
        </p:nvSpPr>
        <p:spPr>
          <a:xfrm>
            <a:off x="6022413" y="903392"/>
            <a:ext cx="5712885" cy="5428501"/>
          </a:xfrm>
          <a:custGeom>
            <a:avLst/>
            <a:gdLst>
              <a:gd name="connsiteX0" fmla="*/ 60960 w 5712885"/>
              <a:gd name="connsiteY0" fmla="*/ 151107 h 5428501"/>
              <a:gd name="connsiteX1" fmla="*/ 60960 w 5712885"/>
              <a:gd name="connsiteY1" fmla="*/ 151107 h 5428501"/>
              <a:gd name="connsiteX2" fmla="*/ 287382 w 5712885"/>
              <a:gd name="connsiteY2" fmla="*/ 55312 h 5428501"/>
              <a:gd name="connsiteX3" fmla="*/ 1384662 w 5712885"/>
              <a:gd name="connsiteY3" fmla="*/ 20478 h 5428501"/>
              <a:gd name="connsiteX4" fmla="*/ 1968137 w 5712885"/>
              <a:gd name="connsiteY4" fmla="*/ 64021 h 5428501"/>
              <a:gd name="connsiteX5" fmla="*/ 2185851 w 5712885"/>
              <a:gd name="connsiteY5" fmla="*/ 81438 h 5428501"/>
              <a:gd name="connsiteX6" fmla="*/ 3335382 w 5712885"/>
              <a:gd name="connsiteY6" fmla="*/ 90147 h 5428501"/>
              <a:gd name="connsiteX7" fmla="*/ 3640182 w 5712885"/>
              <a:gd name="connsiteY7" fmla="*/ 98855 h 5428501"/>
              <a:gd name="connsiteX8" fmla="*/ 3701142 w 5712885"/>
              <a:gd name="connsiteY8" fmla="*/ 107564 h 5428501"/>
              <a:gd name="connsiteX9" fmla="*/ 4145280 w 5712885"/>
              <a:gd name="connsiteY9" fmla="*/ 142398 h 5428501"/>
              <a:gd name="connsiteX10" fmla="*/ 4624251 w 5712885"/>
              <a:gd name="connsiteY10" fmla="*/ 168524 h 5428501"/>
              <a:gd name="connsiteX11" fmla="*/ 4746171 w 5712885"/>
              <a:gd name="connsiteY11" fmla="*/ 177232 h 5428501"/>
              <a:gd name="connsiteX12" fmla="*/ 5016137 w 5712885"/>
              <a:gd name="connsiteY12" fmla="*/ 220775 h 5428501"/>
              <a:gd name="connsiteX13" fmla="*/ 5303520 w 5712885"/>
              <a:gd name="connsiteY13" fmla="*/ 264318 h 5428501"/>
              <a:gd name="connsiteX14" fmla="*/ 5486400 w 5712885"/>
              <a:gd name="connsiteY14" fmla="*/ 368821 h 5428501"/>
              <a:gd name="connsiteX15" fmla="*/ 5564777 w 5712885"/>
              <a:gd name="connsiteY15" fmla="*/ 482032 h 5428501"/>
              <a:gd name="connsiteX16" fmla="*/ 5608320 w 5712885"/>
              <a:gd name="connsiteY16" fmla="*/ 542992 h 5428501"/>
              <a:gd name="connsiteX17" fmla="*/ 5695405 w 5712885"/>
              <a:gd name="connsiteY17" fmla="*/ 708455 h 5428501"/>
              <a:gd name="connsiteX18" fmla="*/ 5712822 w 5712885"/>
              <a:gd name="connsiteY18" fmla="*/ 804249 h 5428501"/>
              <a:gd name="connsiteX19" fmla="*/ 5643154 w 5712885"/>
              <a:gd name="connsiteY19" fmla="*/ 1413849 h 5428501"/>
              <a:gd name="connsiteX20" fmla="*/ 5582194 w 5712885"/>
              <a:gd name="connsiteY20" fmla="*/ 1770901 h 5428501"/>
              <a:gd name="connsiteX21" fmla="*/ 5564777 w 5712885"/>
              <a:gd name="connsiteY21" fmla="*/ 2127952 h 5428501"/>
              <a:gd name="connsiteX22" fmla="*/ 5547360 w 5712885"/>
              <a:gd name="connsiteY22" fmla="*/ 2232455 h 5428501"/>
              <a:gd name="connsiteX23" fmla="*/ 5521234 w 5712885"/>
              <a:gd name="connsiteY23" fmla="*/ 2502421 h 5428501"/>
              <a:gd name="connsiteX24" fmla="*/ 5503817 w 5712885"/>
              <a:gd name="connsiteY24" fmla="*/ 2650467 h 5428501"/>
              <a:gd name="connsiteX25" fmla="*/ 5460274 w 5712885"/>
              <a:gd name="connsiteY25" fmla="*/ 2807221 h 5428501"/>
              <a:gd name="connsiteX26" fmla="*/ 5242560 w 5712885"/>
              <a:gd name="connsiteY26" fmla="*/ 3390695 h 5428501"/>
              <a:gd name="connsiteX27" fmla="*/ 5216434 w 5712885"/>
              <a:gd name="connsiteY27" fmla="*/ 3460364 h 5428501"/>
              <a:gd name="connsiteX28" fmla="*/ 5181600 w 5712885"/>
              <a:gd name="connsiteY28" fmla="*/ 3556158 h 5428501"/>
              <a:gd name="connsiteX29" fmla="*/ 5155474 w 5712885"/>
              <a:gd name="connsiteY29" fmla="*/ 3599701 h 5428501"/>
              <a:gd name="connsiteX30" fmla="*/ 5120640 w 5712885"/>
              <a:gd name="connsiteY30" fmla="*/ 3721621 h 5428501"/>
              <a:gd name="connsiteX31" fmla="*/ 5059680 w 5712885"/>
              <a:gd name="connsiteY31" fmla="*/ 3930627 h 5428501"/>
              <a:gd name="connsiteX32" fmla="*/ 4920342 w 5712885"/>
              <a:gd name="connsiteY32" fmla="*/ 4191884 h 5428501"/>
              <a:gd name="connsiteX33" fmla="*/ 4859382 w 5712885"/>
              <a:gd name="connsiteY33" fmla="*/ 4278969 h 5428501"/>
              <a:gd name="connsiteX34" fmla="*/ 4693920 w 5712885"/>
              <a:gd name="connsiteY34" fmla="*/ 4583769 h 5428501"/>
              <a:gd name="connsiteX35" fmla="*/ 4598125 w 5712885"/>
              <a:gd name="connsiteY35" fmla="*/ 4705689 h 5428501"/>
              <a:gd name="connsiteX36" fmla="*/ 4476205 w 5712885"/>
              <a:gd name="connsiteY36" fmla="*/ 4888569 h 5428501"/>
              <a:gd name="connsiteX37" fmla="*/ 4354285 w 5712885"/>
              <a:gd name="connsiteY37" fmla="*/ 5088867 h 5428501"/>
              <a:gd name="connsiteX38" fmla="*/ 4302034 w 5712885"/>
              <a:gd name="connsiteY38" fmla="*/ 5149827 h 5428501"/>
              <a:gd name="connsiteX39" fmla="*/ 4232365 w 5712885"/>
              <a:gd name="connsiteY39" fmla="*/ 5263038 h 5428501"/>
              <a:gd name="connsiteX40" fmla="*/ 4119154 w 5712885"/>
              <a:gd name="connsiteY40" fmla="*/ 5367541 h 5428501"/>
              <a:gd name="connsiteX41" fmla="*/ 4066902 w 5712885"/>
              <a:gd name="connsiteY41" fmla="*/ 5376249 h 5428501"/>
              <a:gd name="connsiteX42" fmla="*/ 3910148 w 5712885"/>
              <a:gd name="connsiteY42" fmla="*/ 5393667 h 5428501"/>
              <a:gd name="connsiteX43" fmla="*/ 3675017 w 5712885"/>
              <a:gd name="connsiteY43" fmla="*/ 5428501 h 5428501"/>
              <a:gd name="connsiteX44" fmla="*/ 3126377 w 5712885"/>
              <a:gd name="connsiteY44" fmla="*/ 5411084 h 5428501"/>
              <a:gd name="connsiteX45" fmla="*/ 3039291 w 5712885"/>
              <a:gd name="connsiteY45" fmla="*/ 5358832 h 5428501"/>
              <a:gd name="connsiteX46" fmla="*/ 2926080 w 5712885"/>
              <a:gd name="connsiteY46" fmla="*/ 5280455 h 5428501"/>
              <a:gd name="connsiteX47" fmla="*/ 2873828 w 5712885"/>
              <a:gd name="connsiteY47" fmla="*/ 5219495 h 5428501"/>
              <a:gd name="connsiteX48" fmla="*/ 2690948 w 5712885"/>
              <a:gd name="connsiteY48" fmla="*/ 5088867 h 5428501"/>
              <a:gd name="connsiteX49" fmla="*/ 2534194 w 5712885"/>
              <a:gd name="connsiteY49" fmla="*/ 4984364 h 5428501"/>
              <a:gd name="connsiteX50" fmla="*/ 2229394 w 5712885"/>
              <a:gd name="connsiteY50" fmla="*/ 4775358 h 5428501"/>
              <a:gd name="connsiteX51" fmla="*/ 2133600 w 5712885"/>
              <a:gd name="connsiteY51" fmla="*/ 4679564 h 5428501"/>
              <a:gd name="connsiteX52" fmla="*/ 2098765 w 5712885"/>
              <a:gd name="connsiteY52" fmla="*/ 4618604 h 5428501"/>
              <a:gd name="connsiteX53" fmla="*/ 2081348 w 5712885"/>
              <a:gd name="connsiteY53" fmla="*/ 4592478 h 5428501"/>
              <a:gd name="connsiteX54" fmla="*/ 2063931 w 5712885"/>
              <a:gd name="connsiteY54" fmla="*/ 4548935 h 5428501"/>
              <a:gd name="connsiteX55" fmla="*/ 2002971 w 5712885"/>
              <a:gd name="connsiteY55" fmla="*/ 4444432 h 5428501"/>
              <a:gd name="connsiteX56" fmla="*/ 1985554 w 5712885"/>
              <a:gd name="connsiteY56" fmla="*/ 4400889 h 5428501"/>
              <a:gd name="connsiteX57" fmla="*/ 1968137 w 5712885"/>
              <a:gd name="connsiteY57" fmla="*/ 4366055 h 5428501"/>
              <a:gd name="connsiteX58" fmla="*/ 1950720 w 5712885"/>
              <a:gd name="connsiteY58" fmla="*/ 4322512 h 5428501"/>
              <a:gd name="connsiteX59" fmla="*/ 1907177 w 5712885"/>
              <a:gd name="connsiteY59" fmla="*/ 4244135 h 5428501"/>
              <a:gd name="connsiteX60" fmla="*/ 1854925 w 5712885"/>
              <a:gd name="connsiteY60" fmla="*/ 4130924 h 5428501"/>
              <a:gd name="connsiteX61" fmla="*/ 1811382 w 5712885"/>
              <a:gd name="connsiteY61" fmla="*/ 4069964 h 5428501"/>
              <a:gd name="connsiteX62" fmla="*/ 1767840 w 5712885"/>
              <a:gd name="connsiteY62" fmla="*/ 3982878 h 5428501"/>
              <a:gd name="connsiteX63" fmla="*/ 1680754 w 5712885"/>
              <a:gd name="connsiteY63" fmla="*/ 3869667 h 5428501"/>
              <a:gd name="connsiteX64" fmla="*/ 1654628 w 5712885"/>
              <a:gd name="connsiteY64" fmla="*/ 3808707 h 5428501"/>
              <a:gd name="connsiteX65" fmla="*/ 1524000 w 5712885"/>
              <a:gd name="connsiteY65" fmla="*/ 3599701 h 5428501"/>
              <a:gd name="connsiteX66" fmla="*/ 1436914 w 5712885"/>
              <a:gd name="connsiteY66" fmla="*/ 3434238 h 5428501"/>
              <a:gd name="connsiteX67" fmla="*/ 1341120 w 5712885"/>
              <a:gd name="connsiteY67" fmla="*/ 3286192 h 5428501"/>
              <a:gd name="connsiteX68" fmla="*/ 1262742 w 5712885"/>
              <a:gd name="connsiteY68" fmla="*/ 3181689 h 5428501"/>
              <a:gd name="connsiteX69" fmla="*/ 1123405 w 5712885"/>
              <a:gd name="connsiteY69" fmla="*/ 2972684 h 5428501"/>
              <a:gd name="connsiteX70" fmla="*/ 984068 w 5712885"/>
              <a:gd name="connsiteY70" fmla="*/ 2815929 h 5428501"/>
              <a:gd name="connsiteX71" fmla="*/ 783771 w 5712885"/>
              <a:gd name="connsiteY71" fmla="*/ 2615632 h 5428501"/>
              <a:gd name="connsiteX72" fmla="*/ 696685 w 5712885"/>
              <a:gd name="connsiteY72" fmla="*/ 2537255 h 5428501"/>
              <a:gd name="connsiteX73" fmla="*/ 444137 w 5712885"/>
              <a:gd name="connsiteY73" fmla="*/ 2188912 h 5428501"/>
              <a:gd name="connsiteX74" fmla="*/ 391885 w 5712885"/>
              <a:gd name="connsiteY74" fmla="*/ 2093118 h 5428501"/>
              <a:gd name="connsiteX75" fmla="*/ 322217 w 5712885"/>
              <a:gd name="connsiteY75" fmla="*/ 1849278 h 5428501"/>
              <a:gd name="connsiteX76" fmla="*/ 304800 w 5712885"/>
              <a:gd name="connsiteY76" fmla="*/ 1797027 h 5428501"/>
              <a:gd name="connsiteX77" fmla="*/ 278674 w 5712885"/>
              <a:gd name="connsiteY77" fmla="*/ 1727358 h 5428501"/>
              <a:gd name="connsiteX78" fmla="*/ 209005 w 5712885"/>
              <a:gd name="connsiteY78" fmla="*/ 1588021 h 5428501"/>
              <a:gd name="connsiteX79" fmla="*/ 139337 w 5712885"/>
              <a:gd name="connsiteY79" fmla="*/ 1396432 h 5428501"/>
              <a:gd name="connsiteX80" fmla="*/ 130628 w 5712885"/>
              <a:gd name="connsiteY80" fmla="*/ 1326764 h 5428501"/>
              <a:gd name="connsiteX81" fmla="*/ 95794 w 5712885"/>
              <a:gd name="connsiteY81" fmla="*/ 1117758 h 5428501"/>
              <a:gd name="connsiteX82" fmla="*/ 87085 w 5712885"/>
              <a:gd name="connsiteY82" fmla="*/ 1030672 h 5428501"/>
              <a:gd name="connsiteX83" fmla="*/ 60960 w 5712885"/>
              <a:gd name="connsiteY83" fmla="*/ 934878 h 5428501"/>
              <a:gd name="connsiteX84" fmla="*/ 17417 w 5712885"/>
              <a:gd name="connsiteY84" fmla="*/ 734581 h 5428501"/>
              <a:gd name="connsiteX85" fmla="*/ 8708 w 5712885"/>
              <a:gd name="connsiteY85" fmla="*/ 473324 h 5428501"/>
              <a:gd name="connsiteX86" fmla="*/ 0 w 5712885"/>
              <a:gd name="connsiteY86" fmla="*/ 351404 h 5428501"/>
              <a:gd name="connsiteX87" fmla="*/ 8708 w 5712885"/>
              <a:gd name="connsiteY87" fmla="*/ 177232 h 5428501"/>
              <a:gd name="connsiteX88" fmla="*/ 60960 w 5712885"/>
              <a:gd name="connsiteY88" fmla="*/ 151107 h 5428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5712885" h="5428501">
                <a:moveTo>
                  <a:pt x="60960" y="151107"/>
                </a:moveTo>
                <a:lnTo>
                  <a:pt x="60960" y="151107"/>
                </a:lnTo>
                <a:cubicBezTo>
                  <a:pt x="136434" y="119175"/>
                  <a:pt x="207811" y="74917"/>
                  <a:pt x="287382" y="55312"/>
                </a:cubicBezTo>
                <a:cubicBezTo>
                  <a:pt x="658331" y="-36081"/>
                  <a:pt x="999034" y="11186"/>
                  <a:pt x="1384662" y="20478"/>
                </a:cubicBezTo>
                <a:lnTo>
                  <a:pt x="1968137" y="64021"/>
                </a:lnTo>
                <a:cubicBezTo>
                  <a:pt x="2040738" y="69439"/>
                  <a:pt x="2113061" y="80047"/>
                  <a:pt x="2185851" y="81438"/>
                </a:cubicBezTo>
                <a:cubicBezTo>
                  <a:pt x="2568969" y="88759"/>
                  <a:pt x="2952205" y="87244"/>
                  <a:pt x="3335382" y="90147"/>
                </a:cubicBezTo>
                <a:lnTo>
                  <a:pt x="3640182" y="98855"/>
                </a:lnTo>
                <a:cubicBezTo>
                  <a:pt x="3660685" y="99831"/>
                  <a:pt x="3680692" y="105801"/>
                  <a:pt x="3701142" y="107564"/>
                </a:cubicBezTo>
                <a:lnTo>
                  <a:pt x="4145280" y="142398"/>
                </a:lnTo>
                <a:cubicBezTo>
                  <a:pt x="4304827" y="152934"/>
                  <a:pt x="4464625" y="159270"/>
                  <a:pt x="4624251" y="168524"/>
                </a:cubicBezTo>
                <a:cubicBezTo>
                  <a:pt x="4664926" y="170882"/>
                  <a:pt x="4705531" y="174329"/>
                  <a:pt x="4746171" y="177232"/>
                </a:cubicBezTo>
                <a:cubicBezTo>
                  <a:pt x="4854014" y="231153"/>
                  <a:pt x="4753070" y="185699"/>
                  <a:pt x="5016137" y="220775"/>
                </a:cubicBezTo>
                <a:cubicBezTo>
                  <a:pt x="5112175" y="233580"/>
                  <a:pt x="5303520" y="264318"/>
                  <a:pt x="5303520" y="264318"/>
                </a:cubicBezTo>
                <a:cubicBezTo>
                  <a:pt x="5322992" y="274939"/>
                  <a:pt x="5466821" y="351689"/>
                  <a:pt x="5486400" y="368821"/>
                </a:cubicBezTo>
                <a:cubicBezTo>
                  <a:pt x="5521819" y="399813"/>
                  <a:pt x="5539453" y="444046"/>
                  <a:pt x="5564777" y="482032"/>
                </a:cubicBezTo>
                <a:cubicBezTo>
                  <a:pt x="5578629" y="502809"/>
                  <a:pt x="5595176" y="521760"/>
                  <a:pt x="5608320" y="542992"/>
                </a:cubicBezTo>
                <a:cubicBezTo>
                  <a:pt x="5673961" y="649029"/>
                  <a:pt x="5664539" y="631290"/>
                  <a:pt x="5695405" y="708455"/>
                </a:cubicBezTo>
                <a:cubicBezTo>
                  <a:pt x="5701211" y="740386"/>
                  <a:pt x="5713886" y="771812"/>
                  <a:pt x="5712822" y="804249"/>
                </a:cubicBezTo>
                <a:cubicBezTo>
                  <a:pt x="5695052" y="1346229"/>
                  <a:pt x="5697685" y="1077571"/>
                  <a:pt x="5643154" y="1413849"/>
                </a:cubicBezTo>
                <a:cubicBezTo>
                  <a:pt x="5573491" y="1843442"/>
                  <a:pt x="5698790" y="1211243"/>
                  <a:pt x="5582194" y="1770901"/>
                </a:cubicBezTo>
                <a:cubicBezTo>
                  <a:pt x="5580668" y="1807521"/>
                  <a:pt x="5571028" y="2067524"/>
                  <a:pt x="5564777" y="2127952"/>
                </a:cubicBezTo>
                <a:cubicBezTo>
                  <a:pt x="5561143" y="2163079"/>
                  <a:pt x="5553166" y="2197621"/>
                  <a:pt x="5547360" y="2232455"/>
                </a:cubicBezTo>
                <a:cubicBezTo>
                  <a:pt x="5533857" y="2461998"/>
                  <a:pt x="5547621" y="2297918"/>
                  <a:pt x="5521234" y="2502421"/>
                </a:cubicBezTo>
                <a:cubicBezTo>
                  <a:pt x="5514875" y="2551701"/>
                  <a:pt x="5513562" y="2601743"/>
                  <a:pt x="5503817" y="2650467"/>
                </a:cubicBezTo>
                <a:cubicBezTo>
                  <a:pt x="5493182" y="2703644"/>
                  <a:pt x="5476121" y="2755358"/>
                  <a:pt x="5460274" y="2807221"/>
                </a:cubicBezTo>
                <a:cubicBezTo>
                  <a:pt x="5398806" y="3008387"/>
                  <a:pt x="5319831" y="3190492"/>
                  <a:pt x="5242560" y="3390695"/>
                </a:cubicBezTo>
                <a:cubicBezTo>
                  <a:pt x="5233629" y="3413834"/>
                  <a:pt x="5225008" y="3437091"/>
                  <a:pt x="5216434" y="3460364"/>
                </a:cubicBezTo>
                <a:cubicBezTo>
                  <a:pt x="5204688" y="3492246"/>
                  <a:pt x="5199081" y="3527023"/>
                  <a:pt x="5181600" y="3556158"/>
                </a:cubicBezTo>
                <a:lnTo>
                  <a:pt x="5155474" y="3599701"/>
                </a:lnTo>
                <a:cubicBezTo>
                  <a:pt x="5143863" y="3640341"/>
                  <a:pt x="5131530" y="3680782"/>
                  <a:pt x="5120640" y="3721621"/>
                </a:cubicBezTo>
                <a:cubicBezTo>
                  <a:pt x="5098158" y="3805926"/>
                  <a:pt x="5093098" y="3857106"/>
                  <a:pt x="5059680" y="3930627"/>
                </a:cubicBezTo>
                <a:cubicBezTo>
                  <a:pt x="5027183" y="4002121"/>
                  <a:pt x="4959664" y="4127987"/>
                  <a:pt x="4920342" y="4191884"/>
                </a:cubicBezTo>
                <a:cubicBezTo>
                  <a:pt x="4901771" y="4222061"/>
                  <a:pt x="4876962" y="4248204"/>
                  <a:pt x="4859382" y="4278969"/>
                </a:cubicBezTo>
                <a:cubicBezTo>
                  <a:pt x="4704084" y="4550740"/>
                  <a:pt x="4860917" y="4322836"/>
                  <a:pt x="4693920" y="4583769"/>
                </a:cubicBezTo>
                <a:cubicBezTo>
                  <a:pt x="4610444" y="4714200"/>
                  <a:pt x="4674014" y="4597847"/>
                  <a:pt x="4598125" y="4705689"/>
                </a:cubicBezTo>
                <a:cubicBezTo>
                  <a:pt x="4555962" y="4765605"/>
                  <a:pt x="4514299" y="4825986"/>
                  <a:pt x="4476205" y="4888569"/>
                </a:cubicBezTo>
                <a:cubicBezTo>
                  <a:pt x="4435565" y="4955335"/>
                  <a:pt x="4405152" y="5029522"/>
                  <a:pt x="4354285" y="5088867"/>
                </a:cubicBezTo>
                <a:cubicBezTo>
                  <a:pt x="4336868" y="5109187"/>
                  <a:pt x="4317382" y="5127902"/>
                  <a:pt x="4302034" y="5149827"/>
                </a:cubicBezTo>
                <a:cubicBezTo>
                  <a:pt x="4276624" y="5186127"/>
                  <a:pt x="4258427" y="5227203"/>
                  <a:pt x="4232365" y="5263038"/>
                </a:cubicBezTo>
                <a:cubicBezTo>
                  <a:pt x="4206935" y="5298005"/>
                  <a:pt x="4165804" y="5350578"/>
                  <a:pt x="4119154" y="5367541"/>
                </a:cubicBezTo>
                <a:cubicBezTo>
                  <a:pt x="4102560" y="5373575"/>
                  <a:pt x="4084423" y="5374059"/>
                  <a:pt x="4066902" y="5376249"/>
                </a:cubicBezTo>
                <a:cubicBezTo>
                  <a:pt x="4014735" y="5382770"/>
                  <a:pt x="3962193" y="5386232"/>
                  <a:pt x="3910148" y="5393667"/>
                </a:cubicBezTo>
                <a:cubicBezTo>
                  <a:pt x="3594732" y="5438727"/>
                  <a:pt x="3892677" y="5406734"/>
                  <a:pt x="3675017" y="5428501"/>
                </a:cubicBezTo>
                <a:cubicBezTo>
                  <a:pt x="3492137" y="5422695"/>
                  <a:pt x="3308260" y="5431017"/>
                  <a:pt x="3126377" y="5411084"/>
                </a:cubicBezTo>
                <a:cubicBezTo>
                  <a:pt x="3092725" y="5407396"/>
                  <a:pt x="3067647" y="5377325"/>
                  <a:pt x="3039291" y="5358832"/>
                </a:cubicBezTo>
                <a:cubicBezTo>
                  <a:pt x="3000846" y="5333759"/>
                  <a:pt x="2955950" y="5315303"/>
                  <a:pt x="2926080" y="5280455"/>
                </a:cubicBezTo>
                <a:cubicBezTo>
                  <a:pt x="2908663" y="5260135"/>
                  <a:pt x="2893440" y="5237706"/>
                  <a:pt x="2873828" y="5219495"/>
                </a:cubicBezTo>
                <a:cubicBezTo>
                  <a:pt x="2849976" y="5197347"/>
                  <a:pt x="2697526" y="5092626"/>
                  <a:pt x="2690948" y="5088867"/>
                </a:cubicBezTo>
                <a:cubicBezTo>
                  <a:pt x="2506604" y="4983526"/>
                  <a:pt x="2799236" y="5153696"/>
                  <a:pt x="2534194" y="4984364"/>
                </a:cubicBezTo>
                <a:cubicBezTo>
                  <a:pt x="2306145" y="4838666"/>
                  <a:pt x="2368702" y="4908032"/>
                  <a:pt x="2229394" y="4775358"/>
                </a:cubicBezTo>
                <a:cubicBezTo>
                  <a:pt x="2196694" y="4744215"/>
                  <a:pt x="2156005" y="4718772"/>
                  <a:pt x="2133600" y="4679564"/>
                </a:cubicBezTo>
                <a:cubicBezTo>
                  <a:pt x="2121988" y="4659244"/>
                  <a:pt x="2110806" y="4638672"/>
                  <a:pt x="2098765" y="4618604"/>
                </a:cubicBezTo>
                <a:cubicBezTo>
                  <a:pt x="2093380" y="4609629"/>
                  <a:pt x="2086029" y="4601840"/>
                  <a:pt x="2081348" y="4592478"/>
                </a:cubicBezTo>
                <a:cubicBezTo>
                  <a:pt x="2074357" y="4578496"/>
                  <a:pt x="2071342" y="4562699"/>
                  <a:pt x="2063931" y="4548935"/>
                </a:cubicBezTo>
                <a:cubicBezTo>
                  <a:pt x="2020319" y="4467941"/>
                  <a:pt x="2029406" y="4503912"/>
                  <a:pt x="2002971" y="4444432"/>
                </a:cubicBezTo>
                <a:cubicBezTo>
                  <a:pt x="1996622" y="4430147"/>
                  <a:pt x="1991903" y="4415174"/>
                  <a:pt x="1985554" y="4400889"/>
                </a:cubicBezTo>
                <a:cubicBezTo>
                  <a:pt x="1980282" y="4389026"/>
                  <a:pt x="1973409" y="4377918"/>
                  <a:pt x="1968137" y="4366055"/>
                </a:cubicBezTo>
                <a:cubicBezTo>
                  <a:pt x="1961788" y="4351770"/>
                  <a:pt x="1957069" y="4336797"/>
                  <a:pt x="1950720" y="4322512"/>
                </a:cubicBezTo>
                <a:cubicBezTo>
                  <a:pt x="1917181" y="4247051"/>
                  <a:pt x="1951130" y="4332042"/>
                  <a:pt x="1907177" y="4244135"/>
                </a:cubicBezTo>
                <a:cubicBezTo>
                  <a:pt x="1884225" y="4198230"/>
                  <a:pt x="1881386" y="4173923"/>
                  <a:pt x="1854925" y="4130924"/>
                </a:cubicBezTo>
                <a:cubicBezTo>
                  <a:pt x="1841837" y="4109657"/>
                  <a:pt x="1824043" y="4091488"/>
                  <a:pt x="1811382" y="4069964"/>
                </a:cubicBezTo>
                <a:cubicBezTo>
                  <a:pt x="1794927" y="4041990"/>
                  <a:pt x="1788961" y="4007519"/>
                  <a:pt x="1767840" y="3982878"/>
                </a:cubicBezTo>
                <a:cubicBezTo>
                  <a:pt x="1734818" y="3944353"/>
                  <a:pt x="1704738" y="3914208"/>
                  <a:pt x="1680754" y="3869667"/>
                </a:cubicBezTo>
                <a:cubicBezTo>
                  <a:pt x="1670273" y="3850202"/>
                  <a:pt x="1665729" y="3827825"/>
                  <a:pt x="1654628" y="3808707"/>
                </a:cubicBezTo>
                <a:cubicBezTo>
                  <a:pt x="1613374" y="3737659"/>
                  <a:pt x="1566932" y="3669748"/>
                  <a:pt x="1524000" y="3599701"/>
                </a:cubicBezTo>
                <a:cubicBezTo>
                  <a:pt x="1406951" y="3408726"/>
                  <a:pt x="1604289" y="3719761"/>
                  <a:pt x="1436914" y="3434238"/>
                </a:cubicBezTo>
                <a:cubicBezTo>
                  <a:pt x="1407189" y="3383530"/>
                  <a:pt x="1376387" y="3333215"/>
                  <a:pt x="1341120" y="3286192"/>
                </a:cubicBezTo>
                <a:cubicBezTo>
                  <a:pt x="1314994" y="3251358"/>
                  <a:pt x="1287579" y="3217454"/>
                  <a:pt x="1262742" y="3181689"/>
                </a:cubicBezTo>
                <a:cubicBezTo>
                  <a:pt x="1214982" y="3112915"/>
                  <a:pt x="1179033" y="3035265"/>
                  <a:pt x="1123405" y="2972684"/>
                </a:cubicBezTo>
                <a:cubicBezTo>
                  <a:pt x="1076959" y="2920432"/>
                  <a:pt x="1033502" y="2865363"/>
                  <a:pt x="984068" y="2815929"/>
                </a:cubicBezTo>
                <a:cubicBezTo>
                  <a:pt x="917302" y="2749163"/>
                  <a:pt x="853954" y="2678796"/>
                  <a:pt x="783771" y="2615632"/>
                </a:cubicBezTo>
                <a:cubicBezTo>
                  <a:pt x="754742" y="2589506"/>
                  <a:pt x="722263" y="2566768"/>
                  <a:pt x="696685" y="2537255"/>
                </a:cubicBezTo>
                <a:cubicBezTo>
                  <a:pt x="657027" y="2491496"/>
                  <a:pt x="478385" y="2251700"/>
                  <a:pt x="444137" y="2188912"/>
                </a:cubicBezTo>
                <a:cubicBezTo>
                  <a:pt x="426720" y="2156981"/>
                  <a:pt x="405608" y="2126802"/>
                  <a:pt x="391885" y="2093118"/>
                </a:cubicBezTo>
                <a:cubicBezTo>
                  <a:pt x="354988" y="2002553"/>
                  <a:pt x="347337" y="1939712"/>
                  <a:pt x="322217" y="1849278"/>
                </a:cubicBezTo>
                <a:cubicBezTo>
                  <a:pt x="317303" y="1831589"/>
                  <a:pt x="310975" y="1814317"/>
                  <a:pt x="304800" y="1797027"/>
                </a:cubicBezTo>
                <a:cubicBezTo>
                  <a:pt x="296458" y="1773670"/>
                  <a:pt x="289008" y="1749905"/>
                  <a:pt x="278674" y="1727358"/>
                </a:cubicBezTo>
                <a:cubicBezTo>
                  <a:pt x="257038" y="1680152"/>
                  <a:pt x="225426" y="1637284"/>
                  <a:pt x="209005" y="1588021"/>
                </a:cubicBezTo>
                <a:cubicBezTo>
                  <a:pt x="158471" y="1436419"/>
                  <a:pt x="183542" y="1499579"/>
                  <a:pt x="139337" y="1396432"/>
                </a:cubicBezTo>
                <a:cubicBezTo>
                  <a:pt x="136434" y="1373209"/>
                  <a:pt x="134278" y="1349881"/>
                  <a:pt x="130628" y="1326764"/>
                </a:cubicBezTo>
                <a:cubicBezTo>
                  <a:pt x="107853" y="1182523"/>
                  <a:pt x="116415" y="1275848"/>
                  <a:pt x="95794" y="1117758"/>
                </a:cubicBezTo>
                <a:cubicBezTo>
                  <a:pt x="92021" y="1088830"/>
                  <a:pt x="92544" y="1059330"/>
                  <a:pt x="87085" y="1030672"/>
                </a:cubicBezTo>
                <a:cubicBezTo>
                  <a:pt x="80892" y="998159"/>
                  <a:pt x="68541" y="967096"/>
                  <a:pt x="60960" y="934878"/>
                </a:cubicBezTo>
                <a:cubicBezTo>
                  <a:pt x="45311" y="868369"/>
                  <a:pt x="17417" y="734581"/>
                  <a:pt x="17417" y="734581"/>
                </a:cubicBezTo>
                <a:cubicBezTo>
                  <a:pt x="14514" y="647495"/>
                  <a:pt x="12665" y="560368"/>
                  <a:pt x="8708" y="473324"/>
                </a:cubicBezTo>
                <a:cubicBezTo>
                  <a:pt x="6858" y="432622"/>
                  <a:pt x="0" y="392148"/>
                  <a:pt x="0" y="351404"/>
                </a:cubicBezTo>
                <a:cubicBezTo>
                  <a:pt x="0" y="293274"/>
                  <a:pt x="1190" y="234874"/>
                  <a:pt x="8708" y="177232"/>
                </a:cubicBezTo>
                <a:cubicBezTo>
                  <a:pt x="10062" y="166854"/>
                  <a:pt x="52251" y="155461"/>
                  <a:pt x="60960" y="151107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F70FD14-DDD2-CBD5-5039-45D480EE5251}"/>
              </a:ext>
            </a:extLst>
          </p:cNvPr>
          <p:cNvSpPr/>
          <p:nvPr/>
        </p:nvSpPr>
        <p:spPr>
          <a:xfrm>
            <a:off x="3993562" y="941287"/>
            <a:ext cx="7892478" cy="5408023"/>
          </a:xfrm>
          <a:custGeom>
            <a:avLst/>
            <a:gdLst>
              <a:gd name="connsiteX0" fmla="*/ 1009948 w 7892478"/>
              <a:gd name="connsiteY0" fmla="*/ 539932 h 5408023"/>
              <a:gd name="connsiteX1" fmla="*/ 1009948 w 7892478"/>
              <a:gd name="connsiteY1" fmla="*/ 539932 h 5408023"/>
              <a:gd name="connsiteX2" fmla="*/ 713856 w 7892478"/>
              <a:gd name="connsiteY2" fmla="*/ 714103 h 5408023"/>
              <a:gd name="connsiteX3" fmla="*/ 635479 w 7892478"/>
              <a:gd name="connsiteY3" fmla="*/ 783772 h 5408023"/>
              <a:gd name="connsiteX4" fmla="*/ 600645 w 7892478"/>
              <a:gd name="connsiteY4" fmla="*/ 809897 h 5408023"/>
              <a:gd name="connsiteX5" fmla="*/ 513559 w 7892478"/>
              <a:gd name="connsiteY5" fmla="*/ 888274 h 5408023"/>
              <a:gd name="connsiteX6" fmla="*/ 304553 w 7892478"/>
              <a:gd name="connsiteY6" fmla="*/ 1018903 h 5408023"/>
              <a:gd name="connsiteX7" fmla="*/ 208759 w 7892478"/>
              <a:gd name="connsiteY7" fmla="*/ 1123406 h 5408023"/>
              <a:gd name="connsiteX8" fmla="*/ 69422 w 7892478"/>
              <a:gd name="connsiteY8" fmla="*/ 1314994 h 5408023"/>
              <a:gd name="connsiteX9" fmla="*/ 34588 w 7892478"/>
              <a:gd name="connsiteY9" fmla="*/ 1375954 h 5408023"/>
              <a:gd name="connsiteX10" fmla="*/ 52005 w 7892478"/>
              <a:gd name="connsiteY10" fmla="*/ 1854926 h 5408023"/>
              <a:gd name="connsiteX11" fmla="*/ 130382 w 7892478"/>
              <a:gd name="connsiteY11" fmla="*/ 1924594 h 5408023"/>
              <a:gd name="connsiteX12" fmla="*/ 243593 w 7892478"/>
              <a:gd name="connsiteY12" fmla="*/ 2046514 h 5408023"/>
              <a:gd name="connsiteX13" fmla="*/ 304553 w 7892478"/>
              <a:gd name="connsiteY13" fmla="*/ 2098766 h 5408023"/>
              <a:gd name="connsiteX14" fmla="*/ 321971 w 7892478"/>
              <a:gd name="connsiteY14" fmla="*/ 2124892 h 5408023"/>
              <a:gd name="connsiteX15" fmla="*/ 661605 w 7892478"/>
              <a:gd name="connsiteY15" fmla="*/ 2307772 h 5408023"/>
              <a:gd name="connsiteX16" fmla="*/ 1097033 w 7892478"/>
              <a:gd name="connsiteY16" fmla="*/ 2360023 h 5408023"/>
              <a:gd name="connsiteX17" fmla="*/ 1358291 w 7892478"/>
              <a:gd name="connsiteY17" fmla="*/ 2386149 h 5408023"/>
              <a:gd name="connsiteX18" fmla="*/ 1898222 w 7892478"/>
              <a:gd name="connsiteY18" fmla="*/ 2403566 h 5408023"/>
              <a:gd name="connsiteX19" fmla="*/ 2037559 w 7892478"/>
              <a:gd name="connsiteY19" fmla="*/ 2438400 h 5408023"/>
              <a:gd name="connsiteX20" fmla="*/ 2098519 w 7892478"/>
              <a:gd name="connsiteY20" fmla="*/ 2464526 h 5408023"/>
              <a:gd name="connsiteX21" fmla="*/ 2194313 w 7892478"/>
              <a:gd name="connsiteY21" fmla="*/ 2490652 h 5408023"/>
              <a:gd name="connsiteX22" fmla="*/ 2246565 w 7892478"/>
              <a:gd name="connsiteY22" fmla="*/ 2508069 h 5408023"/>
              <a:gd name="connsiteX23" fmla="*/ 2368485 w 7892478"/>
              <a:gd name="connsiteY23" fmla="*/ 2525486 h 5408023"/>
              <a:gd name="connsiteX24" fmla="*/ 2551365 w 7892478"/>
              <a:gd name="connsiteY24" fmla="*/ 2647406 h 5408023"/>
              <a:gd name="connsiteX25" fmla="*/ 2638451 w 7892478"/>
              <a:gd name="connsiteY25" fmla="*/ 2708366 h 5408023"/>
              <a:gd name="connsiteX26" fmla="*/ 2716828 w 7892478"/>
              <a:gd name="connsiteY26" fmla="*/ 2760617 h 5408023"/>
              <a:gd name="connsiteX27" fmla="*/ 2821331 w 7892478"/>
              <a:gd name="connsiteY27" fmla="*/ 2873829 h 5408023"/>
              <a:gd name="connsiteX28" fmla="*/ 2864873 w 7892478"/>
              <a:gd name="connsiteY28" fmla="*/ 2934789 h 5408023"/>
              <a:gd name="connsiteX29" fmla="*/ 2899708 w 7892478"/>
              <a:gd name="connsiteY29" fmla="*/ 2978332 h 5408023"/>
              <a:gd name="connsiteX30" fmla="*/ 2934542 w 7892478"/>
              <a:gd name="connsiteY30" fmla="*/ 3030583 h 5408023"/>
              <a:gd name="connsiteX31" fmla="*/ 3065171 w 7892478"/>
              <a:gd name="connsiteY31" fmla="*/ 3152503 h 5408023"/>
              <a:gd name="connsiteX32" fmla="*/ 3152256 w 7892478"/>
              <a:gd name="connsiteY32" fmla="*/ 3204754 h 5408023"/>
              <a:gd name="connsiteX33" fmla="*/ 3282885 w 7892478"/>
              <a:gd name="connsiteY33" fmla="*/ 3291840 h 5408023"/>
              <a:gd name="connsiteX34" fmla="*/ 3387388 w 7892478"/>
              <a:gd name="connsiteY34" fmla="*/ 3352800 h 5408023"/>
              <a:gd name="connsiteX35" fmla="*/ 3413513 w 7892478"/>
              <a:gd name="connsiteY35" fmla="*/ 3370217 h 5408023"/>
              <a:gd name="connsiteX36" fmla="*/ 3430931 w 7892478"/>
              <a:gd name="connsiteY36" fmla="*/ 3387634 h 5408023"/>
              <a:gd name="connsiteX37" fmla="*/ 3526725 w 7892478"/>
              <a:gd name="connsiteY37" fmla="*/ 3466012 h 5408023"/>
              <a:gd name="connsiteX38" fmla="*/ 3622519 w 7892478"/>
              <a:gd name="connsiteY38" fmla="*/ 3544389 h 5408023"/>
              <a:gd name="connsiteX39" fmla="*/ 3727022 w 7892478"/>
              <a:gd name="connsiteY39" fmla="*/ 3622766 h 5408023"/>
              <a:gd name="connsiteX40" fmla="*/ 3866359 w 7892478"/>
              <a:gd name="connsiteY40" fmla="*/ 3831772 h 5408023"/>
              <a:gd name="connsiteX41" fmla="*/ 3927319 w 7892478"/>
              <a:gd name="connsiteY41" fmla="*/ 3910149 h 5408023"/>
              <a:gd name="connsiteX42" fmla="*/ 3953445 w 7892478"/>
              <a:gd name="connsiteY42" fmla="*/ 3962400 h 5408023"/>
              <a:gd name="connsiteX43" fmla="*/ 4075365 w 7892478"/>
              <a:gd name="connsiteY43" fmla="*/ 4162697 h 5408023"/>
              <a:gd name="connsiteX44" fmla="*/ 4145033 w 7892478"/>
              <a:gd name="connsiteY44" fmla="*/ 4258492 h 5408023"/>
              <a:gd name="connsiteX45" fmla="*/ 4197285 w 7892478"/>
              <a:gd name="connsiteY45" fmla="*/ 4345577 h 5408023"/>
              <a:gd name="connsiteX46" fmla="*/ 4275662 w 7892478"/>
              <a:gd name="connsiteY46" fmla="*/ 4450080 h 5408023"/>
              <a:gd name="connsiteX47" fmla="*/ 4327913 w 7892478"/>
              <a:gd name="connsiteY47" fmla="*/ 4511040 h 5408023"/>
              <a:gd name="connsiteX48" fmla="*/ 4371456 w 7892478"/>
              <a:gd name="connsiteY48" fmla="*/ 4580709 h 5408023"/>
              <a:gd name="connsiteX49" fmla="*/ 4484668 w 7892478"/>
              <a:gd name="connsiteY49" fmla="*/ 4685212 h 5408023"/>
              <a:gd name="connsiteX50" fmla="*/ 4571753 w 7892478"/>
              <a:gd name="connsiteY50" fmla="*/ 4763589 h 5408023"/>
              <a:gd name="connsiteX51" fmla="*/ 4833011 w 7892478"/>
              <a:gd name="connsiteY51" fmla="*/ 5033554 h 5408023"/>
              <a:gd name="connsiteX52" fmla="*/ 5120393 w 7892478"/>
              <a:gd name="connsiteY52" fmla="*/ 5277394 h 5408023"/>
              <a:gd name="connsiteX53" fmla="*/ 5242313 w 7892478"/>
              <a:gd name="connsiteY53" fmla="*/ 5329646 h 5408023"/>
              <a:gd name="connsiteX54" fmla="*/ 5338108 w 7892478"/>
              <a:gd name="connsiteY54" fmla="*/ 5381897 h 5408023"/>
              <a:gd name="connsiteX55" fmla="*/ 5494862 w 7892478"/>
              <a:gd name="connsiteY55" fmla="*/ 5408023 h 5408023"/>
              <a:gd name="connsiteX56" fmla="*/ 5712576 w 7892478"/>
              <a:gd name="connsiteY56" fmla="*/ 5381897 h 5408023"/>
              <a:gd name="connsiteX57" fmla="*/ 5790953 w 7892478"/>
              <a:gd name="connsiteY57" fmla="*/ 5338354 h 5408023"/>
              <a:gd name="connsiteX58" fmla="*/ 5921582 w 7892478"/>
              <a:gd name="connsiteY58" fmla="*/ 5259977 h 5408023"/>
              <a:gd name="connsiteX59" fmla="*/ 5973833 w 7892478"/>
              <a:gd name="connsiteY59" fmla="*/ 5216434 h 5408023"/>
              <a:gd name="connsiteX60" fmla="*/ 6095753 w 7892478"/>
              <a:gd name="connsiteY60" fmla="*/ 5155474 h 5408023"/>
              <a:gd name="connsiteX61" fmla="*/ 6156713 w 7892478"/>
              <a:gd name="connsiteY61" fmla="*/ 5120640 h 5408023"/>
              <a:gd name="connsiteX62" fmla="*/ 6252508 w 7892478"/>
              <a:gd name="connsiteY62" fmla="*/ 5085806 h 5408023"/>
              <a:gd name="connsiteX63" fmla="*/ 6348302 w 7892478"/>
              <a:gd name="connsiteY63" fmla="*/ 5016137 h 5408023"/>
              <a:gd name="connsiteX64" fmla="*/ 6461513 w 7892478"/>
              <a:gd name="connsiteY64" fmla="*/ 4833257 h 5408023"/>
              <a:gd name="connsiteX65" fmla="*/ 6531182 w 7892478"/>
              <a:gd name="connsiteY65" fmla="*/ 4711337 h 5408023"/>
              <a:gd name="connsiteX66" fmla="*/ 6618268 w 7892478"/>
              <a:gd name="connsiteY66" fmla="*/ 4441372 h 5408023"/>
              <a:gd name="connsiteX67" fmla="*/ 6705353 w 7892478"/>
              <a:gd name="connsiteY67" fmla="*/ 4058194 h 5408023"/>
              <a:gd name="connsiteX68" fmla="*/ 6914359 w 7892478"/>
              <a:gd name="connsiteY68" fmla="*/ 3640183 h 5408023"/>
              <a:gd name="connsiteX69" fmla="*/ 7027571 w 7892478"/>
              <a:gd name="connsiteY69" fmla="*/ 3466012 h 5408023"/>
              <a:gd name="connsiteX70" fmla="*/ 7071113 w 7892478"/>
              <a:gd name="connsiteY70" fmla="*/ 3387634 h 5408023"/>
              <a:gd name="connsiteX71" fmla="*/ 7105948 w 7892478"/>
              <a:gd name="connsiteY71" fmla="*/ 3344092 h 5408023"/>
              <a:gd name="connsiteX72" fmla="*/ 7184325 w 7892478"/>
              <a:gd name="connsiteY72" fmla="*/ 3135086 h 5408023"/>
              <a:gd name="connsiteX73" fmla="*/ 7384622 w 7892478"/>
              <a:gd name="connsiteY73" fmla="*/ 2760617 h 5408023"/>
              <a:gd name="connsiteX74" fmla="*/ 7584919 w 7892478"/>
              <a:gd name="connsiteY74" fmla="*/ 2220686 h 5408023"/>
              <a:gd name="connsiteX75" fmla="*/ 7645879 w 7892478"/>
              <a:gd name="connsiteY75" fmla="*/ 2037806 h 5408023"/>
              <a:gd name="connsiteX76" fmla="*/ 7881011 w 7892478"/>
              <a:gd name="connsiteY76" fmla="*/ 1088572 h 5408023"/>
              <a:gd name="connsiteX77" fmla="*/ 7872302 w 7892478"/>
              <a:gd name="connsiteY77" fmla="*/ 696686 h 5408023"/>
              <a:gd name="connsiteX78" fmla="*/ 7793925 w 7892478"/>
              <a:gd name="connsiteY78" fmla="*/ 566057 h 5408023"/>
              <a:gd name="connsiteX79" fmla="*/ 7750382 w 7892478"/>
              <a:gd name="connsiteY79" fmla="*/ 505097 h 5408023"/>
              <a:gd name="connsiteX80" fmla="*/ 7584919 w 7892478"/>
              <a:gd name="connsiteY80" fmla="*/ 391886 h 5408023"/>
              <a:gd name="connsiteX81" fmla="*/ 6966611 w 7892478"/>
              <a:gd name="connsiteY81" fmla="*/ 261257 h 5408023"/>
              <a:gd name="connsiteX82" fmla="*/ 6156713 w 7892478"/>
              <a:gd name="connsiteY82" fmla="*/ 165463 h 5408023"/>
              <a:gd name="connsiteX83" fmla="*/ 5965125 w 7892478"/>
              <a:gd name="connsiteY83" fmla="*/ 139337 h 5408023"/>
              <a:gd name="connsiteX84" fmla="*/ 5729993 w 7892478"/>
              <a:gd name="connsiteY84" fmla="*/ 95794 h 5408023"/>
              <a:gd name="connsiteX85" fmla="*/ 5224896 w 7892478"/>
              <a:gd name="connsiteY85" fmla="*/ 43543 h 5408023"/>
              <a:gd name="connsiteX86" fmla="*/ 4597879 w 7892478"/>
              <a:gd name="connsiteY86" fmla="*/ 0 h 5408023"/>
              <a:gd name="connsiteX87" fmla="*/ 4057948 w 7892478"/>
              <a:gd name="connsiteY87" fmla="*/ 8709 h 5408023"/>
              <a:gd name="connsiteX88" fmla="*/ 3248051 w 7892478"/>
              <a:gd name="connsiteY88" fmla="*/ 69669 h 5408023"/>
              <a:gd name="connsiteX89" fmla="*/ 2908416 w 7892478"/>
              <a:gd name="connsiteY89" fmla="*/ 121920 h 5408023"/>
              <a:gd name="connsiteX90" fmla="*/ 2394611 w 7892478"/>
              <a:gd name="connsiteY90" fmla="*/ 148046 h 5408023"/>
              <a:gd name="connsiteX91" fmla="*/ 2028851 w 7892478"/>
              <a:gd name="connsiteY91" fmla="*/ 165463 h 5408023"/>
              <a:gd name="connsiteX92" fmla="*/ 1741468 w 7892478"/>
              <a:gd name="connsiteY92" fmla="*/ 209006 h 5408023"/>
              <a:gd name="connsiteX93" fmla="*/ 1175411 w 7892478"/>
              <a:gd name="connsiteY93" fmla="*/ 269966 h 5408023"/>
              <a:gd name="connsiteX94" fmla="*/ 1070908 w 7892478"/>
              <a:gd name="connsiteY94" fmla="*/ 304800 h 5408023"/>
              <a:gd name="connsiteX95" fmla="*/ 1036073 w 7892478"/>
              <a:gd name="connsiteY95" fmla="*/ 322217 h 5408023"/>
              <a:gd name="connsiteX96" fmla="*/ 922862 w 7892478"/>
              <a:gd name="connsiteY96" fmla="*/ 418012 h 5408023"/>
              <a:gd name="connsiteX97" fmla="*/ 905445 w 7892478"/>
              <a:gd name="connsiteY97" fmla="*/ 487680 h 5408023"/>
              <a:gd name="connsiteX98" fmla="*/ 896736 w 7892478"/>
              <a:gd name="connsiteY98" fmla="*/ 618309 h 5408023"/>
              <a:gd name="connsiteX99" fmla="*/ 853193 w 7892478"/>
              <a:gd name="connsiteY99" fmla="*/ 661852 h 5408023"/>
              <a:gd name="connsiteX100" fmla="*/ 774816 w 7892478"/>
              <a:gd name="connsiteY100" fmla="*/ 731520 h 5408023"/>
              <a:gd name="connsiteX101" fmla="*/ 748691 w 7892478"/>
              <a:gd name="connsiteY101" fmla="*/ 740229 h 5408023"/>
              <a:gd name="connsiteX102" fmla="*/ 661605 w 7892478"/>
              <a:gd name="connsiteY102" fmla="*/ 757646 h 5408023"/>
              <a:gd name="connsiteX103" fmla="*/ 635479 w 7892478"/>
              <a:gd name="connsiteY103" fmla="*/ 783772 h 5408023"/>
              <a:gd name="connsiteX104" fmla="*/ 591936 w 7892478"/>
              <a:gd name="connsiteY104" fmla="*/ 844732 h 5408023"/>
              <a:gd name="connsiteX105" fmla="*/ 513559 w 7892478"/>
              <a:gd name="connsiteY105" fmla="*/ 896983 h 5408023"/>
              <a:gd name="connsiteX106" fmla="*/ 905445 w 7892478"/>
              <a:gd name="connsiteY106" fmla="*/ 583474 h 5408023"/>
              <a:gd name="connsiteX107" fmla="*/ 1009948 w 7892478"/>
              <a:gd name="connsiteY107" fmla="*/ 539932 h 5408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7892478" h="5408023">
                <a:moveTo>
                  <a:pt x="1009948" y="539932"/>
                </a:moveTo>
                <a:lnTo>
                  <a:pt x="1009948" y="539932"/>
                </a:lnTo>
                <a:cubicBezTo>
                  <a:pt x="937435" y="580917"/>
                  <a:pt x="795029" y="656804"/>
                  <a:pt x="713856" y="714103"/>
                </a:cubicBezTo>
                <a:cubicBezTo>
                  <a:pt x="630847" y="772698"/>
                  <a:pt x="689206" y="737721"/>
                  <a:pt x="635479" y="783772"/>
                </a:cubicBezTo>
                <a:cubicBezTo>
                  <a:pt x="624459" y="793218"/>
                  <a:pt x="611665" y="800451"/>
                  <a:pt x="600645" y="809897"/>
                </a:cubicBezTo>
                <a:cubicBezTo>
                  <a:pt x="570993" y="835313"/>
                  <a:pt x="545339" y="865574"/>
                  <a:pt x="513559" y="888274"/>
                </a:cubicBezTo>
                <a:cubicBezTo>
                  <a:pt x="363442" y="995501"/>
                  <a:pt x="465374" y="878185"/>
                  <a:pt x="304553" y="1018903"/>
                </a:cubicBezTo>
                <a:cubicBezTo>
                  <a:pt x="268990" y="1050021"/>
                  <a:pt x="239646" y="1087642"/>
                  <a:pt x="208759" y="1123406"/>
                </a:cubicBezTo>
                <a:cubicBezTo>
                  <a:pt x="149392" y="1192147"/>
                  <a:pt x="118658" y="1237037"/>
                  <a:pt x="69422" y="1314994"/>
                </a:cubicBezTo>
                <a:cubicBezTo>
                  <a:pt x="56925" y="1334781"/>
                  <a:pt x="46199" y="1355634"/>
                  <a:pt x="34588" y="1375954"/>
                </a:cubicBezTo>
                <a:cubicBezTo>
                  <a:pt x="-10151" y="1554912"/>
                  <a:pt x="-18536" y="1556482"/>
                  <a:pt x="52005" y="1854926"/>
                </a:cubicBezTo>
                <a:cubicBezTo>
                  <a:pt x="60045" y="1888944"/>
                  <a:pt x="105665" y="1899877"/>
                  <a:pt x="130382" y="1924594"/>
                </a:cubicBezTo>
                <a:cubicBezTo>
                  <a:pt x="169597" y="1963809"/>
                  <a:pt x="204378" y="2007299"/>
                  <a:pt x="243593" y="2046514"/>
                </a:cubicBezTo>
                <a:cubicBezTo>
                  <a:pt x="262517" y="2065438"/>
                  <a:pt x="285629" y="2079842"/>
                  <a:pt x="304553" y="2098766"/>
                </a:cubicBezTo>
                <a:cubicBezTo>
                  <a:pt x="311954" y="2106167"/>
                  <a:pt x="313554" y="2118671"/>
                  <a:pt x="321971" y="2124892"/>
                </a:cubicBezTo>
                <a:cubicBezTo>
                  <a:pt x="432006" y="2206222"/>
                  <a:pt x="528005" y="2275114"/>
                  <a:pt x="661605" y="2307772"/>
                </a:cubicBezTo>
                <a:cubicBezTo>
                  <a:pt x="809339" y="2343885"/>
                  <a:pt x="947799" y="2342968"/>
                  <a:pt x="1097033" y="2360023"/>
                </a:cubicBezTo>
                <a:cubicBezTo>
                  <a:pt x="1392408" y="2393780"/>
                  <a:pt x="959922" y="2364016"/>
                  <a:pt x="1358291" y="2386149"/>
                </a:cubicBezTo>
                <a:cubicBezTo>
                  <a:pt x="1596526" y="2420180"/>
                  <a:pt x="1249394" y="2373152"/>
                  <a:pt x="1898222" y="2403566"/>
                </a:cubicBezTo>
                <a:cubicBezTo>
                  <a:pt x="1916000" y="2404399"/>
                  <a:pt x="2015007" y="2430346"/>
                  <a:pt x="2037559" y="2438400"/>
                </a:cubicBezTo>
                <a:cubicBezTo>
                  <a:pt x="2058379" y="2445836"/>
                  <a:pt x="2077546" y="2457535"/>
                  <a:pt x="2098519" y="2464526"/>
                </a:cubicBezTo>
                <a:cubicBezTo>
                  <a:pt x="2129918" y="2474992"/>
                  <a:pt x="2162560" y="2481313"/>
                  <a:pt x="2194313" y="2490652"/>
                </a:cubicBezTo>
                <a:cubicBezTo>
                  <a:pt x="2211926" y="2495832"/>
                  <a:pt x="2228754" y="2503616"/>
                  <a:pt x="2246565" y="2508069"/>
                </a:cubicBezTo>
                <a:cubicBezTo>
                  <a:pt x="2271671" y="2514345"/>
                  <a:pt x="2347873" y="2522909"/>
                  <a:pt x="2368485" y="2525486"/>
                </a:cubicBezTo>
                <a:lnTo>
                  <a:pt x="2551365" y="2647406"/>
                </a:lnTo>
                <a:cubicBezTo>
                  <a:pt x="2580701" y="2667279"/>
                  <a:pt x="2609207" y="2688357"/>
                  <a:pt x="2638451" y="2708366"/>
                </a:cubicBezTo>
                <a:cubicBezTo>
                  <a:pt x="2664365" y="2726097"/>
                  <a:pt x="2697213" y="2736098"/>
                  <a:pt x="2716828" y="2760617"/>
                </a:cubicBezTo>
                <a:cubicBezTo>
                  <a:pt x="2847167" y="2923542"/>
                  <a:pt x="2606021" y="2625392"/>
                  <a:pt x="2821331" y="2873829"/>
                </a:cubicBezTo>
                <a:cubicBezTo>
                  <a:pt x="2837685" y="2892699"/>
                  <a:pt x="2849890" y="2914812"/>
                  <a:pt x="2864873" y="2934789"/>
                </a:cubicBezTo>
                <a:cubicBezTo>
                  <a:pt x="2876026" y="2949659"/>
                  <a:pt x="2888775" y="2963300"/>
                  <a:pt x="2899708" y="2978332"/>
                </a:cubicBezTo>
                <a:cubicBezTo>
                  <a:pt x="2912020" y="2995261"/>
                  <a:pt x="2921021" y="3014603"/>
                  <a:pt x="2934542" y="3030583"/>
                </a:cubicBezTo>
                <a:cubicBezTo>
                  <a:pt x="2956312" y="3056312"/>
                  <a:pt x="3039388" y="3133882"/>
                  <a:pt x="3065171" y="3152503"/>
                </a:cubicBezTo>
                <a:cubicBezTo>
                  <a:pt x="3092615" y="3172323"/>
                  <a:pt x="3123743" y="3186506"/>
                  <a:pt x="3152256" y="3204754"/>
                </a:cubicBezTo>
                <a:cubicBezTo>
                  <a:pt x="3196334" y="3232964"/>
                  <a:pt x="3238600" y="3263957"/>
                  <a:pt x="3282885" y="3291840"/>
                </a:cubicBezTo>
                <a:cubicBezTo>
                  <a:pt x="3317012" y="3313327"/>
                  <a:pt x="3352807" y="3332051"/>
                  <a:pt x="3387388" y="3352800"/>
                </a:cubicBezTo>
                <a:cubicBezTo>
                  <a:pt x="3396363" y="3358185"/>
                  <a:pt x="3405340" y="3363679"/>
                  <a:pt x="3413513" y="3370217"/>
                </a:cubicBezTo>
                <a:cubicBezTo>
                  <a:pt x="3419924" y="3375346"/>
                  <a:pt x="3424663" y="3382330"/>
                  <a:pt x="3430931" y="3387634"/>
                </a:cubicBezTo>
                <a:cubicBezTo>
                  <a:pt x="3462426" y="3414284"/>
                  <a:pt x="3494794" y="3439886"/>
                  <a:pt x="3526725" y="3466012"/>
                </a:cubicBezTo>
                <a:cubicBezTo>
                  <a:pt x="3558656" y="3492138"/>
                  <a:pt x="3587533" y="3522523"/>
                  <a:pt x="3622519" y="3544389"/>
                </a:cubicBezTo>
                <a:cubicBezTo>
                  <a:pt x="3659461" y="3567477"/>
                  <a:pt x="3700797" y="3586051"/>
                  <a:pt x="3727022" y="3622766"/>
                </a:cubicBezTo>
                <a:cubicBezTo>
                  <a:pt x="3775690" y="3690901"/>
                  <a:pt x="3814953" y="3765679"/>
                  <a:pt x="3866359" y="3831772"/>
                </a:cubicBezTo>
                <a:cubicBezTo>
                  <a:pt x="3886679" y="3857898"/>
                  <a:pt x="3908960" y="3882610"/>
                  <a:pt x="3927319" y="3910149"/>
                </a:cubicBezTo>
                <a:cubicBezTo>
                  <a:pt x="3938121" y="3926351"/>
                  <a:pt x="3943597" y="3945601"/>
                  <a:pt x="3953445" y="3962400"/>
                </a:cubicBezTo>
                <a:cubicBezTo>
                  <a:pt x="3992973" y="4029830"/>
                  <a:pt x="4029393" y="4099484"/>
                  <a:pt x="4075365" y="4162697"/>
                </a:cubicBezTo>
                <a:cubicBezTo>
                  <a:pt x="4098588" y="4194629"/>
                  <a:pt x="4123132" y="4225640"/>
                  <a:pt x="4145033" y="4258492"/>
                </a:cubicBezTo>
                <a:cubicBezTo>
                  <a:pt x="4163811" y="4286659"/>
                  <a:pt x="4176973" y="4318495"/>
                  <a:pt x="4197285" y="4345577"/>
                </a:cubicBezTo>
                <a:cubicBezTo>
                  <a:pt x="4223411" y="4380411"/>
                  <a:pt x="4248681" y="4415904"/>
                  <a:pt x="4275662" y="4450080"/>
                </a:cubicBezTo>
                <a:cubicBezTo>
                  <a:pt x="4292245" y="4471086"/>
                  <a:pt x="4312086" y="4489458"/>
                  <a:pt x="4327913" y="4511040"/>
                </a:cubicBezTo>
                <a:cubicBezTo>
                  <a:pt x="4344108" y="4533124"/>
                  <a:pt x="4355538" y="4558424"/>
                  <a:pt x="4371456" y="4580709"/>
                </a:cubicBezTo>
                <a:cubicBezTo>
                  <a:pt x="4421740" y="4651106"/>
                  <a:pt x="4412025" y="4624676"/>
                  <a:pt x="4484668" y="4685212"/>
                </a:cubicBezTo>
                <a:cubicBezTo>
                  <a:pt x="4514670" y="4710214"/>
                  <a:pt x="4544138" y="4735974"/>
                  <a:pt x="4571753" y="4763589"/>
                </a:cubicBezTo>
                <a:cubicBezTo>
                  <a:pt x="4660302" y="4852138"/>
                  <a:pt x="4748072" y="4941536"/>
                  <a:pt x="4833011" y="5033554"/>
                </a:cubicBezTo>
                <a:cubicBezTo>
                  <a:pt x="4921119" y="5129005"/>
                  <a:pt x="4993756" y="5223121"/>
                  <a:pt x="5120393" y="5277394"/>
                </a:cubicBezTo>
                <a:cubicBezTo>
                  <a:pt x="5161033" y="5294811"/>
                  <a:pt x="5202452" y="5310513"/>
                  <a:pt x="5242313" y="5329646"/>
                </a:cubicBezTo>
                <a:cubicBezTo>
                  <a:pt x="5275104" y="5345386"/>
                  <a:pt x="5304118" y="5368949"/>
                  <a:pt x="5338108" y="5381897"/>
                </a:cubicBezTo>
                <a:cubicBezTo>
                  <a:pt x="5370349" y="5394179"/>
                  <a:pt x="5457320" y="5403330"/>
                  <a:pt x="5494862" y="5408023"/>
                </a:cubicBezTo>
                <a:cubicBezTo>
                  <a:pt x="5567433" y="5399314"/>
                  <a:pt x="5641427" y="5398638"/>
                  <a:pt x="5712576" y="5381897"/>
                </a:cubicBezTo>
                <a:cubicBezTo>
                  <a:pt x="5741668" y="5375052"/>
                  <a:pt x="5765137" y="5353413"/>
                  <a:pt x="5790953" y="5338354"/>
                </a:cubicBezTo>
                <a:cubicBezTo>
                  <a:pt x="5834815" y="5312768"/>
                  <a:pt x="5882572" y="5292485"/>
                  <a:pt x="5921582" y="5259977"/>
                </a:cubicBezTo>
                <a:cubicBezTo>
                  <a:pt x="5938999" y="5245463"/>
                  <a:pt x="5954607" y="5228450"/>
                  <a:pt x="5973833" y="5216434"/>
                </a:cubicBezTo>
                <a:cubicBezTo>
                  <a:pt x="6054997" y="5165707"/>
                  <a:pt x="6038904" y="5187959"/>
                  <a:pt x="6095753" y="5155474"/>
                </a:cubicBezTo>
                <a:cubicBezTo>
                  <a:pt x="6116073" y="5143863"/>
                  <a:pt x="6135327" y="5130145"/>
                  <a:pt x="6156713" y="5120640"/>
                </a:cubicBezTo>
                <a:cubicBezTo>
                  <a:pt x="6187762" y="5106841"/>
                  <a:pt x="6221765" y="5100273"/>
                  <a:pt x="6252508" y="5085806"/>
                </a:cubicBezTo>
                <a:cubicBezTo>
                  <a:pt x="6279918" y="5072907"/>
                  <a:pt x="6324204" y="5035416"/>
                  <a:pt x="6348302" y="5016137"/>
                </a:cubicBezTo>
                <a:cubicBezTo>
                  <a:pt x="6386039" y="4955177"/>
                  <a:pt x="6424626" y="4894735"/>
                  <a:pt x="6461513" y="4833257"/>
                </a:cubicBezTo>
                <a:cubicBezTo>
                  <a:pt x="6485595" y="4793120"/>
                  <a:pt x="6516812" y="4755884"/>
                  <a:pt x="6531182" y="4711337"/>
                </a:cubicBezTo>
                <a:cubicBezTo>
                  <a:pt x="6560211" y="4621349"/>
                  <a:pt x="6597313" y="4533575"/>
                  <a:pt x="6618268" y="4441372"/>
                </a:cubicBezTo>
                <a:cubicBezTo>
                  <a:pt x="6647296" y="4313646"/>
                  <a:pt x="6649962" y="4176889"/>
                  <a:pt x="6705353" y="4058194"/>
                </a:cubicBezTo>
                <a:cubicBezTo>
                  <a:pt x="6787764" y="3881600"/>
                  <a:pt x="6820898" y="3794596"/>
                  <a:pt x="6914359" y="3640183"/>
                </a:cubicBezTo>
                <a:cubicBezTo>
                  <a:pt x="6950214" y="3580945"/>
                  <a:pt x="6996605" y="3527946"/>
                  <a:pt x="7027571" y="3466012"/>
                </a:cubicBezTo>
                <a:cubicBezTo>
                  <a:pt x="7042073" y="3437008"/>
                  <a:pt x="7051979" y="3414968"/>
                  <a:pt x="7071113" y="3387634"/>
                </a:cubicBezTo>
                <a:cubicBezTo>
                  <a:pt x="7081772" y="3372407"/>
                  <a:pt x="7094336" y="3358606"/>
                  <a:pt x="7105948" y="3344092"/>
                </a:cubicBezTo>
                <a:cubicBezTo>
                  <a:pt x="7130433" y="3246149"/>
                  <a:pt x="7124840" y="3252072"/>
                  <a:pt x="7184325" y="3135086"/>
                </a:cubicBezTo>
                <a:cubicBezTo>
                  <a:pt x="7248485" y="3008904"/>
                  <a:pt x="7335387" y="2893336"/>
                  <a:pt x="7384622" y="2760617"/>
                </a:cubicBezTo>
                <a:cubicBezTo>
                  <a:pt x="7451388" y="2580640"/>
                  <a:pt x="7524215" y="2402797"/>
                  <a:pt x="7584919" y="2220686"/>
                </a:cubicBezTo>
                <a:cubicBezTo>
                  <a:pt x="7605239" y="2159726"/>
                  <a:pt x="7628553" y="2099684"/>
                  <a:pt x="7645879" y="2037806"/>
                </a:cubicBezTo>
                <a:cubicBezTo>
                  <a:pt x="7824147" y="1401133"/>
                  <a:pt x="7792487" y="1531185"/>
                  <a:pt x="7881011" y="1088572"/>
                </a:cubicBezTo>
                <a:cubicBezTo>
                  <a:pt x="7890507" y="955618"/>
                  <a:pt x="7904817" y="832657"/>
                  <a:pt x="7872302" y="696686"/>
                </a:cubicBezTo>
                <a:cubicBezTo>
                  <a:pt x="7860492" y="647299"/>
                  <a:pt x="7821187" y="608898"/>
                  <a:pt x="7793925" y="566057"/>
                </a:cubicBezTo>
                <a:cubicBezTo>
                  <a:pt x="7780519" y="544990"/>
                  <a:pt x="7767374" y="523396"/>
                  <a:pt x="7750382" y="505097"/>
                </a:cubicBezTo>
                <a:cubicBezTo>
                  <a:pt x="7702723" y="453773"/>
                  <a:pt x="7649594" y="419324"/>
                  <a:pt x="7584919" y="391886"/>
                </a:cubicBezTo>
                <a:cubicBezTo>
                  <a:pt x="7337479" y="286911"/>
                  <a:pt x="7293178" y="302653"/>
                  <a:pt x="6966611" y="261257"/>
                </a:cubicBezTo>
                <a:lnTo>
                  <a:pt x="6156713" y="165463"/>
                </a:lnTo>
                <a:cubicBezTo>
                  <a:pt x="6092850" y="156754"/>
                  <a:pt x="6028736" y="149723"/>
                  <a:pt x="5965125" y="139337"/>
                </a:cubicBezTo>
                <a:cubicBezTo>
                  <a:pt x="5886457" y="126493"/>
                  <a:pt x="5809044" y="106024"/>
                  <a:pt x="5729993" y="95794"/>
                </a:cubicBezTo>
                <a:cubicBezTo>
                  <a:pt x="5562129" y="74070"/>
                  <a:pt x="5393353" y="60058"/>
                  <a:pt x="5224896" y="43543"/>
                </a:cubicBezTo>
                <a:cubicBezTo>
                  <a:pt x="4813826" y="3242"/>
                  <a:pt x="4936213" y="12084"/>
                  <a:pt x="4597879" y="0"/>
                </a:cubicBezTo>
                <a:cubicBezTo>
                  <a:pt x="4417902" y="2903"/>
                  <a:pt x="4237827" y="2108"/>
                  <a:pt x="4057948" y="8709"/>
                </a:cubicBezTo>
                <a:cubicBezTo>
                  <a:pt x="3904461" y="14342"/>
                  <a:pt x="3402892" y="51452"/>
                  <a:pt x="3248051" y="69669"/>
                </a:cubicBezTo>
                <a:cubicBezTo>
                  <a:pt x="3134292" y="83052"/>
                  <a:pt x="3022219" y="108914"/>
                  <a:pt x="2908416" y="121920"/>
                </a:cubicBezTo>
                <a:cubicBezTo>
                  <a:pt x="2764926" y="138319"/>
                  <a:pt x="2541294" y="141760"/>
                  <a:pt x="2394611" y="148046"/>
                </a:cubicBezTo>
                <a:lnTo>
                  <a:pt x="2028851" y="165463"/>
                </a:lnTo>
                <a:cubicBezTo>
                  <a:pt x="1933057" y="179977"/>
                  <a:pt x="1837701" y="197758"/>
                  <a:pt x="1741468" y="209006"/>
                </a:cubicBezTo>
                <a:cubicBezTo>
                  <a:pt x="852484" y="312913"/>
                  <a:pt x="1698667" y="195214"/>
                  <a:pt x="1175411" y="269966"/>
                </a:cubicBezTo>
                <a:cubicBezTo>
                  <a:pt x="1140577" y="281577"/>
                  <a:pt x="1105289" y="291907"/>
                  <a:pt x="1070908" y="304800"/>
                </a:cubicBezTo>
                <a:cubicBezTo>
                  <a:pt x="1058752" y="309358"/>
                  <a:pt x="1046875" y="315016"/>
                  <a:pt x="1036073" y="322217"/>
                </a:cubicBezTo>
                <a:cubicBezTo>
                  <a:pt x="971509" y="365260"/>
                  <a:pt x="971710" y="369164"/>
                  <a:pt x="922862" y="418012"/>
                </a:cubicBezTo>
                <a:cubicBezTo>
                  <a:pt x="917056" y="441235"/>
                  <a:pt x="907037" y="463796"/>
                  <a:pt x="905445" y="487680"/>
                </a:cubicBezTo>
                <a:cubicBezTo>
                  <a:pt x="900426" y="562966"/>
                  <a:pt x="939088" y="539655"/>
                  <a:pt x="896736" y="618309"/>
                </a:cubicBezTo>
                <a:cubicBezTo>
                  <a:pt x="887004" y="636382"/>
                  <a:pt x="867707" y="647338"/>
                  <a:pt x="853193" y="661852"/>
                </a:cubicBezTo>
                <a:cubicBezTo>
                  <a:pt x="827796" y="687249"/>
                  <a:pt x="805674" y="710947"/>
                  <a:pt x="774816" y="731520"/>
                </a:cubicBezTo>
                <a:cubicBezTo>
                  <a:pt x="767178" y="736612"/>
                  <a:pt x="757635" y="738165"/>
                  <a:pt x="748691" y="740229"/>
                </a:cubicBezTo>
                <a:cubicBezTo>
                  <a:pt x="719846" y="746886"/>
                  <a:pt x="690634" y="751840"/>
                  <a:pt x="661605" y="757646"/>
                </a:cubicBezTo>
                <a:cubicBezTo>
                  <a:pt x="652896" y="766355"/>
                  <a:pt x="642311" y="773525"/>
                  <a:pt x="635479" y="783772"/>
                </a:cubicBezTo>
                <a:cubicBezTo>
                  <a:pt x="609784" y="822315"/>
                  <a:pt x="654362" y="809060"/>
                  <a:pt x="591936" y="844732"/>
                </a:cubicBezTo>
                <a:cubicBezTo>
                  <a:pt x="523847" y="883640"/>
                  <a:pt x="547525" y="863017"/>
                  <a:pt x="513559" y="896983"/>
                </a:cubicBezTo>
                <a:lnTo>
                  <a:pt x="905445" y="583474"/>
                </a:lnTo>
                <a:lnTo>
                  <a:pt x="1009948" y="539932"/>
                </a:lnTo>
                <a:close/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A3E6F-ADCF-499D-1225-469214AC0697}"/>
              </a:ext>
            </a:extLst>
          </p:cNvPr>
          <p:cNvSpPr txBox="1"/>
          <p:nvPr/>
        </p:nvSpPr>
        <p:spPr>
          <a:xfrm>
            <a:off x="531280" y="1690688"/>
            <a:ext cx="337418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/>
              <a:t>Dead ends: </a:t>
            </a:r>
          </a:p>
          <a:p>
            <a:r>
              <a:rPr lang="en-SG" sz="2400" dirty="0"/>
              <a:t>{G}</a:t>
            </a:r>
          </a:p>
          <a:p>
            <a:endParaRPr lang="en-SG" sz="2400" dirty="0"/>
          </a:p>
          <a:p>
            <a:r>
              <a:rPr lang="en-SG" sz="2400" b="1"/>
              <a:t>Spider traps: </a:t>
            </a:r>
            <a:endParaRPr lang="en-SG" sz="2400" b="1" dirty="0"/>
          </a:p>
          <a:p>
            <a:r>
              <a:rPr lang="en-SG" sz="2400" dirty="0"/>
              <a:t>{C}, </a:t>
            </a:r>
          </a:p>
          <a:p>
            <a:r>
              <a:rPr lang="en-SG" sz="2400" dirty="0"/>
              <a:t>{E, F, H}, </a:t>
            </a:r>
          </a:p>
          <a:p>
            <a:r>
              <a:rPr lang="en-SG" sz="2400" dirty="0"/>
              <a:t>{B, C, E, F, H}, </a:t>
            </a:r>
          </a:p>
          <a:p>
            <a:r>
              <a:rPr lang="en-SG" sz="2400" dirty="0"/>
              <a:t>{A, B, C, E, F, H}</a:t>
            </a:r>
          </a:p>
        </p:txBody>
      </p:sp>
    </p:spTree>
    <p:extLst>
      <p:ext uri="{BB962C8B-B14F-4D97-AF65-F5344CB8AC3E}">
        <p14:creationId xmlns:p14="http://schemas.microsoft.com/office/powerpoint/2010/main" val="40748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  <p:bldP spid="1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7A8A-67B5-4970-BAB4-A1B876EE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5BBFB-6895-A551-29EA-2C9E861C0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True/False: In Topic-specific PageRank, random walker will teleport to any page with equal probability.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400" dirty="0"/>
              <a:t>Answer 4</a:t>
            </a:r>
          </a:p>
          <a:p>
            <a:r>
              <a:rPr lang="en-US" dirty="0"/>
              <a:t>False. Random walker will only teleport to a topic-specific set of “relevant” pages.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4876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3D41E12-9391-0DBB-D46D-8364930A8FFF}"/>
              </a:ext>
            </a:extLst>
          </p:cNvPr>
          <p:cNvGrpSpPr/>
          <p:nvPr/>
        </p:nvGrpSpPr>
        <p:grpSpPr>
          <a:xfrm>
            <a:off x="6732574" y="0"/>
            <a:ext cx="5404288" cy="3993169"/>
            <a:chOff x="6732574" y="0"/>
            <a:chExt cx="5404288" cy="399316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6E2DA31-8DAA-E291-C7FD-A721A5491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2574" y="0"/>
              <a:ext cx="5404288" cy="3993169"/>
            </a:xfrm>
            <a:prstGeom prst="rect">
              <a:avLst/>
            </a:prstGeom>
          </p:spPr>
        </p:pic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869D13F9-1C3A-5E99-1F19-0DE24C0CE685}"/>
                </a:ext>
              </a:extLst>
            </p:cNvPr>
            <p:cNvSpPr txBox="1"/>
            <p:nvPr/>
          </p:nvSpPr>
          <p:spPr>
            <a:xfrm>
              <a:off x="8330564" y="3623837"/>
              <a:ext cx="19681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Lecture 10 Slide 55</a:t>
              </a:r>
              <a:endParaRPr lang="en-SG" b="1" dirty="0"/>
            </a:p>
          </p:txBody>
        </p:sp>
      </p:grpSp>
      <p:sp>
        <p:nvSpPr>
          <p:cNvPr id="13" name="Rectangle 13">
            <a:extLst>
              <a:ext uri="{FF2B5EF4-FFF2-40B4-BE49-F238E27FC236}">
                <a16:creationId xmlns:a16="http://schemas.microsoft.com/office/drawing/2014/main" id="{C33CA395-570A-BE42-B7AA-D7CA2B3733F5}"/>
              </a:ext>
            </a:extLst>
          </p:cNvPr>
          <p:cNvSpPr/>
          <p:nvPr/>
        </p:nvSpPr>
        <p:spPr>
          <a:xfrm>
            <a:off x="7225664" y="1219200"/>
            <a:ext cx="4779599" cy="749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969B07AD-8731-61F7-40A8-B28D528F6168}"/>
              </a:ext>
            </a:extLst>
          </p:cNvPr>
          <p:cNvSpPr txBox="1"/>
          <p:nvPr/>
        </p:nvSpPr>
        <p:spPr>
          <a:xfrm>
            <a:off x="8330564" y="6171414"/>
            <a:ext cx="1968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Lecture 10 Slide 49</a:t>
            </a:r>
            <a:endParaRPr lang="en-SG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D37E7-AA0D-1042-5D85-8CFF53BEDBF5}"/>
              </a:ext>
            </a:extLst>
          </p:cNvPr>
          <p:cNvSpPr/>
          <p:nvPr/>
        </p:nvSpPr>
        <p:spPr>
          <a:xfrm>
            <a:off x="1777041" y="3869267"/>
            <a:ext cx="2786333" cy="881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6E172B-955E-9BD1-AF37-F4D7F9A83D9A}"/>
              </a:ext>
            </a:extLst>
          </p:cNvPr>
          <p:cNvGrpSpPr/>
          <p:nvPr/>
        </p:nvGrpSpPr>
        <p:grpSpPr>
          <a:xfrm>
            <a:off x="5638800" y="4410936"/>
            <a:ext cx="6366464" cy="2129810"/>
            <a:chOff x="5638800" y="4410936"/>
            <a:chExt cx="6366464" cy="212981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6881DA6-199C-BF8B-9969-C032EC5F1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8800" y="4410936"/>
              <a:ext cx="6366464" cy="1760478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FDEBE53-A5BB-4384-2142-10BF0CCDAD67}"/>
                </a:ext>
              </a:extLst>
            </p:cNvPr>
            <p:cNvSpPr/>
            <p:nvPr/>
          </p:nvSpPr>
          <p:spPr>
            <a:xfrm>
              <a:off x="7225664" y="4410936"/>
              <a:ext cx="4779599" cy="212981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BC5C2C-44CE-0D78-5C3C-9759F9573223}"/>
              </a:ext>
            </a:extLst>
          </p:cNvPr>
          <p:cNvGrpSpPr/>
          <p:nvPr/>
        </p:nvGrpSpPr>
        <p:grpSpPr>
          <a:xfrm>
            <a:off x="518644" y="338493"/>
            <a:ext cx="5742096" cy="4072443"/>
            <a:chOff x="511500" y="430578"/>
            <a:chExt cx="5742096" cy="4072443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1F8E80D-612B-7AC2-0056-5FEEC23818DF}"/>
                </a:ext>
              </a:extLst>
            </p:cNvPr>
            <p:cNvSpPr txBox="1"/>
            <p:nvPr/>
          </p:nvSpPr>
          <p:spPr>
            <a:xfrm>
              <a:off x="1988296" y="4060075"/>
              <a:ext cx="2363822" cy="4429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Lecture 10 Slide 54</a:t>
              </a:r>
              <a:endParaRPr lang="en-SG" b="1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2474684-7D17-3087-E8F0-7E87EFE69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1500" y="430578"/>
              <a:ext cx="5742096" cy="35340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6574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47DFD9-4ED9-E8D2-D03B-BDA102BBC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261" y="882338"/>
            <a:ext cx="7130653" cy="50933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1E95F-5F81-22AB-3C69-10670741A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05ECD-0709-D42A-0F6E-C6C8EE0DC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1686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Consider the following link topology.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down the Topic-Specific PageRank equations for the following link topology. Assume that pages selected for the teleport set are nodes 1 and 2 (where teleports go to either node with equal probability). Assume further that the teleport probability, (1 - β), is 0.3.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7581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FC8AFDF-51E7-427C-12EF-EC6646267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028" y="882338"/>
            <a:ext cx="6648886" cy="47492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583977-D40E-57DC-30FF-D3FAA9D8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Answer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F6280-13E6-461B-3A67-AB3CB2480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758"/>
            <a:ext cx="5823857" cy="47492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Recall the topic specific </a:t>
            </a:r>
            <a:r>
              <a:rPr lang="en-US" dirty="0" err="1"/>
              <a:t>pagerank</a:t>
            </a:r>
            <a:r>
              <a:rPr lang="en-US" dirty="0"/>
              <a:t> (TSPR) equations: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Basically, the only difference here (compared to the non-topic specific case in the last 2 questions), is that the teleport terms are only distributed among the nodes in the teleport S, instead of being distributed over all nodes. Let r</a:t>
            </a:r>
            <a:r>
              <a:rPr lang="en-US" baseline="-25000" dirty="0"/>
              <a:t>1</a:t>
            </a:r>
            <a:r>
              <a:rPr lang="en-US" dirty="0"/>
              <a:t>, r</a:t>
            </a:r>
            <a:r>
              <a:rPr lang="en-US" baseline="-25000" dirty="0"/>
              <a:t>2</a:t>
            </a:r>
            <a:r>
              <a:rPr lang="en-US" dirty="0"/>
              <a:t>, r</a:t>
            </a:r>
            <a:r>
              <a:rPr lang="en-US" baseline="-25000" dirty="0"/>
              <a:t>3</a:t>
            </a:r>
            <a:r>
              <a:rPr lang="en-US" dirty="0"/>
              <a:t>, r</a:t>
            </a:r>
            <a:r>
              <a:rPr lang="en-US" baseline="-25000" dirty="0"/>
              <a:t>4</a:t>
            </a:r>
            <a:r>
              <a:rPr lang="en-US" dirty="0"/>
              <a:t> denote the importance of the 4 nodes.</a:t>
            </a:r>
          </a:p>
          <a:p>
            <a:endParaRPr lang="en-SG" dirty="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E5FF13F8-4E29-20F4-A938-52374A609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09" y="2377880"/>
            <a:ext cx="4802285" cy="750881"/>
          </a:xfrm>
          <a:prstGeom prst="rect">
            <a:avLst/>
          </a:prstGeom>
        </p:spPr>
      </p:pic>
      <p:sp>
        <p:nvSpPr>
          <p:cNvPr id="6" name="Text Box 12">
            <a:extLst>
              <a:ext uri="{FF2B5EF4-FFF2-40B4-BE49-F238E27FC236}">
                <a16:creationId xmlns:a16="http://schemas.microsoft.com/office/drawing/2014/main" id="{B138090F-C375-770F-96DF-FB20BE7AA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832" y="797073"/>
            <a:ext cx="25749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FF0066"/>
                </a:solidFill>
                <a:cs typeface="Calibri" pitchFamily="34" charset="0"/>
              </a:rPr>
              <a:t>S</a:t>
            </a:r>
            <a:r>
              <a:rPr lang="en-US" sz="2400" b="1" dirty="0">
                <a:solidFill>
                  <a:srgbClr val="FF0066"/>
                </a:solidFill>
                <a:cs typeface="Calibri" pitchFamily="34" charset="0"/>
              </a:rPr>
              <a:t> = {1,2}</a:t>
            </a:r>
            <a:r>
              <a:rPr lang="en-US" sz="2400" b="1" dirty="0">
                <a:solidFill>
                  <a:srgbClr val="FFFFFF"/>
                </a:solidFill>
                <a:cs typeface="Calibri" pitchFamily="34" charset="0"/>
              </a:rPr>
              <a:t>, </a:t>
            </a:r>
            <a:r>
              <a:rPr lang="en-US" sz="2400" b="1" i="1" dirty="0">
                <a:solidFill>
                  <a:srgbClr val="0000FF"/>
                </a:solidFill>
                <a:cs typeface="Calibri" pitchFamily="34" charset="0"/>
                <a:sym typeface="Symbol" pitchFamily="18" charset="2"/>
              </a:rPr>
              <a:t></a:t>
            </a:r>
            <a:r>
              <a:rPr lang="en-US" sz="2400" b="1" dirty="0">
                <a:solidFill>
                  <a:srgbClr val="0000FF"/>
                </a:solidFill>
                <a:cs typeface="Calibri" pitchFamily="34" charset="0"/>
              </a:rPr>
              <a:t> = 0.7</a:t>
            </a:r>
          </a:p>
        </p:txBody>
      </p:sp>
    </p:spTree>
    <p:extLst>
      <p:ext uri="{BB962C8B-B14F-4D97-AF65-F5344CB8AC3E}">
        <p14:creationId xmlns:p14="http://schemas.microsoft.com/office/powerpoint/2010/main" val="44347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142D9D-DE34-4748-36D9-5B7FCDDB8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028" y="882338"/>
            <a:ext cx="6648886" cy="47492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C7C7EC-3106-2CDF-750A-F36857F22F94}"/>
              </a:ext>
            </a:extLst>
          </p:cNvPr>
          <p:cNvSpPr txBox="1"/>
          <p:nvPr/>
        </p:nvSpPr>
        <p:spPr>
          <a:xfrm>
            <a:off x="478972" y="297799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= 0.7 (r</a:t>
            </a:r>
            <a:r>
              <a:rPr lang="en-US" baseline="-25000" dirty="0"/>
              <a:t>2</a:t>
            </a:r>
            <a:r>
              <a:rPr lang="en-US" dirty="0"/>
              <a:t>)                       + </a:t>
            </a:r>
            <a:r>
              <a:rPr lang="en-US" dirty="0">
                <a:solidFill>
                  <a:srgbClr val="0000FF"/>
                </a:solidFill>
              </a:rPr>
              <a:t>(1 – 0.7) / 2 </a:t>
            </a:r>
            <a:endParaRPr lang="en-US" dirty="0"/>
          </a:p>
          <a:p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= 0.7 (r</a:t>
            </a:r>
            <a:r>
              <a:rPr lang="en-US" baseline="-25000" dirty="0"/>
              <a:t>1</a:t>
            </a:r>
            <a:r>
              <a:rPr lang="en-US" dirty="0"/>
              <a:t> / 2)                 </a:t>
            </a:r>
            <a:r>
              <a:rPr lang="en-US" dirty="0">
                <a:solidFill>
                  <a:srgbClr val="0000FF"/>
                </a:solidFill>
              </a:rPr>
              <a:t>+ (1 – 0.7) / 2</a:t>
            </a:r>
          </a:p>
          <a:p>
            <a:r>
              <a:rPr lang="en-US" dirty="0"/>
              <a:t>r</a:t>
            </a:r>
            <a:r>
              <a:rPr lang="en-US" baseline="-25000" dirty="0"/>
              <a:t>3</a:t>
            </a:r>
            <a:r>
              <a:rPr lang="en-US" dirty="0"/>
              <a:t> = 0.7 (r</a:t>
            </a:r>
            <a:r>
              <a:rPr lang="en-US" baseline="-25000" dirty="0"/>
              <a:t>1</a:t>
            </a:r>
            <a:r>
              <a:rPr lang="en-US" dirty="0"/>
              <a:t> / 2 + r</a:t>
            </a:r>
            <a:r>
              <a:rPr lang="en-US" baseline="-25000" dirty="0"/>
              <a:t>4</a:t>
            </a:r>
            <a:r>
              <a:rPr lang="en-US" dirty="0"/>
              <a:t>)          + 0</a:t>
            </a:r>
          </a:p>
          <a:p>
            <a:r>
              <a:rPr lang="en-US" dirty="0"/>
              <a:t>r</a:t>
            </a:r>
            <a:r>
              <a:rPr lang="en-US" baseline="-25000" dirty="0"/>
              <a:t>4</a:t>
            </a:r>
            <a:r>
              <a:rPr lang="en-US" dirty="0"/>
              <a:t> = 0.7 (r</a:t>
            </a:r>
            <a:r>
              <a:rPr lang="en-US" baseline="-25000" dirty="0"/>
              <a:t>3</a:t>
            </a:r>
            <a:r>
              <a:rPr lang="en-US" dirty="0"/>
              <a:t>)                       + 0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r</a:t>
            </a:r>
            <a:r>
              <a:rPr lang="en-US" b="1" baseline="-25000" dirty="0"/>
              <a:t>1</a:t>
            </a:r>
            <a:r>
              <a:rPr lang="pt-BR" b="1" dirty="0"/>
              <a:t> = 0.7</a:t>
            </a:r>
            <a:r>
              <a:rPr lang="en-US" b="1" dirty="0"/>
              <a:t>r</a:t>
            </a:r>
            <a:r>
              <a:rPr lang="en-US" b="1" baseline="-25000" dirty="0"/>
              <a:t>2</a:t>
            </a:r>
            <a:r>
              <a:rPr lang="pt-BR" b="1" dirty="0"/>
              <a:t> + 0.15 </a:t>
            </a:r>
          </a:p>
          <a:p>
            <a:r>
              <a:rPr lang="en-US" b="1" dirty="0"/>
              <a:t>r</a:t>
            </a:r>
            <a:r>
              <a:rPr lang="en-US" b="1" baseline="-25000" dirty="0"/>
              <a:t>2</a:t>
            </a:r>
            <a:r>
              <a:rPr lang="pt-BR" b="1" dirty="0"/>
              <a:t> = 0.35</a:t>
            </a:r>
            <a:r>
              <a:rPr lang="en-US" b="1" dirty="0"/>
              <a:t>r</a:t>
            </a:r>
            <a:r>
              <a:rPr lang="en-US" b="1" baseline="-25000" dirty="0"/>
              <a:t>1</a:t>
            </a:r>
            <a:r>
              <a:rPr lang="pt-BR" b="1" dirty="0"/>
              <a:t> + 0.15</a:t>
            </a:r>
          </a:p>
          <a:p>
            <a:r>
              <a:rPr lang="en-US" b="1" dirty="0"/>
              <a:t>r</a:t>
            </a:r>
            <a:r>
              <a:rPr lang="en-US" b="1" baseline="-25000" dirty="0"/>
              <a:t>3</a:t>
            </a:r>
            <a:r>
              <a:rPr lang="pt-BR" b="1" dirty="0"/>
              <a:t> = 0.35</a:t>
            </a:r>
            <a:r>
              <a:rPr lang="en-US" b="1" dirty="0"/>
              <a:t>r</a:t>
            </a:r>
            <a:r>
              <a:rPr lang="en-US" b="1" baseline="-25000" dirty="0"/>
              <a:t>1</a:t>
            </a:r>
            <a:r>
              <a:rPr lang="pt-BR" b="1" dirty="0"/>
              <a:t> + 0.7</a:t>
            </a:r>
            <a:r>
              <a:rPr lang="en-US" b="1" dirty="0"/>
              <a:t>r</a:t>
            </a:r>
            <a:r>
              <a:rPr lang="en-US" b="1" baseline="-25000" dirty="0"/>
              <a:t>4</a:t>
            </a:r>
            <a:endParaRPr lang="pt-BR" b="1" dirty="0"/>
          </a:p>
          <a:p>
            <a:r>
              <a:rPr lang="en-US" b="1" dirty="0"/>
              <a:t>r</a:t>
            </a:r>
            <a:r>
              <a:rPr lang="en-US" b="1" baseline="-25000" dirty="0"/>
              <a:t>4</a:t>
            </a:r>
            <a:r>
              <a:rPr lang="pt-BR" b="1" dirty="0"/>
              <a:t> = 0.7</a:t>
            </a:r>
            <a:r>
              <a:rPr lang="en-US" b="1" dirty="0"/>
              <a:t>r</a:t>
            </a:r>
            <a:r>
              <a:rPr lang="en-US" b="1" baseline="-25000" dirty="0"/>
              <a:t>3</a:t>
            </a:r>
            <a:endParaRPr lang="pt-BR" b="1" dirty="0"/>
          </a:p>
        </p:txBody>
      </p:sp>
      <p:pic>
        <p:nvPicPr>
          <p:cNvPr id="7" name="Picture 3" descr="Icon&#10;&#10;Description automatically generated">
            <a:extLst>
              <a:ext uri="{FF2B5EF4-FFF2-40B4-BE49-F238E27FC236}">
                <a16:creationId xmlns:a16="http://schemas.microsoft.com/office/drawing/2014/main" id="{BDBE02D6-E660-4C2C-7D56-4045BD66B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80" y="1709905"/>
            <a:ext cx="4802285" cy="750881"/>
          </a:xfrm>
          <a:prstGeom prst="rect">
            <a:avLst/>
          </a:prstGeom>
        </p:spPr>
      </p:pic>
      <p:sp>
        <p:nvSpPr>
          <p:cNvPr id="8" name="Text Box 12">
            <a:extLst>
              <a:ext uri="{FF2B5EF4-FFF2-40B4-BE49-F238E27FC236}">
                <a16:creationId xmlns:a16="http://schemas.microsoft.com/office/drawing/2014/main" id="{6D8EE62D-6130-3B14-6F86-597050E30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832" y="797073"/>
            <a:ext cx="25749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FF0066"/>
                </a:solidFill>
                <a:cs typeface="Calibri" pitchFamily="34" charset="0"/>
              </a:rPr>
              <a:t>S</a:t>
            </a:r>
            <a:r>
              <a:rPr lang="en-US" sz="2400" b="1" dirty="0">
                <a:solidFill>
                  <a:srgbClr val="FF0066"/>
                </a:solidFill>
                <a:cs typeface="Calibri" pitchFamily="34" charset="0"/>
              </a:rPr>
              <a:t> = {1,2}</a:t>
            </a:r>
            <a:r>
              <a:rPr lang="en-US" sz="2400" b="1" dirty="0">
                <a:solidFill>
                  <a:srgbClr val="FFFFFF"/>
                </a:solidFill>
                <a:cs typeface="Calibri" pitchFamily="34" charset="0"/>
              </a:rPr>
              <a:t>, </a:t>
            </a:r>
            <a:r>
              <a:rPr lang="en-US" sz="2400" b="1" i="1" dirty="0">
                <a:solidFill>
                  <a:srgbClr val="0000FF"/>
                </a:solidFill>
                <a:cs typeface="Calibri" pitchFamily="34" charset="0"/>
                <a:sym typeface="Symbol" pitchFamily="18" charset="2"/>
              </a:rPr>
              <a:t></a:t>
            </a:r>
            <a:r>
              <a:rPr lang="en-US" sz="2400" b="1" dirty="0">
                <a:solidFill>
                  <a:srgbClr val="0000FF"/>
                </a:solidFill>
                <a:cs typeface="Calibri" pitchFamily="34" charset="0"/>
              </a:rPr>
              <a:t> = 0.7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78A9FA-6117-5B21-1A3B-23764B8B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b="1" dirty="0"/>
              <a:t>Answer 5</a:t>
            </a:r>
          </a:p>
        </p:txBody>
      </p:sp>
    </p:spTree>
    <p:extLst>
      <p:ext uri="{BB962C8B-B14F-4D97-AF65-F5344CB8AC3E}">
        <p14:creationId xmlns:p14="http://schemas.microsoft.com/office/powerpoint/2010/main" val="3151049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D87C-918D-A079-2CFB-CD38ABA6F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2D5D6-38F7-BB09-E96D-40DF9B6AA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Show pseudocode for the compute() function for the PageRank with teleport (β = 0.85) over vertices algorithm in Pregel / </a:t>
            </a:r>
            <a:r>
              <a:rPr lang="en-US" dirty="0" err="1"/>
              <a:t>Giraph</a:t>
            </a:r>
            <a:r>
              <a:rPr lang="en-US" dirty="0"/>
              <a:t>. Set the initial PageRank value as 1/N (N is the number of vertices), Run 30 iterations and then stop. You can (if you choose) use the functions: </a:t>
            </a:r>
            <a:r>
              <a:rPr lang="en-US" dirty="0" err="1"/>
              <a:t>getValue</a:t>
            </a:r>
            <a:r>
              <a:rPr lang="en-US" dirty="0"/>
              <a:t>(), </a:t>
            </a:r>
            <a:r>
              <a:rPr lang="en-US" dirty="0" err="1"/>
              <a:t>setValue</a:t>
            </a:r>
            <a:r>
              <a:rPr lang="en-US" dirty="0"/>
              <a:t>(), </a:t>
            </a:r>
            <a:r>
              <a:rPr lang="en-US" dirty="0" err="1"/>
              <a:t>getNumVertices</a:t>
            </a:r>
            <a:r>
              <a:rPr lang="en-US" dirty="0"/>
              <a:t>(), </a:t>
            </a:r>
            <a:r>
              <a:rPr lang="en-US" dirty="0" err="1"/>
              <a:t>getSuperStep</a:t>
            </a:r>
            <a:r>
              <a:rPr lang="en-US" dirty="0"/>
              <a:t>(), </a:t>
            </a:r>
            <a:r>
              <a:rPr lang="en-US" dirty="0" err="1"/>
              <a:t>getOutEdgeIterator</a:t>
            </a:r>
            <a:r>
              <a:rPr lang="en-US" dirty="0"/>
              <a:t>().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15204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F924D63-3E3F-55A3-512D-141E1405A4C2}"/>
              </a:ext>
            </a:extLst>
          </p:cNvPr>
          <p:cNvGrpSpPr/>
          <p:nvPr/>
        </p:nvGrpSpPr>
        <p:grpSpPr>
          <a:xfrm>
            <a:off x="2135880" y="311834"/>
            <a:ext cx="7920239" cy="6234332"/>
            <a:chOff x="1952424" y="404167"/>
            <a:chExt cx="7920239" cy="623433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CCCBCFC-7926-7D46-336C-34E172E23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2424" y="404167"/>
              <a:ext cx="7920239" cy="564308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D692F2-EAAF-74F4-C07E-64CA5714223D}"/>
                </a:ext>
              </a:extLst>
            </p:cNvPr>
            <p:cNvSpPr txBox="1"/>
            <p:nvPr/>
          </p:nvSpPr>
          <p:spPr>
            <a:xfrm>
              <a:off x="4890949" y="6269167"/>
              <a:ext cx="2043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Lecture 10 Slide 68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5665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269A05E-C061-BBC1-1970-7E78D8A0C468}"/>
              </a:ext>
            </a:extLst>
          </p:cNvPr>
          <p:cNvGrpSpPr/>
          <p:nvPr/>
        </p:nvGrpSpPr>
        <p:grpSpPr>
          <a:xfrm>
            <a:off x="1144675" y="354688"/>
            <a:ext cx="9902650" cy="6148623"/>
            <a:chOff x="1144675" y="264321"/>
            <a:chExt cx="9902650" cy="614862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A45DF54-F618-847A-DE40-7956C3AE6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4675" y="264321"/>
              <a:ext cx="9902650" cy="56537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0DD43A-3AFB-CF1B-16B7-9DCA2BA0589F}"/>
                </a:ext>
              </a:extLst>
            </p:cNvPr>
            <p:cNvSpPr txBox="1"/>
            <p:nvPr/>
          </p:nvSpPr>
          <p:spPr>
            <a:xfrm>
              <a:off x="5083447" y="6043612"/>
              <a:ext cx="2025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Lecture 10 Slide 69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4B2152-2347-2B00-D744-1EC82865F9ED}"/>
              </a:ext>
            </a:extLst>
          </p:cNvPr>
          <p:cNvSpPr/>
          <p:nvPr/>
        </p:nvSpPr>
        <p:spPr>
          <a:xfrm>
            <a:off x="5113080" y="5745668"/>
            <a:ext cx="4475420" cy="217021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6697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03C2809-C40D-65A1-AF45-E2F32772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7" y="1614487"/>
            <a:ext cx="7662488" cy="29609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0A9B2D-6122-8A24-B968-A7B5D4250EAC}"/>
              </a:ext>
            </a:extLst>
          </p:cNvPr>
          <p:cNvSpPr txBox="1"/>
          <p:nvPr/>
        </p:nvSpPr>
        <p:spPr>
          <a:xfrm>
            <a:off x="639647" y="4550001"/>
            <a:ext cx="6096000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Writing pseudo code is fine; no worries about the syntax. E.g. </a:t>
            </a:r>
            <a:r>
              <a:rPr lang="en-US" sz="1800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(x) or </a:t>
            </a:r>
            <a:r>
              <a:rPr lang="en-US" sz="1800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x.size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() or “size of x” are all fine.</a:t>
            </a:r>
            <a:endParaRPr lang="en-SG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D7C5A56C-31E0-9D7E-3D97-B9187305693B}"/>
              </a:ext>
            </a:extLst>
          </p:cNvPr>
          <p:cNvSpPr/>
          <p:nvPr/>
        </p:nvSpPr>
        <p:spPr>
          <a:xfrm>
            <a:off x="403662" y="1953317"/>
            <a:ext cx="3954366" cy="45945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021C9509-8CD5-DBB1-6E84-7FA8B45E06A4}"/>
              </a:ext>
            </a:extLst>
          </p:cNvPr>
          <p:cNvSpPr/>
          <p:nvPr/>
        </p:nvSpPr>
        <p:spPr>
          <a:xfrm>
            <a:off x="639647" y="2622787"/>
            <a:ext cx="5456353" cy="90541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6A30F60A-9263-9638-868D-CCD2E098BD97}"/>
              </a:ext>
            </a:extLst>
          </p:cNvPr>
          <p:cNvSpPr/>
          <p:nvPr/>
        </p:nvSpPr>
        <p:spPr>
          <a:xfrm>
            <a:off x="639645" y="3736707"/>
            <a:ext cx="6684401" cy="257323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D4E64-A46A-0CEC-0CAB-39F230B049ED}"/>
              </a:ext>
            </a:extLst>
          </p:cNvPr>
          <p:cNvSpPr txBox="1"/>
          <p:nvPr/>
        </p:nvSpPr>
        <p:spPr>
          <a:xfrm>
            <a:off x="8134709" y="491706"/>
            <a:ext cx="36536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Superstep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0: initialize all vertex values to 1/N.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Superstep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1 onwards: aggregate messages from neighbors and compute PageRank update.</a:t>
            </a:r>
            <a:endParaRPr lang="en-S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FAF830-FC36-0A51-251D-01B7E686F01A}"/>
              </a:ext>
            </a:extLst>
          </p:cNvPr>
          <p:cNvGrpSpPr/>
          <p:nvPr/>
        </p:nvGrpSpPr>
        <p:grpSpPr>
          <a:xfrm>
            <a:off x="8995470" y="2447734"/>
            <a:ext cx="1804801" cy="1485694"/>
            <a:chOff x="8814313" y="2772104"/>
            <a:chExt cx="2290226" cy="19317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50DBC76-2FA4-CB8F-0B08-ACC237C94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14313" y="2855342"/>
              <a:ext cx="2290226" cy="184853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B871F73-5346-BD3E-5FBC-FF3707E0D87A}"/>
                </a:ext>
              </a:extLst>
            </p:cNvPr>
            <p:cNvSpPr/>
            <p:nvPr/>
          </p:nvSpPr>
          <p:spPr>
            <a:xfrm>
              <a:off x="8814313" y="2772104"/>
              <a:ext cx="433204" cy="4357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841B749-1435-C60B-A6D2-B1ACC847DB62}"/>
              </a:ext>
            </a:extLst>
          </p:cNvPr>
          <p:cNvGrpSpPr/>
          <p:nvPr/>
        </p:nvGrpSpPr>
        <p:grpSpPr>
          <a:xfrm>
            <a:off x="8134708" y="4045692"/>
            <a:ext cx="3653629" cy="2266214"/>
            <a:chOff x="8134708" y="4045692"/>
            <a:chExt cx="3653629" cy="226621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68267D-F7D3-8223-DFD7-A5F4A908A2C2}"/>
                </a:ext>
              </a:extLst>
            </p:cNvPr>
            <p:cNvSpPr txBox="1"/>
            <p:nvPr/>
          </p:nvSpPr>
          <p:spPr>
            <a:xfrm>
              <a:off x="8134708" y="4045692"/>
              <a:ext cx="36536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+mj-lt"/>
                <a:buAutoNum type="arabicPeriod" startAt="3"/>
              </a:pPr>
              <a:r>
                <a:rPr lang="en-US" sz="2000" dirty="0" err="1">
                  <a:solidFill>
                    <a:schemeClr val="accent6">
                      <a:lumMod val="75000"/>
                    </a:schemeClr>
                  </a:solidFill>
                </a:rPr>
                <a:t>Supersteps</a:t>
              </a:r>
              <a:r>
                <a:rPr lang="en-US" sz="2000" dirty="0">
                  <a:solidFill>
                    <a:schemeClr val="accent6">
                      <a:lumMod val="75000"/>
                    </a:schemeClr>
                  </a:solidFill>
                </a:rPr>
                <a:t> under 30: send message </a:t>
              </a:r>
              <a:r>
                <a:rPr lang="en-US" sz="2000">
                  <a:solidFill>
                    <a:schemeClr val="accent6">
                      <a:lumMod val="75000"/>
                    </a:schemeClr>
                  </a:solidFill>
                </a:rPr>
                <a:t>to neighbors.</a:t>
              </a:r>
              <a:endParaRPr lang="en-SG" sz="20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FE235AF-66EE-48B8-18FF-26BEFA0C06BF}"/>
                </a:ext>
              </a:extLst>
            </p:cNvPr>
            <p:cNvGrpSpPr/>
            <p:nvPr/>
          </p:nvGrpSpPr>
          <p:grpSpPr>
            <a:xfrm>
              <a:off x="8995470" y="4791216"/>
              <a:ext cx="1875730" cy="1520690"/>
              <a:chOff x="8995470" y="4746760"/>
              <a:chExt cx="1804801" cy="1514518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B7D0788-257A-F944-A53B-18450C725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5470" y="4746760"/>
                <a:ext cx="1804801" cy="1514518"/>
              </a:xfrm>
              <a:prstGeom prst="rect">
                <a:avLst/>
              </a:prstGeom>
            </p:spPr>
          </p:pic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0C92645D-2F02-BC7C-F190-79B5CB013B9A}"/>
                  </a:ext>
                </a:extLst>
              </p:cNvPr>
              <p:cNvSpPr/>
              <p:nvPr/>
            </p:nvSpPr>
            <p:spPr>
              <a:xfrm flipH="1" flipV="1">
                <a:off x="9847292" y="4746760"/>
                <a:ext cx="276046" cy="240107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8468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6" grpId="0" animBg="1"/>
      <p:bldP spid="7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1222</Words>
  <Application>Microsoft Office PowerPoint</Application>
  <PresentationFormat>Widescreen</PresentationFormat>
  <Paragraphs>128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CS4225/CS5425 Big Data Systems for Data Science</vt:lpstr>
      <vt:lpstr>Question 1</vt:lpstr>
      <vt:lpstr>PowerPoint Presentation</vt:lpstr>
      <vt:lpstr>PowerPoint Presentation</vt:lpstr>
      <vt:lpstr>Question 2</vt:lpstr>
      <vt:lpstr>PowerPoint Presentation</vt:lpstr>
      <vt:lpstr>PowerPoint Presentation</vt:lpstr>
      <vt:lpstr>PowerPoint Presentation</vt:lpstr>
      <vt:lpstr>Question 3</vt:lpstr>
      <vt:lpstr>Answer 3</vt:lpstr>
      <vt:lpstr>Answer 3</vt:lpstr>
      <vt:lpstr>Question 4</vt:lpstr>
      <vt:lpstr>PowerPoint Presentation</vt:lpstr>
      <vt:lpstr>Question 5</vt:lpstr>
      <vt:lpstr>Answer 5</vt:lpstr>
      <vt:lpstr>Answer 5</vt:lpstr>
      <vt:lpstr>Question 6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Goh Teck Lun</dc:creator>
  <cp:lastModifiedBy>Lau Chee Loong, Desmond</cp:lastModifiedBy>
  <cp:revision>173</cp:revision>
  <dcterms:created xsi:type="dcterms:W3CDTF">2023-10-23T07:57:24Z</dcterms:created>
  <dcterms:modified xsi:type="dcterms:W3CDTF">2026-04-15T07:43:23Z</dcterms:modified>
</cp:coreProperties>
</file>