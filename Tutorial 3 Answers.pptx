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7" r:id="rId3"/>
    <p:sldId id="258" r:id="rId4"/>
    <p:sldId id="269" r:id="rId5"/>
    <p:sldId id="270" r:id="rId6"/>
    <p:sldId id="259" r:id="rId7"/>
    <p:sldId id="267" r:id="rId8"/>
    <p:sldId id="268" r:id="rId9"/>
    <p:sldId id="263" r:id="rId10"/>
    <p:sldId id="264" r:id="rId11"/>
    <p:sldId id="266" r:id="rId12"/>
    <p:sldId id="26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9" d="100"/>
          <a:sy n="89" d="100"/>
        </p:scale>
        <p:origin x="2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E7B63-6BBA-1A56-93F4-BCCAB132C5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22463B-C07F-1124-E70E-6FE957B39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7C72D-9257-2ED1-796D-D5F1F74D9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D8F1-B301-4E8A-A9BE-A068CA41F6FD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75DB9-8A97-8365-ADBF-B99ED2821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B06A3-781B-9231-4C65-F269BE2A3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42378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318EE-853A-DE95-6821-6143B655F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5B62E-4B75-5DBD-CE5F-5576F3A3F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681E5-AFF6-7419-9982-CB37E698E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D8F1-B301-4E8A-A9BE-A068CA41F6FD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95EFE-06B7-5311-C2A6-5FB197414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51A78-BCCC-EFC5-E251-A934043B6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92199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7609E-7FE0-FB4D-8FAD-2047058B1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542DA-8E68-1037-FA3F-49E5B3D80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EED7D-2D9B-3C10-D6D2-8E3BD07E7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D8F1-B301-4E8A-A9BE-A068CA41F6FD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09160-120A-5FB4-34A3-12CAE6ED7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0A247-E389-10E5-CD4A-9BC367983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25591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1F1DB-8228-884F-8C52-AF28C890A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C9820-6FCB-F109-6A29-4307F01507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61820A-CEE7-DE56-2D9A-CCF29B9FE3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77D2F4-0F7D-4DE2-7E36-FB06D1381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D8F1-B301-4E8A-A9BE-A068CA41F6FD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B6319-20C3-B6D9-C7F5-0F20B03EC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BC7E6-D38C-9CED-6DA1-C5CDEA02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06118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25C56-1D3D-F6F1-EC70-8AB4BE9B1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67E3A-6E1A-B261-8D3F-B19DB5B9D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DCC2B-48B6-08DD-151D-CFE7D5BD18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84AB13-8DFB-22FA-7E6D-9F0D56B708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7B835-8C78-A6F1-7A05-F3B63672EC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B66BDF-6032-88CE-977D-3F38E01B0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D8F1-B301-4E8A-A9BE-A068CA41F6FD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769E48-FD0B-08CC-D615-5E2FCD161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842CF2-8EDF-BB37-FE5C-1D1BBD787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22418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CB709-37DD-45BA-2216-06CC18042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AC0E8D-2688-FE0A-29FE-48FE987BB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D8F1-B301-4E8A-A9BE-A068CA41F6FD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A984BB-48B1-9D95-97E5-CA5271849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92895-63DA-A8C9-E835-4B9FF8912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2804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61EAB5-C106-D427-A177-08DC7A6D0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D8F1-B301-4E8A-A9BE-A068CA41F6FD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69BE0E-6376-8845-5964-9AF530C33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C34FBD-B38F-36E6-6630-4616785D3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30930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B1369-505E-E462-F4B4-4C5D759CE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1FB3D-698A-5ED2-4089-2234BEF26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4BB7B-B859-9E2A-4227-322B84D39C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242560-CE7E-4FC8-EDE7-0CA6C602D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D8F1-B301-4E8A-A9BE-A068CA41F6FD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3AA65-40FF-1FEE-9610-DEB0F2AD9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032E4-1BEF-C612-AF76-5E14EDC48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18024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822C1-8310-91E0-43F2-0F387A6D4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1B624E-A242-6E36-E164-654C0D0D7D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119C4-354B-B7C5-4ABF-34247C5330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338714-DB73-B668-C068-CB10A7844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D8F1-B301-4E8A-A9BE-A068CA41F6FD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E2AAB8-D67D-B6A6-E958-D47A1856D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0F53D-C2F8-10B0-856C-FE5FA960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58923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46FC1-5F95-95E9-C706-77D4DB958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8A5E87-964B-7CF4-2394-586B51651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7A4BC-FCB3-F133-7642-D9EBD73FA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D8F1-B301-4E8A-A9BE-A068CA41F6FD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10298-08AE-89AB-77A5-5EEE8B440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9B928-B37B-1A39-9F5B-2629D84A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92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BA3B7B-FDF2-6CB5-7330-E6727AC5DD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3AD996-8A5E-983D-221D-A58C6A14D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87C58-783D-B9A0-CAE2-1FAE3AFA1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D8F1-B301-4E8A-A9BE-A068CA41F6FD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F578F-AE6F-705D-61C9-9320421DC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94E2B-8C1C-3693-92EC-25CFE2DDE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40389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A76E71-A511-8EB6-0781-9D1B45F45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12F56-8664-55CC-5653-ED5FB66FC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47BFE-B0FB-FD54-5579-128EB312B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4D8F1-B301-4E8A-A9BE-A068CA41F6FD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93C74-90D2-96FC-40B1-3DF1912A6D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A3114-7A93-821E-25B5-C6B5B0C874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05168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6843E-D48D-4F5A-8859-B8EE2D2FBF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07256"/>
            <a:ext cx="9144000" cy="1851820"/>
          </a:xfrm>
        </p:spPr>
        <p:txBody>
          <a:bodyPr/>
          <a:lstStyle/>
          <a:p>
            <a:r>
              <a:rPr lang="en-SG" b="1" dirty="0"/>
              <a:t>CS4225/CS5425 Big Data Systems for Data Science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BD3E95-D5D2-A5BD-C3C7-11AAF11454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94807"/>
            <a:ext cx="9144000" cy="3055937"/>
          </a:xfrm>
        </p:spPr>
        <p:txBody>
          <a:bodyPr>
            <a:normAutofit fontScale="92500" lnSpcReduction="10000"/>
          </a:bodyPr>
          <a:lstStyle/>
          <a:p>
            <a:r>
              <a:rPr lang="en-SG" sz="3900"/>
              <a:t>Tutorial 3 </a:t>
            </a:r>
            <a:r>
              <a:rPr lang="en-SG" sz="3900" dirty="0"/>
              <a:t>Answers</a:t>
            </a:r>
          </a:p>
          <a:p>
            <a:endParaRPr lang="en-SG" sz="3200" dirty="0"/>
          </a:p>
          <a:p>
            <a:pPr algn="ctr" eaLnBrk="1" hangingPunct="1"/>
            <a:r>
              <a:rPr lang="en-US" sz="3000" dirty="0">
                <a:latin typeface="+mj-lt"/>
              </a:rPr>
              <a:t>Desmond Lau</a:t>
            </a:r>
          </a:p>
          <a:p>
            <a:pPr algn="ctr" eaLnBrk="1" hangingPunct="1"/>
            <a:r>
              <a:rPr lang="en-US" sz="3000" dirty="0">
                <a:latin typeface="+mj-lt"/>
              </a:rPr>
              <a:t>School of Computing</a:t>
            </a:r>
          </a:p>
          <a:p>
            <a:pPr algn="ctr" eaLnBrk="1" hangingPunct="1"/>
            <a:r>
              <a:rPr lang="en-US" sz="3000" dirty="0">
                <a:latin typeface="+mj-lt"/>
              </a:rPr>
              <a:t>National University of Singapore</a:t>
            </a:r>
          </a:p>
          <a:p>
            <a:pPr algn="ctr" eaLnBrk="1" hangingPunct="1"/>
            <a:r>
              <a:rPr lang="en-SG" sz="3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dlau@nus.edu.sg</a:t>
            </a:r>
            <a:endParaRPr lang="en-SG" sz="3000" dirty="0"/>
          </a:p>
        </p:txBody>
      </p:sp>
    </p:spTree>
    <p:extLst>
      <p:ext uri="{BB962C8B-B14F-4D97-AF65-F5344CB8AC3E}">
        <p14:creationId xmlns:p14="http://schemas.microsoft.com/office/powerpoint/2010/main" val="2153640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EB38C-47F3-1CD6-98E2-6D161ADB8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A0440-EC9F-6538-6F5C-CE048925E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Spark Structured Streaming, why do we need to specify a checkpoint location?</a:t>
            </a:r>
          </a:p>
          <a:p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To save the progress information of a stream query, i.e. what data has been successfully processed. Upon failure, this info is used to restart the failed query exactly where it left off.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36862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AD445BF-C6E5-AFA3-02B8-FE92DFF650D3}"/>
              </a:ext>
            </a:extLst>
          </p:cNvPr>
          <p:cNvGrpSpPr/>
          <p:nvPr/>
        </p:nvGrpSpPr>
        <p:grpSpPr>
          <a:xfrm>
            <a:off x="294655" y="706755"/>
            <a:ext cx="6951209" cy="5337248"/>
            <a:chOff x="294655" y="706755"/>
            <a:chExt cx="6951209" cy="533724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65ACF8E-302D-CDD9-E3F3-0A87CEC531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6632"/>
            <a:stretch/>
          </p:blipFill>
          <p:spPr>
            <a:xfrm>
              <a:off x="294655" y="706755"/>
              <a:ext cx="6951209" cy="498069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39E491E-EBF1-A91C-F891-4CDAC6C84193}"/>
                </a:ext>
              </a:extLst>
            </p:cNvPr>
            <p:cNvSpPr txBox="1"/>
            <p:nvPr/>
          </p:nvSpPr>
          <p:spPr>
            <a:xfrm>
              <a:off x="2804840" y="5674671"/>
              <a:ext cx="213360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Lecture 9: Slide 18</a:t>
              </a:r>
              <a:endParaRPr lang="en-SG" b="1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618F7DC-D52E-1907-5932-29328992EC08}"/>
              </a:ext>
            </a:extLst>
          </p:cNvPr>
          <p:cNvSpPr txBox="1"/>
          <p:nvPr/>
        </p:nvSpPr>
        <p:spPr>
          <a:xfrm>
            <a:off x="7245864" y="1415678"/>
            <a:ext cx="468555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MinionPro-Regular"/>
              </a:rPr>
              <a:t>Each micro-batch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inionPro-Regular"/>
              </a:rPr>
              <a:t>R</a:t>
            </a:r>
            <a:r>
              <a:rPr lang="en-US" b="0" i="0" u="none" strike="noStrike" baseline="0" dirty="0">
                <a:latin typeface="MinionPro-Regular"/>
              </a:rPr>
              <a:t>eads a new set of words</a:t>
            </a:r>
            <a:endParaRPr lang="en-US" dirty="0">
              <a:latin typeface="MinionPro-Regula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latin typeface="MinionPro-Regular"/>
              </a:rPr>
              <a:t>Shuffles them within the executors to group them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inionPro-Regular"/>
              </a:rPr>
              <a:t>C</a:t>
            </a:r>
            <a:r>
              <a:rPr lang="en-US" b="0" i="0" u="none" strike="noStrike" baseline="0" dirty="0">
                <a:latin typeface="MinionPro-Regular"/>
              </a:rPr>
              <a:t>omputes the counts within the micro-batch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inionPro-Regular"/>
              </a:rPr>
              <a:t>A</a:t>
            </a:r>
            <a:r>
              <a:rPr lang="en-US" b="0" i="0" u="none" strike="noStrike" baseline="0" dirty="0">
                <a:latin typeface="MinionPro-Regular"/>
              </a:rPr>
              <a:t>dds them to the running counts to produce the new counts, which are simultaneously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latin typeface="MinionPro-Regular"/>
              </a:rPr>
              <a:t>Output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latin typeface="MinionPro-Regular"/>
              </a:rPr>
              <a:t>State for the next micro-batch</a:t>
            </a:r>
            <a:endParaRPr lang="en-US" dirty="0">
              <a:latin typeface="MinionPro-Regular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latin typeface="MinionPro-Regular"/>
              </a:rPr>
              <a:t>Cached in the memory of </a:t>
            </a:r>
            <a:r>
              <a:rPr lang="en-SG" b="0" i="0" u="none" strike="noStrike" baseline="0" dirty="0">
                <a:latin typeface="MinionPro-Regular"/>
              </a:rPr>
              <a:t>the executors</a:t>
            </a:r>
            <a:endParaRPr lang="en-SG" dirty="0">
              <a:latin typeface="MinionPro-Regular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latin typeface="MinionPro-Regular"/>
              </a:rPr>
              <a:t>Synchronously saved in the checkpoint location provided by the user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84255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9190E-B762-6DEC-7C01-A973F3795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7AD46-A4C8-B30F-97F7-DC4527064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6B3D9-93B7-5B86-4514-704CB64F4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Flink’s event time processing is made possible by watermarks, which indicate the progress of event time in the stream. True or False?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True. Watermarks in Flink are special records that indicate the progress of event time. They help the system understand when it can trigger event time-based operations, such as window functions, etc.</a:t>
            </a:r>
            <a:endParaRPr lang="en-SG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987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16204C52-C0CF-A9C1-842E-87233FAED8D3}"/>
              </a:ext>
            </a:extLst>
          </p:cNvPr>
          <p:cNvGrpSpPr/>
          <p:nvPr/>
        </p:nvGrpSpPr>
        <p:grpSpPr>
          <a:xfrm>
            <a:off x="1794945" y="392961"/>
            <a:ext cx="8602109" cy="6072077"/>
            <a:chOff x="1794945" y="170830"/>
            <a:chExt cx="8602109" cy="607207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CB3C043-7D4F-2698-E6B9-2E392C3E3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0168" b="-10168"/>
            <a:stretch/>
          </p:blipFill>
          <p:spPr>
            <a:xfrm>
              <a:off x="1794945" y="170830"/>
              <a:ext cx="8602109" cy="6072077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38BDBDD-FDB5-C6D4-1217-E9C5FF99DAFF}"/>
                </a:ext>
              </a:extLst>
            </p:cNvPr>
            <p:cNvSpPr txBox="1"/>
            <p:nvPr/>
          </p:nvSpPr>
          <p:spPr>
            <a:xfrm>
              <a:off x="5029198" y="5788085"/>
              <a:ext cx="213360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/>
                <a:t>Lecture 9: Slide 39</a:t>
              </a:r>
              <a:endParaRPr lang="en-SG" b="1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A7EBAF4-25AF-49EB-8BC7-E1F32672E83A}"/>
              </a:ext>
            </a:extLst>
          </p:cNvPr>
          <p:cNvGrpSpPr/>
          <p:nvPr/>
        </p:nvGrpSpPr>
        <p:grpSpPr>
          <a:xfrm>
            <a:off x="2817627" y="3530009"/>
            <a:ext cx="6992680" cy="315433"/>
            <a:chOff x="2817627" y="3530009"/>
            <a:chExt cx="6992680" cy="315433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387567B-EB0A-AC8B-6023-19724E74E637}"/>
                </a:ext>
              </a:extLst>
            </p:cNvPr>
            <p:cNvCxnSpPr>
              <a:cxnSpLocks/>
            </p:cNvCxnSpPr>
            <p:nvPr/>
          </p:nvCxnSpPr>
          <p:spPr>
            <a:xfrm>
              <a:off x="5677786" y="3530009"/>
              <a:ext cx="4132521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B5FE675-081C-41B8-2FA1-B141C47ECEA6}"/>
                </a:ext>
              </a:extLst>
            </p:cNvPr>
            <p:cNvCxnSpPr>
              <a:cxnSpLocks/>
            </p:cNvCxnSpPr>
            <p:nvPr/>
          </p:nvCxnSpPr>
          <p:spPr>
            <a:xfrm>
              <a:off x="2817627" y="3845442"/>
              <a:ext cx="3795824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98113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0AB05-5001-83D8-D8E1-9A231D965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E07E40-CBA7-9DBF-0F06-AF8AFA359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30" y="3824552"/>
            <a:ext cx="5106113" cy="21243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B9513E-98FD-381B-E0DB-032D2DFD9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757" y="3728253"/>
            <a:ext cx="4267796" cy="2591162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A9B2B2F-FAB6-794A-6E18-0A3AA5FAE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028" y="1519869"/>
            <a:ext cx="10515600" cy="903955"/>
          </a:xfrm>
        </p:spPr>
        <p:txBody>
          <a:bodyPr/>
          <a:lstStyle/>
          <a:p>
            <a:r>
              <a:rPr lang="en-US" dirty="0"/>
              <a:t>In Spark Structured Streaming, we are using the code below to collect the streaming data from sensor readings. </a:t>
            </a:r>
            <a:endParaRPr lang="en-SG" dirty="0"/>
          </a:p>
        </p:txBody>
      </p:sp>
      <p:pic>
        <p:nvPicPr>
          <p:cNvPr id="15" name="Picture 14" descr="Text&#10;&#10;Description automatically generated with medium confidence">
            <a:extLst>
              <a:ext uri="{FF2B5EF4-FFF2-40B4-BE49-F238E27FC236}">
                <a16:creationId xmlns:a16="http://schemas.microsoft.com/office/drawing/2014/main" id="{E7D63DA0-3EA7-3439-2C46-C1A500442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0696" y="2525931"/>
            <a:ext cx="7050608" cy="105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717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553ED-8E0E-45CD-1444-406FC7824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C69FD-3DB3-24D9-9CAB-011864CBB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FC536-FEF4-1F4D-F291-80EA1B6E0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028" y="1519869"/>
            <a:ext cx="10515600" cy="903955"/>
          </a:xfrm>
        </p:spPr>
        <p:txBody>
          <a:bodyPr/>
          <a:lstStyle/>
          <a:p>
            <a:r>
              <a:rPr lang="en-US" dirty="0"/>
              <a:t>In Spark Structured Streaming, we are using the code below to collect the streaming data from sensor readings. </a:t>
            </a:r>
            <a:endParaRPr lang="en-SG" dirty="0"/>
          </a:p>
        </p:txBody>
      </p:sp>
      <p:pic>
        <p:nvPicPr>
          <p:cNvPr id="4" name="Picture 3" descr="Text&#10;&#10;Description automatically generated with medium confidence">
            <a:extLst>
              <a:ext uri="{FF2B5EF4-FFF2-40B4-BE49-F238E27FC236}">
                <a16:creationId xmlns:a16="http://schemas.microsoft.com/office/drawing/2014/main" id="{98386D1D-1F46-9588-E205-B2BEC101D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696" y="2525931"/>
            <a:ext cx="7050608" cy="10536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CEE6564-214B-264B-4A9D-296DE6029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7757" y="3802180"/>
            <a:ext cx="5688141" cy="204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1444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98A86-58FB-D89C-22DD-C49453EFA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37979-299F-032A-0CB8-32E3A7E14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25983-D518-FC39-ECDD-BBED00E66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028" y="1519869"/>
            <a:ext cx="10515600" cy="903955"/>
          </a:xfrm>
        </p:spPr>
        <p:txBody>
          <a:bodyPr/>
          <a:lstStyle/>
          <a:p>
            <a:r>
              <a:rPr lang="en-US" dirty="0"/>
              <a:t>In Spark Structured Streaming, we are using the code below to collect the streaming data from sensor readings. </a:t>
            </a:r>
            <a:endParaRPr lang="en-SG" dirty="0"/>
          </a:p>
        </p:txBody>
      </p:sp>
      <p:pic>
        <p:nvPicPr>
          <p:cNvPr id="4" name="Picture 3" descr="Text&#10;&#10;Description automatically generated with medium confidence">
            <a:extLst>
              <a:ext uri="{FF2B5EF4-FFF2-40B4-BE49-F238E27FC236}">
                <a16:creationId xmlns:a16="http://schemas.microsoft.com/office/drawing/2014/main" id="{0DE37D07-75B8-ECA9-9263-D2CE47763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696" y="2525931"/>
            <a:ext cx="7050608" cy="10536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CDF48D-615C-1F7C-6E86-FE3AD2985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6283" y="4214024"/>
            <a:ext cx="8659433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292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A40266A-3559-EE4A-331A-5AD78694BDF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83715" y="3279775"/>
          <a:ext cx="10884930" cy="28516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14155">
                  <a:extLst>
                    <a:ext uri="{9D8B030D-6E8A-4147-A177-3AD203B41FA5}">
                      <a16:colId xmlns:a16="http://schemas.microsoft.com/office/drawing/2014/main" val="3296964699"/>
                    </a:ext>
                  </a:extLst>
                </a:gridCol>
                <a:gridCol w="1814155">
                  <a:extLst>
                    <a:ext uri="{9D8B030D-6E8A-4147-A177-3AD203B41FA5}">
                      <a16:colId xmlns:a16="http://schemas.microsoft.com/office/drawing/2014/main" val="399520736"/>
                    </a:ext>
                  </a:extLst>
                </a:gridCol>
                <a:gridCol w="1814155">
                  <a:extLst>
                    <a:ext uri="{9D8B030D-6E8A-4147-A177-3AD203B41FA5}">
                      <a16:colId xmlns:a16="http://schemas.microsoft.com/office/drawing/2014/main" val="862385203"/>
                    </a:ext>
                  </a:extLst>
                </a:gridCol>
                <a:gridCol w="1814155">
                  <a:extLst>
                    <a:ext uri="{9D8B030D-6E8A-4147-A177-3AD203B41FA5}">
                      <a16:colId xmlns:a16="http://schemas.microsoft.com/office/drawing/2014/main" val="3170927636"/>
                    </a:ext>
                  </a:extLst>
                </a:gridCol>
                <a:gridCol w="1814155">
                  <a:extLst>
                    <a:ext uri="{9D8B030D-6E8A-4147-A177-3AD203B41FA5}">
                      <a16:colId xmlns:a16="http://schemas.microsoft.com/office/drawing/2014/main" val="3795181314"/>
                    </a:ext>
                  </a:extLst>
                </a:gridCol>
                <a:gridCol w="1814155">
                  <a:extLst>
                    <a:ext uri="{9D8B030D-6E8A-4147-A177-3AD203B41FA5}">
                      <a16:colId xmlns:a16="http://schemas.microsoft.com/office/drawing/2014/main" val="2695213929"/>
                    </a:ext>
                  </a:extLst>
                </a:gridCol>
              </a:tblGrid>
              <a:tr h="475272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5832225"/>
                  </a:ext>
                </a:extLst>
              </a:tr>
              <a:tr h="475272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1128511"/>
                  </a:ext>
                </a:extLst>
              </a:tr>
              <a:tr h="475272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2536954"/>
                  </a:ext>
                </a:extLst>
              </a:tr>
              <a:tr h="475272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4367798"/>
                  </a:ext>
                </a:extLst>
              </a:tr>
              <a:tr h="475272"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3304032"/>
                  </a:ext>
                </a:extLst>
              </a:tr>
              <a:tr h="475272"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08371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7CB8309-5FCF-C39B-D001-1ACBDC0F89A0}"/>
              </a:ext>
            </a:extLst>
          </p:cNvPr>
          <p:cNvSpPr txBox="1"/>
          <p:nvPr/>
        </p:nvSpPr>
        <p:spPr>
          <a:xfrm rot="16200000">
            <a:off x="-558195" y="3501950"/>
            <a:ext cx="1435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Event Time</a:t>
            </a:r>
            <a:endParaRPr lang="en-S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74EE38-7429-465D-B6B1-1337BB6BFC43}"/>
              </a:ext>
            </a:extLst>
          </p:cNvPr>
          <p:cNvSpPr txBox="1"/>
          <p:nvPr/>
        </p:nvSpPr>
        <p:spPr>
          <a:xfrm>
            <a:off x="8650558" y="6358493"/>
            <a:ext cx="3627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Processing Time with 5 min trigger</a:t>
            </a:r>
            <a:endParaRPr lang="en-S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F974C7-F835-0AA3-E3FC-61DCC8F5940D}"/>
              </a:ext>
            </a:extLst>
          </p:cNvPr>
          <p:cNvSpPr txBox="1"/>
          <p:nvPr/>
        </p:nvSpPr>
        <p:spPr>
          <a:xfrm>
            <a:off x="344339" y="2972951"/>
            <a:ext cx="984766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12:20</a:t>
            </a:r>
          </a:p>
          <a:p>
            <a:endParaRPr lang="en-US" sz="1600" dirty="0"/>
          </a:p>
          <a:p>
            <a:r>
              <a:rPr lang="en-US" sz="1600" dirty="0"/>
              <a:t>12:15</a:t>
            </a:r>
          </a:p>
          <a:p>
            <a:endParaRPr lang="en-US" sz="1600" dirty="0"/>
          </a:p>
          <a:p>
            <a:r>
              <a:rPr lang="en-US" sz="1600" dirty="0"/>
              <a:t>12:10</a:t>
            </a:r>
          </a:p>
          <a:p>
            <a:endParaRPr lang="en-US" sz="1600" dirty="0"/>
          </a:p>
          <a:p>
            <a:r>
              <a:rPr lang="en-US" sz="1600" dirty="0"/>
              <a:t>12:05</a:t>
            </a:r>
          </a:p>
          <a:p>
            <a:endParaRPr lang="en-US" sz="1600" dirty="0"/>
          </a:p>
          <a:p>
            <a:r>
              <a:rPr lang="en-US" sz="1600" dirty="0"/>
              <a:t>12:00</a:t>
            </a:r>
          </a:p>
          <a:p>
            <a:endParaRPr lang="en-US" sz="1600" dirty="0"/>
          </a:p>
          <a:p>
            <a:r>
              <a:rPr lang="en-US" sz="1600" dirty="0"/>
              <a:t>11:55</a:t>
            </a:r>
          </a:p>
          <a:p>
            <a:endParaRPr lang="en-US" sz="1600" dirty="0"/>
          </a:p>
          <a:p>
            <a:r>
              <a:rPr lang="en-US" sz="1600" dirty="0"/>
              <a:t>11:50</a:t>
            </a:r>
            <a:endParaRPr lang="en-SG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0224FC-9685-50BD-87AB-09175332C699}"/>
              </a:ext>
            </a:extLst>
          </p:cNvPr>
          <p:cNvSpPr txBox="1"/>
          <p:nvPr/>
        </p:nvSpPr>
        <p:spPr>
          <a:xfrm>
            <a:off x="571158" y="6113743"/>
            <a:ext cx="1197054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11:50		11:55		12:00		12:05		12:10		12:15		12:20</a:t>
            </a:r>
            <a:r>
              <a:rPr lang="en-US" sz="1800" dirty="0"/>
              <a:t>	</a:t>
            </a:r>
            <a:endParaRPr lang="en-SG" sz="1800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7CDA413-3DF2-114D-EBB9-0EFAA9E1AF67}"/>
              </a:ext>
            </a:extLst>
          </p:cNvPr>
          <p:cNvGraphicFramePr>
            <a:graphicFrameLocks noGrp="1"/>
          </p:cNvGraphicFramePr>
          <p:nvPr/>
        </p:nvGraphicFramePr>
        <p:xfrm>
          <a:off x="641349" y="545047"/>
          <a:ext cx="2473326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6663">
                  <a:extLst>
                    <a:ext uri="{9D8B030D-6E8A-4147-A177-3AD203B41FA5}">
                      <a16:colId xmlns:a16="http://schemas.microsoft.com/office/drawing/2014/main" val="2932132155"/>
                    </a:ext>
                  </a:extLst>
                </a:gridCol>
                <a:gridCol w="1236663">
                  <a:extLst>
                    <a:ext uri="{9D8B030D-6E8A-4147-A177-3AD203B41FA5}">
                      <a16:colId xmlns:a16="http://schemas.microsoft.com/office/drawing/2014/main" val="36646229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dirty="0" err="1"/>
                        <a:t>SensorID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Event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689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C00000"/>
                          </a:solidFill>
                        </a:rPr>
                        <a:t>Id1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C00000"/>
                          </a:solidFill>
                        </a:rPr>
                        <a:t>12:06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095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C000"/>
                          </a:solidFill>
                        </a:rPr>
                        <a:t>Id1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C000"/>
                          </a:solidFill>
                        </a:rPr>
                        <a:t>12:08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238662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5588273-8B56-06C3-5BDA-289E44FD9BFB}"/>
              </a:ext>
            </a:extLst>
          </p:cNvPr>
          <p:cNvSpPr txBox="1"/>
          <p:nvPr/>
        </p:nvSpPr>
        <p:spPr>
          <a:xfrm>
            <a:off x="836722" y="213241"/>
            <a:ext cx="2062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From 12:05 – 12:10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7214DD7-2EB0-FEDB-4478-06C4C57D6A76}"/>
              </a:ext>
            </a:extLst>
          </p:cNvPr>
          <p:cNvSpPr/>
          <p:nvPr/>
        </p:nvSpPr>
        <p:spPr>
          <a:xfrm>
            <a:off x="6719054" y="4458468"/>
            <a:ext cx="216349" cy="20725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CE3397A-A429-A69C-29DA-D0DBA93B6725}"/>
              </a:ext>
            </a:extLst>
          </p:cNvPr>
          <p:cNvSpPr/>
          <p:nvPr/>
        </p:nvSpPr>
        <p:spPr>
          <a:xfrm>
            <a:off x="7466604" y="4300857"/>
            <a:ext cx="216349" cy="20725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2F2E4387-F2A6-73D5-824B-D9C22E21EC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445948"/>
              </p:ext>
            </p:extLst>
          </p:nvPr>
        </p:nvGraphicFramePr>
        <p:xfrm>
          <a:off x="7798933" y="628031"/>
          <a:ext cx="280060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7775">
                  <a:extLst>
                    <a:ext uri="{9D8B030D-6E8A-4147-A177-3AD203B41FA5}">
                      <a16:colId xmlns:a16="http://schemas.microsoft.com/office/drawing/2014/main" val="2932132155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3664622994"/>
                    </a:ext>
                  </a:extLst>
                </a:gridCol>
                <a:gridCol w="657479">
                  <a:extLst>
                    <a:ext uri="{9D8B030D-6E8A-4147-A177-3AD203B41FA5}">
                      <a16:colId xmlns:a16="http://schemas.microsoft.com/office/drawing/2014/main" val="9984193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sz="1400" dirty="0"/>
                        <a:t>Event 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 err="1"/>
                        <a:t>SensorID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/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689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11:50-12:00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id1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095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11:55-12:05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id1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238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12:00-12:10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Id1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955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12:05-12:15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id1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586030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236BB6D9-C4D2-EA23-6C50-BB4A14C90051}"/>
              </a:ext>
            </a:extLst>
          </p:cNvPr>
          <p:cNvSpPr txBox="1"/>
          <p:nvPr/>
        </p:nvSpPr>
        <p:spPr>
          <a:xfrm>
            <a:off x="8168154" y="306664"/>
            <a:ext cx="2062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dirty="0"/>
              <a:t>Result Table (12:10)</a:t>
            </a:r>
          </a:p>
        </p:txBody>
      </p:sp>
      <p:pic>
        <p:nvPicPr>
          <p:cNvPr id="26" name="Picture 3" descr="Text&#10;&#10;Description automatically generated with medium confidence">
            <a:extLst>
              <a:ext uri="{FF2B5EF4-FFF2-40B4-BE49-F238E27FC236}">
                <a16:creationId xmlns:a16="http://schemas.microsoft.com/office/drawing/2014/main" id="{6AC15688-1176-39D3-EA8E-AA20775E0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45" y="1869856"/>
            <a:ext cx="7175588" cy="1072317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C32AEC4-A343-B1C5-71C4-CD006D5C6799}"/>
              </a:ext>
            </a:extLst>
          </p:cNvPr>
          <p:cNvCxnSpPr/>
          <p:nvPr/>
        </p:nvCxnSpPr>
        <p:spPr>
          <a:xfrm>
            <a:off x="8254980" y="4937125"/>
            <a:ext cx="1774845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D6639E6-96EC-D1C0-F8B3-6FC33533A8EB}"/>
              </a:ext>
            </a:extLst>
          </p:cNvPr>
          <p:cNvSpPr txBox="1"/>
          <p:nvPr/>
        </p:nvSpPr>
        <p:spPr>
          <a:xfrm>
            <a:off x="8254980" y="4665722"/>
            <a:ext cx="12876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600" dirty="0">
                <a:solidFill>
                  <a:schemeClr val="bg1">
                    <a:lumMod val="65000"/>
                  </a:schemeClr>
                </a:solidFill>
              </a:rPr>
              <a:t>WM: 12:03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B7E9D27-E98A-6AAE-550B-7AEC6C140EE9}"/>
              </a:ext>
            </a:extLst>
          </p:cNvPr>
          <p:cNvCxnSpPr/>
          <p:nvPr/>
        </p:nvCxnSpPr>
        <p:spPr>
          <a:xfrm>
            <a:off x="8205333" y="4404484"/>
            <a:ext cx="0" cy="532641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F31BD2B-D863-5367-F8F2-445E2B5B91FE}"/>
              </a:ext>
            </a:extLst>
          </p:cNvPr>
          <p:cNvSpPr txBox="1"/>
          <p:nvPr/>
        </p:nvSpPr>
        <p:spPr>
          <a:xfrm>
            <a:off x="8143829" y="4438568"/>
            <a:ext cx="12876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600" dirty="0">
                <a:solidFill>
                  <a:schemeClr val="bg1">
                    <a:lumMod val="65000"/>
                  </a:schemeClr>
                </a:solidFill>
              </a:rPr>
              <a:t>12:08 – 5min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AE21950-F50D-2980-8101-8EDEBD301370}"/>
              </a:ext>
            </a:extLst>
          </p:cNvPr>
          <p:cNvCxnSpPr>
            <a:cxnSpLocks/>
          </p:cNvCxnSpPr>
          <p:nvPr/>
        </p:nvCxnSpPr>
        <p:spPr>
          <a:xfrm>
            <a:off x="7682953" y="4404484"/>
            <a:ext cx="522380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4A8EED2-67C2-FF6C-D65C-7BA456A05E97}"/>
              </a:ext>
            </a:extLst>
          </p:cNvPr>
          <p:cNvSpPr txBox="1"/>
          <p:nvPr/>
        </p:nvSpPr>
        <p:spPr>
          <a:xfrm>
            <a:off x="7261898" y="4418836"/>
            <a:ext cx="7448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600" dirty="0">
                <a:solidFill>
                  <a:srgbClr val="FFC000"/>
                </a:solidFill>
              </a:rPr>
              <a:t>12:08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A42C993-3FE3-28E1-2F3B-9372FE774747}"/>
              </a:ext>
            </a:extLst>
          </p:cNvPr>
          <p:cNvSpPr txBox="1"/>
          <p:nvPr/>
        </p:nvSpPr>
        <p:spPr>
          <a:xfrm>
            <a:off x="6484061" y="4626112"/>
            <a:ext cx="12876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600" dirty="0">
                <a:solidFill>
                  <a:srgbClr val="FF0000"/>
                </a:solidFill>
              </a:rPr>
              <a:t>12:06</a:t>
            </a:r>
          </a:p>
        </p:txBody>
      </p:sp>
      <p:sp>
        <p:nvSpPr>
          <p:cNvPr id="49" name="Arrow: Left-Right 48">
            <a:extLst>
              <a:ext uri="{FF2B5EF4-FFF2-40B4-BE49-F238E27FC236}">
                <a16:creationId xmlns:a16="http://schemas.microsoft.com/office/drawing/2014/main" id="{5CD72853-3E10-CB5E-2903-CF1D8C6A1D6F}"/>
              </a:ext>
            </a:extLst>
          </p:cNvPr>
          <p:cNvSpPr/>
          <p:nvPr/>
        </p:nvSpPr>
        <p:spPr>
          <a:xfrm rot="16200000">
            <a:off x="763556" y="5512130"/>
            <a:ext cx="917085" cy="306824"/>
          </a:xfrm>
          <a:prstGeom prst="leftRightArrow">
            <a:avLst/>
          </a:prstGeom>
          <a:solidFill>
            <a:srgbClr val="00B0F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E39F4C7-AD44-ACEE-0A4A-0F82200EEB2B}"/>
              </a:ext>
            </a:extLst>
          </p:cNvPr>
          <p:cNvSpPr txBox="1"/>
          <p:nvPr/>
        </p:nvSpPr>
        <p:spPr>
          <a:xfrm>
            <a:off x="10599537" y="971702"/>
            <a:ext cx="20621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From earlier processing time</a:t>
            </a:r>
          </a:p>
        </p:txBody>
      </p:sp>
      <p:sp>
        <p:nvSpPr>
          <p:cNvPr id="19" name="Oval 21">
            <a:extLst>
              <a:ext uri="{FF2B5EF4-FFF2-40B4-BE49-F238E27FC236}">
                <a16:creationId xmlns:a16="http://schemas.microsoft.com/office/drawing/2014/main" id="{6C1300F9-A1BD-4BB7-03B0-36E92E67F8C8}"/>
              </a:ext>
            </a:extLst>
          </p:cNvPr>
          <p:cNvSpPr/>
          <p:nvPr/>
        </p:nvSpPr>
        <p:spPr>
          <a:xfrm>
            <a:off x="3936744" y="5336619"/>
            <a:ext cx="216349" cy="207254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4" name="Arrow: Left-Right 53">
            <a:extLst>
              <a:ext uri="{FF2B5EF4-FFF2-40B4-BE49-F238E27FC236}">
                <a16:creationId xmlns:a16="http://schemas.microsoft.com/office/drawing/2014/main" id="{F03F87AA-E954-9EB3-4F45-B81DCEDD8E14}"/>
              </a:ext>
            </a:extLst>
          </p:cNvPr>
          <p:cNvSpPr/>
          <p:nvPr/>
        </p:nvSpPr>
        <p:spPr>
          <a:xfrm rot="16200000">
            <a:off x="1108481" y="5010721"/>
            <a:ext cx="917085" cy="306824"/>
          </a:xfrm>
          <a:prstGeom prst="leftRightArrow">
            <a:avLst/>
          </a:prstGeom>
          <a:solidFill>
            <a:srgbClr val="00B0F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5" name="Arrow: Left-Right 54">
            <a:extLst>
              <a:ext uri="{FF2B5EF4-FFF2-40B4-BE49-F238E27FC236}">
                <a16:creationId xmlns:a16="http://schemas.microsoft.com/office/drawing/2014/main" id="{7FF9E110-79D2-9695-179C-9B544F4EF798}"/>
              </a:ext>
            </a:extLst>
          </p:cNvPr>
          <p:cNvSpPr/>
          <p:nvPr/>
        </p:nvSpPr>
        <p:spPr>
          <a:xfrm rot="16200000">
            <a:off x="778655" y="4564120"/>
            <a:ext cx="917085" cy="306824"/>
          </a:xfrm>
          <a:prstGeom prst="leftRightArrow">
            <a:avLst/>
          </a:prstGeom>
          <a:solidFill>
            <a:srgbClr val="00B0F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6" name="Arrow: Left-Right 55">
            <a:extLst>
              <a:ext uri="{FF2B5EF4-FFF2-40B4-BE49-F238E27FC236}">
                <a16:creationId xmlns:a16="http://schemas.microsoft.com/office/drawing/2014/main" id="{CDB1E7E6-2FD0-E6BF-B105-C45EA5C61959}"/>
              </a:ext>
            </a:extLst>
          </p:cNvPr>
          <p:cNvSpPr/>
          <p:nvPr/>
        </p:nvSpPr>
        <p:spPr>
          <a:xfrm rot="16200000">
            <a:off x="1096905" y="4105577"/>
            <a:ext cx="917085" cy="306824"/>
          </a:xfrm>
          <a:prstGeom prst="leftRightArrow">
            <a:avLst/>
          </a:prstGeom>
          <a:solidFill>
            <a:srgbClr val="00B0F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7" name="Arrow: Left-Right 56">
            <a:extLst>
              <a:ext uri="{FF2B5EF4-FFF2-40B4-BE49-F238E27FC236}">
                <a16:creationId xmlns:a16="http://schemas.microsoft.com/office/drawing/2014/main" id="{36496BDF-D1DF-6110-5B5B-63669F005427}"/>
              </a:ext>
            </a:extLst>
          </p:cNvPr>
          <p:cNvSpPr/>
          <p:nvPr/>
        </p:nvSpPr>
        <p:spPr>
          <a:xfrm rot="16200000">
            <a:off x="791814" y="3621711"/>
            <a:ext cx="917085" cy="306824"/>
          </a:xfrm>
          <a:prstGeom prst="leftRightArrow">
            <a:avLst/>
          </a:prstGeom>
          <a:solidFill>
            <a:srgbClr val="00B0F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1C95677-49B1-E10E-F35F-D7A7D9BA73E2}"/>
              </a:ext>
            </a:extLst>
          </p:cNvPr>
          <p:cNvCxnSpPr/>
          <p:nvPr/>
        </p:nvCxnSpPr>
        <p:spPr>
          <a:xfrm flipH="1">
            <a:off x="1237197" y="4626112"/>
            <a:ext cx="548185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9773FEF-4060-BF88-0B6C-915D2E714D1C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1555447" y="4488820"/>
            <a:ext cx="5195291" cy="56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7206C98-0A16-958D-962E-101DD1C3AA07}"/>
              </a:ext>
            </a:extLst>
          </p:cNvPr>
          <p:cNvCxnSpPr>
            <a:cxnSpLocks/>
          </p:cNvCxnSpPr>
          <p:nvPr/>
        </p:nvCxnSpPr>
        <p:spPr>
          <a:xfrm flipH="1">
            <a:off x="1237197" y="4453092"/>
            <a:ext cx="6197723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A162383-D1CA-14AC-7EFA-82F3AB18F1CA}"/>
              </a:ext>
            </a:extLst>
          </p:cNvPr>
          <p:cNvCxnSpPr>
            <a:cxnSpLocks/>
          </p:cNvCxnSpPr>
          <p:nvPr/>
        </p:nvCxnSpPr>
        <p:spPr>
          <a:xfrm flipH="1">
            <a:off x="1598256" y="4315800"/>
            <a:ext cx="5868348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3E6C5AD-7120-8818-0A72-6F0C0ADFB757}"/>
              </a:ext>
            </a:extLst>
          </p:cNvPr>
          <p:cNvCxnSpPr>
            <a:cxnSpLocks/>
          </p:cNvCxnSpPr>
          <p:nvPr/>
        </p:nvCxnSpPr>
        <p:spPr>
          <a:xfrm flipH="1">
            <a:off x="1218918" y="5539650"/>
            <a:ext cx="2826000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F577489-9C64-0697-6B50-770269E2548A}"/>
              </a:ext>
            </a:extLst>
          </p:cNvPr>
          <p:cNvCxnSpPr>
            <a:cxnSpLocks/>
            <a:stCxn id="19" idx="0"/>
          </p:cNvCxnSpPr>
          <p:nvPr/>
        </p:nvCxnSpPr>
        <p:spPr>
          <a:xfrm flipH="1">
            <a:off x="1567023" y="5336619"/>
            <a:ext cx="247789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EB7A6CB5-FC77-636D-FA0C-EAD6D36E7E67}"/>
              </a:ext>
            </a:extLst>
          </p:cNvPr>
          <p:cNvSpPr/>
          <p:nvPr/>
        </p:nvSpPr>
        <p:spPr>
          <a:xfrm>
            <a:off x="10300377" y="1944457"/>
            <a:ext cx="138269" cy="13245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F5642A5-6818-3656-3B77-021D90DE37A6}"/>
              </a:ext>
            </a:extLst>
          </p:cNvPr>
          <p:cNvSpPr/>
          <p:nvPr/>
        </p:nvSpPr>
        <p:spPr>
          <a:xfrm>
            <a:off x="10449957" y="1944457"/>
            <a:ext cx="138269" cy="13245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2" name="Oval 21">
            <a:extLst>
              <a:ext uri="{FF2B5EF4-FFF2-40B4-BE49-F238E27FC236}">
                <a16:creationId xmlns:a16="http://schemas.microsoft.com/office/drawing/2014/main" id="{874B1151-73EC-C73C-E003-7057B329BE10}"/>
              </a:ext>
            </a:extLst>
          </p:cNvPr>
          <p:cNvSpPr/>
          <p:nvPr/>
        </p:nvSpPr>
        <p:spPr>
          <a:xfrm>
            <a:off x="10407851" y="1584915"/>
            <a:ext cx="138269" cy="132456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3" name="Oval 21">
            <a:extLst>
              <a:ext uri="{FF2B5EF4-FFF2-40B4-BE49-F238E27FC236}">
                <a16:creationId xmlns:a16="http://schemas.microsoft.com/office/drawing/2014/main" id="{C4B8150F-028C-C064-CEC8-1E426AD84C7B}"/>
              </a:ext>
            </a:extLst>
          </p:cNvPr>
          <p:cNvSpPr/>
          <p:nvPr/>
        </p:nvSpPr>
        <p:spPr>
          <a:xfrm>
            <a:off x="10411342" y="1223692"/>
            <a:ext cx="138269" cy="132456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8A0DD567-B690-4CD1-1713-3BE318FBB81B}"/>
              </a:ext>
            </a:extLst>
          </p:cNvPr>
          <p:cNvSpPr/>
          <p:nvPr/>
        </p:nvSpPr>
        <p:spPr>
          <a:xfrm>
            <a:off x="10303711" y="2313032"/>
            <a:ext cx="138269" cy="13245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3B23D682-F336-C058-9BA2-BA8C9BC41A2E}"/>
              </a:ext>
            </a:extLst>
          </p:cNvPr>
          <p:cNvSpPr/>
          <p:nvPr/>
        </p:nvSpPr>
        <p:spPr>
          <a:xfrm>
            <a:off x="10453291" y="2313032"/>
            <a:ext cx="138269" cy="13245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8593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9" grpId="0"/>
      <p:bldP spid="32" grpId="0"/>
      <p:bldP spid="35" grpId="0"/>
      <p:bldP spid="36" grpId="0"/>
      <p:bldP spid="49" grpId="0" animBg="1"/>
      <p:bldP spid="53" grpId="0"/>
      <p:bldP spid="19" grpId="0" animBg="1"/>
      <p:bldP spid="54" grpId="0" animBg="1"/>
      <p:bldP spid="55" grpId="0" animBg="1"/>
      <p:bldP spid="56" grpId="0" animBg="1"/>
      <p:bldP spid="57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A40266A-3559-EE4A-331A-5AD78694BDF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83715" y="3279775"/>
          <a:ext cx="10884930" cy="28516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14155">
                  <a:extLst>
                    <a:ext uri="{9D8B030D-6E8A-4147-A177-3AD203B41FA5}">
                      <a16:colId xmlns:a16="http://schemas.microsoft.com/office/drawing/2014/main" val="3296964699"/>
                    </a:ext>
                  </a:extLst>
                </a:gridCol>
                <a:gridCol w="1814155">
                  <a:extLst>
                    <a:ext uri="{9D8B030D-6E8A-4147-A177-3AD203B41FA5}">
                      <a16:colId xmlns:a16="http://schemas.microsoft.com/office/drawing/2014/main" val="399520736"/>
                    </a:ext>
                  </a:extLst>
                </a:gridCol>
                <a:gridCol w="1814155">
                  <a:extLst>
                    <a:ext uri="{9D8B030D-6E8A-4147-A177-3AD203B41FA5}">
                      <a16:colId xmlns:a16="http://schemas.microsoft.com/office/drawing/2014/main" val="862385203"/>
                    </a:ext>
                  </a:extLst>
                </a:gridCol>
                <a:gridCol w="1814155">
                  <a:extLst>
                    <a:ext uri="{9D8B030D-6E8A-4147-A177-3AD203B41FA5}">
                      <a16:colId xmlns:a16="http://schemas.microsoft.com/office/drawing/2014/main" val="3170927636"/>
                    </a:ext>
                  </a:extLst>
                </a:gridCol>
                <a:gridCol w="1814155">
                  <a:extLst>
                    <a:ext uri="{9D8B030D-6E8A-4147-A177-3AD203B41FA5}">
                      <a16:colId xmlns:a16="http://schemas.microsoft.com/office/drawing/2014/main" val="3795181314"/>
                    </a:ext>
                  </a:extLst>
                </a:gridCol>
                <a:gridCol w="1814155">
                  <a:extLst>
                    <a:ext uri="{9D8B030D-6E8A-4147-A177-3AD203B41FA5}">
                      <a16:colId xmlns:a16="http://schemas.microsoft.com/office/drawing/2014/main" val="2695213929"/>
                    </a:ext>
                  </a:extLst>
                </a:gridCol>
              </a:tblGrid>
              <a:tr h="475272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5832225"/>
                  </a:ext>
                </a:extLst>
              </a:tr>
              <a:tr h="475272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1128511"/>
                  </a:ext>
                </a:extLst>
              </a:tr>
              <a:tr h="475272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2536954"/>
                  </a:ext>
                </a:extLst>
              </a:tr>
              <a:tr h="475272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4367798"/>
                  </a:ext>
                </a:extLst>
              </a:tr>
              <a:tr h="475272"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3304032"/>
                  </a:ext>
                </a:extLst>
              </a:tr>
              <a:tr h="475272"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08371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7CB8309-5FCF-C39B-D001-1ACBDC0F89A0}"/>
              </a:ext>
            </a:extLst>
          </p:cNvPr>
          <p:cNvSpPr txBox="1"/>
          <p:nvPr/>
        </p:nvSpPr>
        <p:spPr>
          <a:xfrm rot="16200000">
            <a:off x="-558195" y="3501950"/>
            <a:ext cx="1435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Event Time</a:t>
            </a:r>
            <a:endParaRPr lang="en-S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74EE38-7429-465D-B6B1-1337BB6BFC43}"/>
              </a:ext>
            </a:extLst>
          </p:cNvPr>
          <p:cNvSpPr txBox="1"/>
          <p:nvPr/>
        </p:nvSpPr>
        <p:spPr>
          <a:xfrm>
            <a:off x="8650558" y="6358493"/>
            <a:ext cx="3627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Processing Time with 5 min trigger</a:t>
            </a:r>
            <a:endParaRPr lang="en-S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F974C7-F835-0AA3-E3FC-61DCC8F5940D}"/>
              </a:ext>
            </a:extLst>
          </p:cNvPr>
          <p:cNvSpPr txBox="1"/>
          <p:nvPr/>
        </p:nvSpPr>
        <p:spPr>
          <a:xfrm>
            <a:off x="344339" y="2972951"/>
            <a:ext cx="984766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12:20</a:t>
            </a:r>
          </a:p>
          <a:p>
            <a:endParaRPr lang="en-US" sz="1600" dirty="0"/>
          </a:p>
          <a:p>
            <a:r>
              <a:rPr lang="en-US" sz="1600" dirty="0"/>
              <a:t>12:15</a:t>
            </a:r>
          </a:p>
          <a:p>
            <a:endParaRPr lang="en-US" sz="1600" dirty="0"/>
          </a:p>
          <a:p>
            <a:r>
              <a:rPr lang="en-US" sz="1600" dirty="0"/>
              <a:t>12:10</a:t>
            </a:r>
          </a:p>
          <a:p>
            <a:endParaRPr lang="en-US" sz="1600" dirty="0"/>
          </a:p>
          <a:p>
            <a:r>
              <a:rPr lang="en-US" sz="1600" dirty="0"/>
              <a:t>12:05</a:t>
            </a:r>
          </a:p>
          <a:p>
            <a:endParaRPr lang="en-US" sz="1600" dirty="0"/>
          </a:p>
          <a:p>
            <a:r>
              <a:rPr lang="en-US" sz="1600" dirty="0"/>
              <a:t>12:00</a:t>
            </a:r>
          </a:p>
          <a:p>
            <a:endParaRPr lang="en-US" sz="1600" dirty="0"/>
          </a:p>
          <a:p>
            <a:r>
              <a:rPr lang="en-US" sz="1600" dirty="0"/>
              <a:t>11:55</a:t>
            </a:r>
          </a:p>
          <a:p>
            <a:endParaRPr lang="en-US" sz="1600" dirty="0"/>
          </a:p>
          <a:p>
            <a:r>
              <a:rPr lang="en-US" sz="1600" dirty="0"/>
              <a:t>11:50</a:t>
            </a:r>
            <a:endParaRPr lang="en-SG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0224FC-9685-50BD-87AB-09175332C699}"/>
              </a:ext>
            </a:extLst>
          </p:cNvPr>
          <p:cNvSpPr txBox="1"/>
          <p:nvPr/>
        </p:nvSpPr>
        <p:spPr>
          <a:xfrm>
            <a:off x="571158" y="6113743"/>
            <a:ext cx="1197054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11:50		11:55		12:00		12:05		12:10		12:15		12:20</a:t>
            </a:r>
            <a:r>
              <a:rPr lang="en-US" sz="1800" dirty="0"/>
              <a:t>	</a:t>
            </a:r>
            <a:endParaRPr lang="en-SG" sz="1800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7CDA413-3DF2-114D-EBB9-0EFAA9E1AF67}"/>
              </a:ext>
            </a:extLst>
          </p:cNvPr>
          <p:cNvGraphicFramePr>
            <a:graphicFrameLocks noGrp="1"/>
          </p:cNvGraphicFramePr>
          <p:nvPr/>
        </p:nvGraphicFramePr>
        <p:xfrm>
          <a:off x="641349" y="545047"/>
          <a:ext cx="2473326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6663">
                  <a:extLst>
                    <a:ext uri="{9D8B030D-6E8A-4147-A177-3AD203B41FA5}">
                      <a16:colId xmlns:a16="http://schemas.microsoft.com/office/drawing/2014/main" val="2932132155"/>
                    </a:ext>
                  </a:extLst>
                </a:gridCol>
                <a:gridCol w="1236663">
                  <a:extLst>
                    <a:ext uri="{9D8B030D-6E8A-4147-A177-3AD203B41FA5}">
                      <a16:colId xmlns:a16="http://schemas.microsoft.com/office/drawing/2014/main" val="36646229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dirty="0" err="1"/>
                        <a:t>SensorID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Event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689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C00000"/>
                          </a:solidFill>
                        </a:rPr>
                        <a:t>Id1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C00000"/>
                          </a:solidFill>
                        </a:rPr>
                        <a:t>12:06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095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C000"/>
                          </a:solidFill>
                        </a:rPr>
                        <a:t>Id1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C000"/>
                          </a:solidFill>
                        </a:rPr>
                        <a:t>12:08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238662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5588273-8B56-06C3-5BDA-289E44FD9BFB}"/>
              </a:ext>
            </a:extLst>
          </p:cNvPr>
          <p:cNvSpPr txBox="1"/>
          <p:nvPr/>
        </p:nvSpPr>
        <p:spPr>
          <a:xfrm>
            <a:off x="836722" y="213241"/>
            <a:ext cx="2062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From 12:05 – 12:10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7214DD7-2EB0-FEDB-4478-06C4C57D6A76}"/>
              </a:ext>
            </a:extLst>
          </p:cNvPr>
          <p:cNvSpPr/>
          <p:nvPr/>
        </p:nvSpPr>
        <p:spPr>
          <a:xfrm>
            <a:off x="6719054" y="4458468"/>
            <a:ext cx="216349" cy="20725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CE3397A-A429-A69C-29DA-D0DBA93B6725}"/>
              </a:ext>
            </a:extLst>
          </p:cNvPr>
          <p:cNvSpPr/>
          <p:nvPr/>
        </p:nvSpPr>
        <p:spPr>
          <a:xfrm>
            <a:off x="7466604" y="4300857"/>
            <a:ext cx="216349" cy="20725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2F2E4387-F2A6-73D5-824B-D9C22E21EC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752621"/>
              </p:ext>
            </p:extLst>
          </p:nvPr>
        </p:nvGraphicFramePr>
        <p:xfrm>
          <a:off x="7798323" y="483199"/>
          <a:ext cx="2800604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7775">
                  <a:extLst>
                    <a:ext uri="{9D8B030D-6E8A-4147-A177-3AD203B41FA5}">
                      <a16:colId xmlns:a16="http://schemas.microsoft.com/office/drawing/2014/main" val="2932132155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3664622994"/>
                    </a:ext>
                  </a:extLst>
                </a:gridCol>
                <a:gridCol w="657479">
                  <a:extLst>
                    <a:ext uri="{9D8B030D-6E8A-4147-A177-3AD203B41FA5}">
                      <a16:colId xmlns:a16="http://schemas.microsoft.com/office/drawing/2014/main" val="9984193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sz="1400" dirty="0"/>
                        <a:t>Event 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 err="1"/>
                        <a:t>SensorID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/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689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11:50-12:00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id1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095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11:55-12:05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id1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238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12:00-12:10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id1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955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12:05-12:15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id1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586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12:10-12:20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23555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236BB6D9-C4D2-EA23-6C50-BB4A14C90051}"/>
              </a:ext>
            </a:extLst>
          </p:cNvPr>
          <p:cNvSpPr txBox="1"/>
          <p:nvPr/>
        </p:nvSpPr>
        <p:spPr>
          <a:xfrm>
            <a:off x="8274234" y="109251"/>
            <a:ext cx="2062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dirty="0"/>
              <a:t>Result Table (12:15)</a:t>
            </a:r>
          </a:p>
        </p:txBody>
      </p:sp>
      <p:pic>
        <p:nvPicPr>
          <p:cNvPr id="26" name="Picture 3" descr="Text&#10;&#10;Description automatically generated with medium confidence">
            <a:extLst>
              <a:ext uri="{FF2B5EF4-FFF2-40B4-BE49-F238E27FC236}">
                <a16:creationId xmlns:a16="http://schemas.microsoft.com/office/drawing/2014/main" id="{6AC15688-1176-39D3-EA8E-AA20775E0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45" y="1869856"/>
            <a:ext cx="7175588" cy="1072317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C32AEC4-A343-B1C5-71C4-CD006D5C6799}"/>
              </a:ext>
            </a:extLst>
          </p:cNvPr>
          <p:cNvCxnSpPr/>
          <p:nvPr/>
        </p:nvCxnSpPr>
        <p:spPr>
          <a:xfrm>
            <a:off x="8254980" y="4937125"/>
            <a:ext cx="1774845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D6639E6-96EC-D1C0-F8B3-6FC33533A8EB}"/>
              </a:ext>
            </a:extLst>
          </p:cNvPr>
          <p:cNvSpPr txBox="1"/>
          <p:nvPr/>
        </p:nvSpPr>
        <p:spPr>
          <a:xfrm>
            <a:off x="8254980" y="4665722"/>
            <a:ext cx="12876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600" dirty="0">
                <a:solidFill>
                  <a:schemeClr val="bg1">
                    <a:lumMod val="65000"/>
                  </a:schemeClr>
                </a:solidFill>
              </a:rPr>
              <a:t>WM: 12:03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B7E9D27-E98A-6AAE-550B-7AEC6C140EE9}"/>
              </a:ext>
            </a:extLst>
          </p:cNvPr>
          <p:cNvCxnSpPr/>
          <p:nvPr/>
        </p:nvCxnSpPr>
        <p:spPr>
          <a:xfrm>
            <a:off x="8205333" y="4404484"/>
            <a:ext cx="0" cy="532641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F31BD2B-D863-5367-F8F2-445E2B5B91FE}"/>
              </a:ext>
            </a:extLst>
          </p:cNvPr>
          <p:cNvSpPr txBox="1"/>
          <p:nvPr/>
        </p:nvSpPr>
        <p:spPr>
          <a:xfrm>
            <a:off x="8143829" y="4438568"/>
            <a:ext cx="12876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600" dirty="0">
                <a:solidFill>
                  <a:schemeClr val="bg1">
                    <a:lumMod val="65000"/>
                  </a:schemeClr>
                </a:solidFill>
              </a:rPr>
              <a:t>12:08 – 5min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AE21950-F50D-2980-8101-8EDEBD301370}"/>
              </a:ext>
            </a:extLst>
          </p:cNvPr>
          <p:cNvCxnSpPr>
            <a:cxnSpLocks/>
          </p:cNvCxnSpPr>
          <p:nvPr/>
        </p:nvCxnSpPr>
        <p:spPr>
          <a:xfrm>
            <a:off x="7682953" y="4404484"/>
            <a:ext cx="522380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4A8EED2-67C2-FF6C-D65C-7BA456A05E97}"/>
              </a:ext>
            </a:extLst>
          </p:cNvPr>
          <p:cNvSpPr txBox="1"/>
          <p:nvPr/>
        </p:nvSpPr>
        <p:spPr>
          <a:xfrm>
            <a:off x="7261898" y="4418836"/>
            <a:ext cx="7448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600" dirty="0">
                <a:solidFill>
                  <a:srgbClr val="FFC000"/>
                </a:solidFill>
              </a:rPr>
              <a:t>12:08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A42C993-3FE3-28E1-2F3B-9372FE774747}"/>
              </a:ext>
            </a:extLst>
          </p:cNvPr>
          <p:cNvSpPr txBox="1"/>
          <p:nvPr/>
        </p:nvSpPr>
        <p:spPr>
          <a:xfrm>
            <a:off x="6484061" y="4626112"/>
            <a:ext cx="12876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600" dirty="0">
                <a:solidFill>
                  <a:srgbClr val="FF0000"/>
                </a:solidFill>
              </a:rPr>
              <a:t>12:06</a:t>
            </a:r>
          </a:p>
        </p:txBody>
      </p:sp>
      <p:sp>
        <p:nvSpPr>
          <p:cNvPr id="49" name="Arrow: Left-Right 48">
            <a:extLst>
              <a:ext uri="{FF2B5EF4-FFF2-40B4-BE49-F238E27FC236}">
                <a16:creationId xmlns:a16="http://schemas.microsoft.com/office/drawing/2014/main" id="{5CD72853-3E10-CB5E-2903-CF1D8C6A1D6F}"/>
              </a:ext>
            </a:extLst>
          </p:cNvPr>
          <p:cNvSpPr/>
          <p:nvPr/>
        </p:nvSpPr>
        <p:spPr>
          <a:xfrm rot="16200000">
            <a:off x="763556" y="5512130"/>
            <a:ext cx="917085" cy="306824"/>
          </a:xfrm>
          <a:prstGeom prst="leftRightArrow">
            <a:avLst/>
          </a:prstGeom>
          <a:solidFill>
            <a:srgbClr val="00B0F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9" name="Oval 21">
            <a:extLst>
              <a:ext uri="{FF2B5EF4-FFF2-40B4-BE49-F238E27FC236}">
                <a16:creationId xmlns:a16="http://schemas.microsoft.com/office/drawing/2014/main" id="{6C1300F9-A1BD-4BB7-03B0-36E92E67F8C8}"/>
              </a:ext>
            </a:extLst>
          </p:cNvPr>
          <p:cNvSpPr/>
          <p:nvPr/>
        </p:nvSpPr>
        <p:spPr>
          <a:xfrm>
            <a:off x="3936744" y="5336619"/>
            <a:ext cx="216349" cy="207254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4" name="Arrow: Left-Right 53">
            <a:extLst>
              <a:ext uri="{FF2B5EF4-FFF2-40B4-BE49-F238E27FC236}">
                <a16:creationId xmlns:a16="http://schemas.microsoft.com/office/drawing/2014/main" id="{F03F87AA-E954-9EB3-4F45-B81DCEDD8E14}"/>
              </a:ext>
            </a:extLst>
          </p:cNvPr>
          <p:cNvSpPr/>
          <p:nvPr/>
        </p:nvSpPr>
        <p:spPr>
          <a:xfrm rot="16200000">
            <a:off x="1108481" y="5010721"/>
            <a:ext cx="917085" cy="306824"/>
          </a:xfrm>
          <a:prstGeom prst="leftRightArrow">
            <a:avLst/>
          </a:prstGeom>
          <a:solidFill>
            <a:srgbClr val="00B0F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5" name="Arrow: Left-Right 54">
            <a:extLst>
              <a:ext uri="{FF2B5EF4-FFF2-40B4-BE49-F238E27FC236}">
                <a16:creationId xmlns:a16="http://schemas.microsoft.com/office/drawing/2014/main" id="{7FF9E110-79D2-9695-179C-9B544F4EF798}"/>
              </a:ext>
            </a:extLst>
          </p:cNvPr>
          <p:cNvSpPr/>
          <p:nvPr/>
        </p:nvSpPr>
        <p:spPr>
          <a:xfrm rot="16200000">
            <a:off x="778655" y="4564120"/>
            <a:ext cx="917085" cy="306824"/>
          </a:xfrm>
          <a:prstGeom prst="leftRightArrow">
            <a:avLst/>
          </a:prstGeom>
          <a:solidFill>
            <a:srgbClr val="00B0F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6" name="Arrow: Left-Right 55">
            <a:extLst>
              <a:ext uri="{FF2B5EF4-FFF2-40B4-BE49-F238E27FC236}">
                <a16:creationId xmlns:a16="http://schemas.microsoft.com/office/drawing/2014/main" id="{CDB1E7E6-2FD0-E6BF-B105-C45EA5C61959}"/>
              </a:ext>
            </a:extLst>
          </p:cNvPr>
          <p:cNvSpPr/>
          <p:nvPr/>
        </p:nvSpPr>
        <p:spPr>
          <a:xfrm rot="16200000">
            <a:off x="1096905" y="4105577"/>
            <a:ext cx="917085" cy="306824"/>
          </a:xfrm>
          <a:prstGeom prst="leftRightArrow">
            <a:avLst/>
          </a:prstGeom>
          <a:solidFill>
            <a:srgbClr val="00B0F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7" name="Arrow: Left-Right 56">
            <a:extLst>
              <a:ext uri="{FF2B5EF4-FFF2-40B4-BE49-F238E27FC236}">
                <a16:creationId xmlns:a16="http://schemas.microsoft.com/office/drawing/2014/main" id="{36496BDF-D1DF-6110-5B5B-63669F005427}"/>
              </a:ext>
            </a:extLst>
          </p:cNvPr>
          <p:cNvSpPr/>
          <p:nvPr/>
        </p:nvSpPr>
        <p:spPr>
          <a:xfrm rot="16200000">
            <a:off x="791814" y="3621711"/>
            <a:ext cx="917085" cy="306824"/>
          </a:xfrm>
          <a:prstGeom prst="leftRightArrow">
            <a:avLst/>
          </a:prstGeom>
          <a:solidFill>
            <a:srgbClr val="00B0F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EB7A6CB5-FC77-636D-FA0C-EAD6D36E7E67}"/>
              </a:ext>
            </a:extLst>
          </p:cNvPr>
          <p:cNvSpPr/>
          <p:nvPr/>
        </p:nvSpPr>
        <p:spPr>
          <a:xfrm>
            <a:off x="10300377" y="1728557"/>
            <a:ext cx="138269" cy="13245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F5642A5-6818-3656-3B77-021D90DE37A6}"/>
              </a:ext>
            </a:extLst>
          </p:cNvPr>
          <p:cNvSpPr/>
          <p:nvPr/>
        </p:nvSpPr>
        <p:spPr>
          <a:xfrm>
            <a:off x="10449957" y="1728557"/>
            <a:ext cx="138269" cy="13245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2" name="Oval 21">
            <a:extLst>
              <a:ext uri="{FF2B5EF4-FFF2-40B4-BE49-F238E27FC236}">
                <a16:creationId xmlns:a16="http://schemas.microsoft.com/office/drawing/2014/main" id="{874B1151-73EC-C73C-E003-7057B329BE10}"/>
              </a:ext>
            </a:extLst>
          </p:cNvPr>
          <p:cNvSpPr/>
          <p:nvPr/>
        </p:nvSpPr>
        <p:spPr>
          <a:xfrm>
            <a:off x="10407851" y="1369015"/>
            <a:ext cx="138269" cy="132456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3" name="Oval 21">
            <a:extLst>
              <a:ext uri="{FF2B5EF4-FFF2-40B4-BE49-F238E27FC236}">
                <a16:creationId xmlns:a16="http://schemas.microsoft.com/office/drawing/2014/main" id="{C4B8150F-028C-C064-CEC8-1E426AD84C7B}"/>
              </a:ext>
            </a:extLst>
          </p:cNvPr>
          <p:cNvSpPr/>
          <p:nvPr/>
        </p:nvSpPr>
        <p:spPr>
          <a:xfrm>
            <a:off x="10411342" y="1007792"/>
            <a:ext cx="138269" cy="132456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8A0DD567-B690-4CD1-1713-3BE318FBB81B}"/>
              </a:ext>
            </a:extLst>
          </p:cNvPr>
          <p:cNvSpPr/>
          <p:nvPr/>
        </p:nvSpPr>
        <p:spPr>
          <a:xfrm>
            <a:off x="10303711" y="2097132"/>
            <a:ext cx="138269" cy="13245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3B23D682-F336-C058-9BA2-BA8C9BC41A2E}"/>
              </a:ext>
            </a:extLst>
          </p:cNvPr>
          <p:cNvSpPr/>
          <p:nvPr/>
        </p:nvSpPr>
        <p:spPr>
          <a:xfrm>
            <a:off x="10453291" y="2097132"/>
            <a:ext cx="138269" cy="13245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Oval 36">
            <a:extLst>
              <a:ext uri="{FF2B5EF4-FFF2-40B4-BE49-F238E27FC236}">
                <a16:creationId xmlns:a16="http://schemas.microsoft.com/office/drawing/2014/main" id="{F5315E51-4F30-ECDE-7B54-2CD25280A666}"/>
              </a:ext>
            </a:extLst>
          </p:cNvPr>
          <p:cNvSpPr/>
          <p:nvPr/>
        </p:nvSpPr>
        <p:spPr>
          <a:xfrm>
            <a:off x="8440326" y="5634449"/>
            <a:ext cx="216349" cy="20725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Oval 38">
            <a:extLst>
              <a:ext uri="{FF2B5EF4-FFF2-40B4-BE49-F238E27FC236}">
                <a16:creationId xmlns:a16="http://schemas.microsoft.com/office/drawing/2014/main" id="{DF659EB7-617C-8611-1D12-C29D803A2194}"/>
              </a:ext>
            </a:extLst>
          </p:cNvPr>
          <p:cNvSpPr/>
          <p:nvPr/>
        </p:nvSpPr>
        <p:spPr>
          <a:xfrm>
            <a:off x="8923591" y="4929253"/>
            <a:ext cx="216349" cy="207254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TextBox 39">
            <a:extLst>
              <a:ext uri="{FF2B5EF4-FFF2-40B4-BE49-F238E27FC236}">
                <a16:creationId xmlns:a16="http://schemas.microsoft.com/office/drawing/2014/main" id="{72665ADF-734B-9654-2596-7344861CD89F}"/>
              </a:ext>
            </a:extLst>
          </p:cNvPr>
          <p:cNvSpPr txBox="1"/>
          <p:nvPr/>
        </p:nvSpPr>
        <p:spPr>
          <a:xfrm>
            <a:off x="8688598" y="5096897"/>
            <a:ext cx="12876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600" dirty="0">
                <a:solidFill>
                  <a:srgbClr val="0070C0"/>
                </a:solidFill>
              </a:rPr>
              <a:t>12:02</a:t>
            </a:r>
          </a:p>
        </p:txBody>
      </p:sp>
      <p:sp>
        <p:nvSpPr>
          <p:cNvPr id="6" name="Oval 40">
            <a:extLst>
              <a:ext uri="{FF2B5EF4-FFF2-40B4-BE49-F238E27FC236}">
                <a16:creationId xmlns:a16="http://schemas.microsoft.com/office/drawing/2014/main" id="{39958F4E-0A40-795B-53DB-E3CDB45FFDB4}"/>
              </a:ext>
            </a:extLst>
          </p:cNvPr>
          <p:cNvSpPr/>
          <p:nvPr/>
        </p:nvSpPr>
        <p:spPr>
          <a:xfrm>
            <a:off x="9542635" y="3855953"/>
            <a:ext cx="216349" cy="207254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41">
            <a:extLst>
              <a:ext uri="{FF2B5EF4-FFF2-40B4-BE49-F238E27FC236}">
                <a16:creationId xmlns:a16="http://schemas.microsoft.com/office/drawing/2014/main" id="{A1A68914-C308-ACD7-6A74-6B151338A7AC}"/>
              </a:ext>
            </a:extLst>
          </p:cNvPr>
          <p:cNvSpPr txBox="1"/>
          <p:nvPr/>
        </p:nvSpPr>
        <p:spPr>
          <a:xfrm>
            <a:off x="9305315" y="3985051"/>
            <a:ext cx="12876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600" dirty="0">
                <a:solidFill>
                  <a:srgbClr val="7030A0"/>
                </a:solidFill>
              </a:rPr>
              <a:t>12:13</a:t>
            </a:r>
          </a:p>
        </p:txBody>
      </p:sp>
      <p:cxnSp>
        <p:nvCxnSpPr>
          <p:cNvPr id="11" name="Straight Connector 42">
            <a:extLst>
              <a:ext uri="{FF2B5EF4-FFF2-40B4-BE49-F238E27FC236}">
                <a16:creationId xmlns:a16="http://schemas.microsoft.com/office/drawing/2014/main" id="{204CC283-FF68-3DE3-8606-42F89B81057B}"/>
              </a:ext>
            </a:extLst>
          </p:cNvPr>
          <p:cNvCxnSpPr/>
          <p:nvPr/>
        </p:nvCxnSpPr>
        <p:spPr>
          <a:xfrm>
            <a:off x="10076721" y="4518251"/>
            <a:ext cx="1774845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43">
            <a:extLst>
              <a:ext uri="{FF2B5EF4-FFF2-40B4-BE49-F238E27FC236}">
                <a16:creationId xmlns:a16="http://schemas.microsoft.com/office/drawing/2014/main" id="{E574F34A-630E-049E-E330-26367B9214A8}"/>
              </a:ext>
            </a:extLst>
          </p:cNvPr>
          <p:cNvSpPr txBox="1"/>
          <p:nvPr/>
        </p:nvSpPr>
        <p:spPr>
          <a:xfrm>
            <a:off x="10076721" y="4246848"/>
            <a:ext cx="12876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600" dirty="0">
                <a:solidFill>
                  <a:schemeClr val="bg1">
                    <a:lumMod val="65000"/>
                  </a:schemeClr>
                </a:solidFill>
              </a:rPr>
              <a:t>WM: 12:08</a:t>
            </a:r>
          </a:p>
        </p:txBody>
      </p:sp>
      <p:cxnSp>
        <p:nvCxnSpPr>
          <p:cNvPr id="14" name="Straight Arrow Connector 44">
            <a:extLst>
              <a:ext uri="{FF2B5EF4-FFF2-40B4-BE49-F238E27FC236}">
                <a16:creationId xmlns:a16="http://schemas.microsoft.com/office/drawing/2014/main" id="{DB79624A-9706-69E4-0644-8ED5C72A1828}"/>
              </a:ext>
            </a:extLst>
          </p:cNvPr>
          <p:cNvCxnSpPr/>
          <p:nvPr/>
        </p:nvCxnSpPr>
        <p:spPr>
          <a:xfrm>
            <a:off x="10027074" y="3985610"/>
            <a:ext cx="0" cy="532641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45">
            <a:extLst>
              <a:ext uri="{FF2B5EF4-FFF2-40B4-BE49-F238E27FC236}">
                <a16:creationId xmlns:a16="http://schemas.microsoft.com/office/drawing/2014/main" id="{1CFEBD00-4671-053A-63C7-6D62F38517D3}"/>
              </a:ext>
            </a:extLst>
          </p:cNvPr>
          <p:cNvSpPr txBox="1"/>
          <p:nvPr/>
        </p:nvSpPr>
        <p:spPr>
          <a:xfrm>
            <a:off x="9975095" y="3972069"/>
            <a:ext cx="12876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600" dirty="0">
                <a:solidFill>
                  <a:schemeClr val="bg1">
                    <a:lumMod val="65000"/>
                  </a:schemeClr>
                </a:solidFill>
              </a:rPr>
              <a:t>12:13 – 5min</a:t>
            </a:r>
          </a:p>
        </p:txBody>
      </p:sp>
      <p:cxnSp>
        <p:nvCxnSpPr>
          <p:cNvPr id="16" name="Straight Connector 46">
            <a:extLst>
              <a:ext uri="{FF2B5EF4-FFF2-40B4-BE49-F238E27FC236}">
                <a16:creationId xmlns:a16="http://schemas.microsoft.com/office/drawing/2014/main" id="{F2146B0F-F278-23C6-9698-45D899A5F29D}"/>
              </a:ext>
            </a:extLst>
          </p:cNvPr>
          <p:cNvCxnSpPr>
            <a:cxnSpLocks/>
          </p:cNvCxnSpPr>
          <p:nvPr/>
        </p:nvCxnSpPr>
        <p:spPr>
          <a:xfrm>
            <a:off x="9758984" y="3985610"/>
            <a:ext cx="268090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7557160-2130-F47E-B75C-921CF753E4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55400"/>
              </p:ext>
            </p:extLst>
          </p:nvPr>
        </p:nvGraphicFramePr>
        <p:xfrm>
          <a:off x="3346449" y="551587"/>
          <a:ext cx="2473326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6663">
                  <a:extLst>
                    <a:ext uri="{9D8B030D-6E8A-4147-A177-3AD203B41FA5}">
                      <a16:colId xmlns:a16="http://schemas.microsoft.com/office/drawing/2014/main" val="2932132155"/>
                    </a:ext>
                  </a:extLst>
                </a:gridCol>
                <a:gridCol w="1236663">
                  <a:extLst>
                    <a:ext uri="{9D8B030D-6E8A-4147-A177-3AD203B41FA5}">
                      <a16:colId xmlns:a16="http://schemas.microsoft.com/office/drawing/2014/main" val="36646229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dirty="0" err="1"/>
                        <a:t>SensorID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Event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689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00B050"/>
                          </a:solidFill>
                        </a:rPr>
                        <a:t>Id1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00B050"/>
                          </a:solidFill>
                        </a:rPr>
                        <a:t>11:54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095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0070C0"/>
                          </a:solidFill>
                        </a:rPr>
                        <a:t>Id1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0070C0"/>
                          </a:solidFill>
                        </a:rPr>
                        <a:t>12:02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238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7030A0"/>
                          </a:solidFill>
                        </a:rPr>
                        <a:t>Id1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7030A0"/>
                          </a:solidFill>
                        </a:rPr>
                        <a:t>12:13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955645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33F7EC57-7AF2-3503-2DD9-57796755CD71}"/>
              </a:ext>
            </a:extLst>
          </p:cNvPr>
          <p:cNvSpPr txBox="1"/>
          <p:nvPr/>
        </p:nvSpPr>
        <p:spPr>
          <a:xfrm>
            <a:off x="3520735" y="213241"/>
            <a:ext cx="2062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From 12:10 – 12:15</a:t>
            </a:r>
          </a:p>
        </p:txBody>
      </p:sp>
      <p:sp>
        <p:nvSpPr>
          <p:cNvPr id="27" name="TextBox 37">
            <a:extLst>
              <a:ext uri="{FF2B5EF4-FFF2-40B4-BE49-F238E27FC236}">
                <a16:creationId xmlns:a16="http://schemas.microsoft.com/office/drawing/2014/main" id="{DF3CD24B-4585-38D7-F304-302A6388D33D}"/>
              </a:ext>
            </a:extLst>
          </p:cNvPr>
          <p:cNvSpPr txBox="1"/>
          <p:nvPr/>
        </p:nvSpPr>
        <p:spPr>
          <a:xfrm>
            <a:off x="8205333" y="5802093"/>
            <a:ext cx="12876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600" dirty="0">
                <a:solidFill>
                  <a:srgbClr val="00B050"/>
                </a:solidFill>
              </a:rPr>
              <a:t>11:54</a:t>
            </a:r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4E1FFF52-57C7-4796-CA29-CE3C6497DDCD}"/>
              </a:ext>
            </a:extLst>
          </p:cNvPr>
          <p:cNvSpPr/>
          <p:nvPr/>
        </p:nvSpPr>
        <p:spPr>
          <a:xfrm>
            <a:off x="8440326" y="5635550"/>
            <a:ext cx="216349" cy="20725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4" name="TextBox 37">
            <a:extLst>
              <a:ext uri="{FF2B5EF4-FFF2-40B4-BE49-F238E27FC236}">
                <a16:creationId xmlns:a16="http://schemas.microsoft.com/office/drawing/2014/main" id="{BB37925B-E596-B919-E935-DA4E55811FA8}"/>
              </a:ext>
            </a:extLst>
          </p:cNvPr>
          <p:cNvSpPr txBox="1"/>
          <p:nvPr/>
        </p:nvSpPr>
        <p:spPr>
          <a:xfrm>
            <a:off x="8205333" y="5803194"/>
            <a:ext cx="12876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600" dirty="0">
                <a:solidFill>
                  <a:schemeClr val="bg1">
                    <a:lumMod val="75000"/>
                  </a:schemeClr>
                </a:solidFill>
              </a:rPr>
              <a:t>11:54</a:t>
            </a:r>
          </a:p>
        </p:txBody>
      </p:sp>
      <p:sp>
        <p:nvSpPr>
          <p:cNvPr id="37" name="Arrow: Left-Right 36">
            <a:extLst>
              <a:ext uri="{FF2B5EF4-FFF2-40B4-BE49-F238E27FC236}">
                <a16:creationId xmlns:a16="http://schemas.microsoft.com/office/drawing/2014/main" id="{680C73D3-6090-58BA-A367-A950CB8E6852}"/>
              </a:ext>
            </a:extLst>
          </p:cNvPr>
          <p:cNvSpPr/>
          <p:nvPr/>
        </p:nvSpPr>
        <p:spPr>
          <a:xfrm rot="16200000">
            <a:off x="768783" y="5512130"/>
            <a:ext cx="917085" cy="306824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B28E7C-2536-1311-AF5D-D911AD6BC8F2}"/>
              </a:ext>
            </a:extLst>
          </p:cNvPr>
          <p:cNvSpPr txBox="1"/>
          <p:nvPr/>
        </p:nvSpPr>
        <p:spPr>
          <a:xfrm>
            <a:off x="9046298" y="2336458"/>
            <a:ext cx="461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dirty="0">
                <a:solidFill>
                  <a:schemeClr val="tx1"/>
                </a:solidFill>
              </a:rPr>
              <a:t>id1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08B1008-A74D-2395-A049-8FCE4B8616C6}"/>
              </a:ext>
            </a:extLst>
          </p:cNvPr>
          <p:cNvSpPr txBox="1"/>
          <p:nvPr/>
        </p:nvSpPr>
        <p:spPr>
          <a:xfrm>
            <a:off x="9939869" y="2338319"/>
            <a:ext cx="461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34FAA73-5905-DBC7-1A8A-13034EEB2FB5}"/>
              </a:ext>
            </a:extLst>
          </p:cNvPr>
          <p:cNvSpPr/>
          <p:nvPr/>
        </p:nvSpPr>
        <p:spPr>
          <a:xfrm>
            <a:off x="10429467" y="2468236"/>
            <a:ext cx="138269" cy="132456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ED8C936-B0D3-326B-4444-FA2FDC6AFE58}"/>
              </a:ext>
            </a:extLst>
          </p:cNvPr>
          <p:cNvSpPr/>
          <p:nvPr/>
        </p:nvSpPr>
        <p:spPr>
          <a:xfrm>
            <a:off x="10651413" y="1369015"/>
            <a:ext cx="138269" cy="132456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27814C3-1737-C30E-0043-2855B0A395BB}"/>
              </a:ext>
            </a:extLst>
          </p:cNvPr>
          <p:cNvSpPr/>
          <p:nvPr/>
        </p:nvSpPr>
        <p:spPr>
          <a:xfrm>
            <a:off x="10651413" y="1728557"/>
            <a:ext cx="138269" cy="132456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EFB41A2-D44D-0A6E-DA46-AA4F8C9A8AD9}"/>
              </a:ext>
            </a:extLst>
          </p:cNvPr>
          <p:cNvSpPr txBox="1"/>
          <p:nvPr/>
        </p:nvSpPr>
        <p:spPr>
          <a:xfrm>
            <a:off x="9951926" y="1250033"/>
            <a:ext cx="373323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SG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642804A-6EEB-F434-7C4F-0E363448204C}"/>
              </a:ext>
            </a:extLst>
          </p:cNvPr>
          <p:cNvSpPr txBox="1"/>
          <p:nvPr/>
        </p:nvSpPr>
        <p:spPr>
          <a:xfrm>
            <a:off x="9948532" y="1602435"/>
            <a:ext cx="277780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SG" sz="1400" dirty="0"/>
              <a:t>3</a:t>
            </a:r>
            <a:endParaRPr lang="en-SG" sz="1400" dirty="0">
              <a:solidFill>
                <a:schemeClr val="tx1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650CE6B-CF66-F39A-B83E-F28154B86D82}"/>
              </a:ext>
            </a:extLst>
          </p:cNvPr>
          <p:cNvSpPr/>
          <p:nvPr/>
        </p:nvSpPr>
        <p:spPr>
          <a:xfrm>
            <a:off x="10628271" y="2097132"/>
            <a:ext cx="138269" cy="132456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1695821-9B3E-8767-195E-6430BD9BD910}"/>
              </a:ext>
            </a:extLst>
          </p:cNvPr>
          <p:cNvSpPr txBox="1"/>
          <p:nvPr/>
        </p:nvSpPr>
        <p:spPr>
          <a:xfrm>
            <a:off x="9948532" y="1972766"/>
            <a:ext cx="277780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SG" sz="1400" dirty="0"/>
              <a:t>3</a:t>
            </a:r>
            <a:endParaRPr lang="en-SG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1718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6" grpId="0" animBg="1"/>
      <p:bldP spid="9" grpId="0"/>
      <p:bldP spid="13" grpId="0"/>
      <p:bldP spid="15" grpId="0"/>
      <p:bldP spid="21" grpId="0"/>
      <p:bldP spid="27" grpId="0"/>
      <p:bldP spid="30" grpId="0" animBg="1"/>
      <p:bldP spid="34" grpId="0"/>
      <p:bldP spid="40" grpId="0"/>
      <p:bldP spid="41" grpId="0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56461-DC97-4214-6D8C-719561297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9F99C37-EBD0-5531-EC16-BFD10DA4533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83715" y="3279775"/>
          <a:ext cx="10884930" cy="28516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14155">
                  <a:extLst>
                    <a:ext uri="{9D8B030D-6E8A-4147-A177-3AD203B41FA5}">
                      <a16:colId xmlns:a16="http://schemas.microsoft.com/office/drawing/2014/main" val="3296964699"/>
                    </a:ext>
                  </a:extLst>
                </a:gridCol>
                <a:gridCol w="1814155">
                  <a:extLst>
                    <a:ext uri="{9D8B030D-6E8A-4147-A177-3AD203B41FA5}">
                      <a16:colId xmlns:a16="http://schemas.microsoft.com/office/drawing/2014/main" val="399520736"/>
                    </a:ext>
                  </a:extLst>
                </a:gridCol>
                <a:gridCol w="1814155">
                  <a:extLst>
                    <a:ext uri="{9D8B030D-6E8A-4147-A177-3AD203B41FA5}">
                      <a16:colId xmlns:a16="http://schemas.microsoft.com/office/drawing/2014/main" val="862385203"/>
                    </a:ext>
                  </a:extLst>
                </a:gridCol>
                <a:gridCol w="1814155">
                  <a:extLst>
                    <a:ext uri="{9D8B030D-6E8A-4147-A177-3AD203B41FA5}">
                      <a16:colId xmlns:a16="http://schemas.microsoft.com/office/drawing/2014/main" val="3170927636"/>
                    </a:ext>
                  </a:extLst>
                </a:gridCol>
                <a:gridCol w="1814155">
                  <a:extLst>
                    <a:ext uri="{9D8B030D-6E8A-4147-A177-3AD203B41FA5}">
                      <a16:colId xmlns:a16="http://schemas.microsoft.com/office/drawing/2014/main" val="3795181314"/>
                    </a:ext>
                  </a:extLst>
                </a:gridCol>
                <a:gridCol w="1814155">
                  <a:extLst>
                    <a:ext uri="{9D8B030D-6E8A-4147-A177-3AD203B41FA5}">
                      <a16:colId xmlns:a16="http://schemas.microsoft.com/office/drawing/2014/main" val="2695213929"/>
                    </a:ext>
                  </a:extLst>
                </a:gridCol>
              </a:tblGrid>
              <a:tr h="475272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5832225"/>
                  </a:ext>
                </a:extLst>
              </a:tr>
              <a:tr h="475272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1128511"/>
                  </a:ext>
                </a:extLst>
              </a:tr>
              <a:tr h="475272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2536954"/>
                  </a:ext>
                </a:extLst>
              </a:tr>
              <a:tr h="475272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4367798"/>
                  </a:ext>
                </a:extLst>
              </a:tr>
              <a:tr h="475272"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3304032"/>
                  </a:ext>
                </a:extLst>
              </a:tr>
              <a:tr h="475272">
                <a:tc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08371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2D092C8-2A6B-638D-8CA3-F9FE379C1023}"/>
              </a:ext>
            </a:extLst>
          </p:cNvPr>
          <p:cNvSpPr txBox="1"/>
          <p:nvPr/>
        </p:nvSpPr>
        <p:spPr>
          <a:xfrm rot="16200000">
            <a:off x="-558195" y="3501950"/>
            <a:ext cx="1435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Event Time</a:t>
            </a:r>
            <a:endParaRPr lang="en-S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D870DF-DC73-DA4E-1AAB-3E9C112CB17D}"/>
              </a:ext>
            </a:extLst>
          </p:cNvPr>
          <p:cNvSpPr txBox="1"/>
          <p:nvPr/>
        </p:nvSpPr>
        <p:spPr>
          <a:xfrm>
            <a:off x="8650558" y="6358493"/>
            <a:ext cx="3627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Processing Time with 5 min trigger</a:t>
            </a:r>
            <a:endParaRPr lang="en-S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E8F330-ACDB-9C47-AFA8-5C3E13B51654}"/>
              </a:ext>
            </a:extLst>
          </p:cNvPr>
          <p:cNvSpPr txBox="1"/>
          <p:nvPr/>
        </p:nvSpPr>
        <p:spPr>
          <a:xfrm>
            <a:off x="344339" y="2972951"/>
            <a:ext cx="984766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12:20</a:t>
            </a:r>
          </a:p>
          <a:p>
            <a:endParaRPr lang="en-US" sz="1600" dirty="0"/>
          </a:p>
          <a:p>
            <a:r>
              <a:rPr lang="en-US" sz="1600" dirty="0"/>
              <a:t>12:15</a:t>
            </a:r>
          </a:p>
          <a:p>
            <a:endParaRPr lang="en-US" sz="1600" dirty="0"/>
          </a:p>
          <a:p>
            <a:r>
              <a:rPr lang="en-US" sz="1600" dirty="0"/>
              <a:t>12:10</a:t>
            </a:r>
          </a:p>
          <a:p>
            <a:endParaRPr lang="en-US" sz="1600" dirty="0"/>
          </a:p>
          <a:p>
            <a:r>
              <a:rPr lang="en-US" sz="1600" dirty="0"/>
              <a:t>12:05</a:t>
            </a:r>
          </a:p>
          <a:p>
            <a:endParaRPr lang="en-US" sz="1600" dirty="0"/>
          </a:p>
          <a:p>
            <a:r>
              <a:rPr lang="en-US" sz="1600" dirty="0"/>
              <a:t>12:00</a:t>
            </a:r>
          </a:p>
          <a:p>
            <a:endParaRPr lang="en-US" sz="1600" dirty="0"/>
          </a:p>
          <a:p>
            <a:r>
              <a:rPr lang="en-US" sz="1600" dirty="0"/>
              <a:t>11:55</a:t>
            </a:r>
          </a:p>
          <a:p>
            <a:endParaRPr lang="en-US" sz="1600" dirty="0"/>
          </a:p>
          <a:p>
            <a:r>
              <a:rPr lang="en-US" sz="1600" dirty="0"/>
              <a:t>11:50</a:t>
            </a:r>
            <a:endParaRPr lang="en-SG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BC38C8-FE3B-213E-A35C-6D90C46E6191}"/>
              </a:ext>
            </a:extLst>
          </p:cNvPr>
          <p:cNvSpPr txBox="1"/>
          <p:nvPr/>
        </p:nvSpPr>
        <p:spPr>
          <a:xfrm>
            <a:off x="571158" y="6113743"/>
            <a:ext cx="1197054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11:50		11:55		12:00		12:05		12:10		12:15		12:20</a:t>
            </a:r>
            <a:r>
              <a:rPr lang="en-US" sz="1800" dirty="0"/>
              <a:t>	</a:t>
            </a:r>
            <a:endParaRPr lang="en-SG" sz="1800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E1CEAA7-D4FA-2EDF-E949-2F16EA3528F3}"/>
              </a:ext>
            </a:extLst>
          </p:cNvPr>
          <p:cNvGraphicFramePr>
            <a:graphicFrameLocks noGrp="1"/>
          </p:cNvGraphicFramePr>
          <p:nvPr/>
        </p:nvGraphicFramePr>
        <p:xfrm>
          <a:off x="641349" y="545047"/>
          <a:ext cx="2473326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6663">
                  <a:extLst>
                    <a:ext uri="{9D8B030D-6E8A-4147-A177-3AD203B41FA5}">
                      <a16:colId xmlns:a16="http://schemas.microsoft.com/office/drawing/2014/main" val="2932132155"/>
                    </a:ext>
                  </a:extLst>
                </a:gridCol>
                <a:gridCol w="1236663">
                  <a:extLst>
                    <a:ext uri="{9D8B030D-6E8A-4147-A177-3AD203B41FA5}">
                      <a16:colId xmlns:a16="http://schemas.microsoft.com/office/drawing/2014/main" val="36646229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dirty="0" err="1"/>
                        <a:t>SensorID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Event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689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C00000"/>
                          </a:solidFill>
                        </a:rPr>
                        <a:t>Id1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C00000"/>
                          </a:solidFill>
                        </a:rPr>
                        <a:t>12:06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095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C000"/>
                          </a:solidFill>
                        </a:rPr>
                        <a:t>Id1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C000"/>
                          </a:solidFill>
                        </a:rPr>
                        <a:t>12:08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238662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89509A73-8CAD-A28E-E71F-00D70B3666A5}"/>
              </a:ext>
            </a:extLst>
          </p:cNvPr>
          <p:cNvSpPr txBox="1"/>
          <p:nvPr/>
        </p:nvSpPr>
        <p:spPr>
          <a:xfrm>
            <a:off x="836722" y="213241"/>
            <a:ext cx="2062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From 12:05 – 12:10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39DD020-C8A7-5246-F0A1-F9A85E7E2E86}"/>
              </a:ext>
            </a:extLst>
          </p:cNvPr>
          <p:cNvSpPr/>
          <p:nvPr/>
        </p:nvSpPr>
        <p:spPr>
          <a:xfrm>
            <a:off x="6719054" y="4458468"/>
            <a:ext cx="216349" cy="20725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499EB33-A099-D13E-9DB3-352FDEC1DA8C}"/>
              </a:ext>
            </a:extLst>
          </p:cNvPr>
          <p:cNvSpPr/>
          <p:nvPr/>
        </p:nvSpPr>
        <p:spPr>
          <a:xfrm>
            <a:off x="7466604" y="4300857"/>
            <a:ext cx="216349" cy="20725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D7399B98-8793-F87F-4D51-2695277A19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869358"/>
              </p:ext>
            </p:extLst>
          </p:nvPr>
        </p:nvGraphicFramePr>
        <p:xfrm>
          <a:off x="7798323" y="483199"/>
          <a:ext cx="280060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7775">
                  <a:extLst>
                    <a:ext uri="{9D8B030D-6E8A-4147-A177-3AD203B41FA5}">
                      <a16:colId xmlns:a16="http://schemas.microsoft.com/office/drawing/2014/main" val="2932132155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3664622994"/>
                    </a:ext>
                  </a:extLst>
                </a:gridCol>
                <a:gridCol w="657479">
                  <a:extLst>
                    <a:ext uri="{9D8B030D-6E8A-4147-A177-3AD203B41FA5}">
                      <a16:colId xmlns:a16="http://schemas.microsoft.com/office/drawing/2014/main" val="9984193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sz="1400" dirty="0"/>
                        <a:t>Event 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 err="1"/>
                        <a:t>SensorID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/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689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11:55-12:05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Id1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SG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238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12:00-12:10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Id1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SG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955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12:05-12:15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Id1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SG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586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12:10-12:20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id1</a:t>
                      </a:r>
                      <a:endParaRPr lang="en-SG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SG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23555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2F3BDD01-48C2-13E0-899F-560C1541DD6B}"/>
              </a:ext>
            </a:extLst>
          </p:cNvPr>
          <p:cNvSpPr txBox="1"/>
          <p:nvPr/>
        </p:nvSpPr>
        <p:spPr>
          <a:xfrm>
            <a:off x="8274234" y="109251"/>
            <a:ext cx="2062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dirty="0"/>
              <a:t>Result Table (12:15)</a:t>
            </a:r>
          </a:p>
        </p:txBody>
      </p:sp>
      <p:pic>
        <p:nvPicPr>
          <p:cNvPr id="26" name="Picture 3" descr="Text&#10;&#10;Description automatically generated with medium confidence">
            <a:extLst>
              <a:ext uri="{FF2B5EF4-FFF2-40B4-BE49-F238E27FC236}">
                <a16:creationId xmlns:a16="http://schemas.microsoft.com/office/drawing/2014/main" id="{5FE02E91-0B4C-B944-0916-9E9C913B1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45" y="1869856"/>
            <a:ext cx="7175588" cy="1072317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21A5B77-42DC-AD23-A8B6-C6303F8F076A}"/>
              </a:ext>
            </a:extLst>
          </p:cNvPr>
          <p:cNvCxnSpPr/>
          <p:nvPr/>
        </p:nvCxnSpPr>
        <p:spPr>
          <a:xfrm>
            <a:off x="8254980" y="4937125"/>
            <a:ext cx="1774845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29DF70B-94CD-048C-26C3-1F31F027C363}"/>
              </a:ext>
            </a:extLst>
          </p:cNvPr>
          <p:cNvSpPr txBox="1"/>
          <p:nvPr/>
        </p:nvSpPr>
        <p:spPr>
          <a:xfrm>
            <a:off x="8254980" y="4665722"/>
            <a:ext cx="12876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600" dirty="0">
                <a:solidFill>
                  <a:schemeClr val="bg1">
                    <a:lumMod val="65000"/>
                  </a:schemeClr>
                </a:solidFill>
              </a:rPr>
              <a:t>WM: 12:03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D186DD9-E6DE-7162-662D-7F48316022CF}"/>
              </a:ext>
            </a:extLst>
          </p:cNvPr>
          <p:cNvCxnSpPr/>
          <p:nvPr/>
        </p:nvCxnSpPr>
        <p:spPr>
          <a:xfrm>
            <a:off x="8205333" y="4404484"/>
            <a:ext cx="0" cy="532641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382A114-1825-E163-FC40-FDA0D6577F8D}"/>
              </a:ext>
            </a:extLst>
          </p:cNvPr>
          <p:cNvSpPr txBox="1"/>
          <p:nvPr/>
        </p:nvSpPr>
        <p:spPr>
          <a:xfrm>
            <a:off x="8143829" y="4438568"/>
            <a:ext cx="12876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600" dirty="0">
                <a:solidFill>
                  <a:schemeClr val="bg1">
                    <a:lumMod val="65000"/>
                  </a:schemeClr>
                </a:solidFill>
              </a:rPr>
              <a:t>12:08 – 5min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C770DD7-DE59-492B-F3FF-E1F3B4A4B757}"/>
              </a:ext>
            </a:extLst>
          </p:cNvPr>
          <p:cNvCxnSpPr>
            <a:cxnSpLocks/>
          </p:cNvCxnSpPr>
          <p:nvPr/>
        </p:nvCxnSpPr>
        <p:spPr>
          <a:xfrm>
            <a:off x="7682953" y="4404484"/>
            <a:ext cx="522380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61BBCF4-1B4B-5BCD-214B-7631191FE3B3}"/>
              </a:ext>
            </a:extLst>
          </p:cNvPr>
          <p:cNvSpPr txBox="1"/>
          <p:nvPr/>
        </p:nvSpPr>
        <p:spPr>
          <a:xfrm>
            <a:off x="7261898" y="4418836"/>
            <a:ext cx="7448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600" dirty="0">
                <a:solidFill>
                  <a:srgbClr val="FFC000"/>
                </a:solidFill>
              </a:rPr>
              <a:t>12:08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8B161CA-9EA9-4D7D-0A6B-7A15461E6F2C}"/>
              </a:ext>
            </a:extLst>
          </p:cNvPr>
          <p:cNvSpPr txBox="1"/>
          <p:nvPr/>
        </p:nvSpPr>
        <p:spPr>
          <a:xfrm>
            <a:off x="6484061" y="4626112"/>
            <a:ext cx="12876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600" dirty="0">
                <a:solidFill>
                  <a:srgbClr val="FF0000"/>
                </a:solidFill>
              </a:rPr>
              <a:t>12:06</a:t>
            </a:r>
          </a:p>
        </p:txBody>
      </p:sp>
      <p:sp>
        <p:nvSpPr>
          <p:cNvPr id="49" name="Arrow: Left-Right 48">
            <a:extLst>
              <a:ext uri="{FF2B5EF4-FFF2-40B4-BE49-F238E27FC236}">
                <a16:creationId xmlns:a16="http://schemas.microsoft.com/office/drawing/2014/main" id="{50E3A666-D1E6-3A7A-CA56-20789CAA6793}"/>
              </a:ext>
            </a:extLst>
          </p:cNvPr>
          <p:cNvSpPr/>
          <p:nvPr/>
        </p:nvSpPr>
        <p:spPr>
          <a:xfrm rot="16200000">
            <a:off x="763556" y="5512130"/>
            <a:ext cx="917085" cy="306824"/>
          </a:xfrm>
          <a:prstGeom prst="leftRightArrow">
            <a:avLst/>
          </a:prstGeom>
          <a:solidFill>
            <a:srgbClr val="00B0F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9" name="Oval 21">
            <a:extLst>
              <a:ext uri="{FF2B5EF4-FFF2-40B4-BE49-F238E27FC236}">
                <a16:creationId xmlns:a16="http://schemas.microsoft.com/office/drawing/2014/main" id="{18928201-EEDD-2F7D-E29A-5CF089B43911}"/>
              </a:ext>
            </a:extLst>
          </p:cNvPr>
          <p:cNvSpPr/>
          <p:nvPr/>
        </p:nvSpPr>
        <p:spPr>
          <a:xfrm>
            <a:off x="3936744" y="5336619"/>
            <a:ext cx="216349" cy="207254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4" name="Arrow: Left-Right 53">
            <a:extLst>
              <a:ext uri="{FF2B5EF4-FFF2-40B4-BE49-F238E27FC236}">
                <a16:creationId xmlns:a16="http://schemas.microsoft.com/office/drawing/2014/main" id="{C37C709D-8634-EE2B-A19C-FC14E8B34200}"/>
              </a:ext>
            </a:extLst>
          </p:cNvPr>
          <p:cNvSpPr/>
          <p:nvPr/>
        </p:nvSpPr>
        <p:spPr>
          <a:xfrm rot="16200000">
            <a:off x="1108481" y="5010721"/>
            <a:ext cx="917085" cy="306824"/>
          </a:xfrm>
          <a:prstGeom prst="leftRightArrow">
            <a:avLst/>
          </a:prstGeom>
          <a:solidFill>
            <a:srgbClr val="00B0F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5" name="Arrow: Left-Right 54">
            <a:extLst>
              <a:ext uri="{FF2B5EF4-FFF2-40B4-BE49-F238E27FC236}">
                <a16:creationId xmlns:a16="http://schemas.microsoft.com/office/drawing/2014/main" id="{22BE0363-9D89-B771-9332-2A465D574F46}"/>
              </a:ext>
            </a:extLst>
          </p:cNvPr>
          <p:cNvSpPr/>
          <p:nvPr/>
        </p:nvSpPr>
        <p:spPr>
          <a:xfrm rot="16200000">
            <a:off x="778655" y="4564120"/>
            <a:ext cx="917085" cy="306824"/>
          </a:xfrm>
          <a:prstGeom prst="leftRightArrow">
            <a:avLst/>
          </a:prstGeom>
          <a:solidFill>
            <a:srgbClr val="00B0F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6" name="Arrow: Left-Right 55">
            <a:extLst>
              <a:ext uri="{FF2B5EF4-FFF2-40B4-BE49-F238E27FC236}">
                <a16:creationId xmlns:a16="http://schemas.microsoft.com/office/drawing/2014/main" id="{B3F724FD-13B3-FCD7-FE01-F7324B72E9CB}"/>
              </a:ext>
            </a:extLst>
          </p:cNvPr>
          <p:cNvSpPr/>
          <p:nvPr/>
        </p:nvSpPr>
        <p:spPr>
          <a:xfrm rot="16200000">
            <a:off x="1096905" y="4105577"/>
            <a:ext cx="917085" cy="306824"/>
          </a:xfrm>
          <a:prstGeom prst="leftRightArrow">
            <a:avLst/>
          </a:prstGeom>
          <a:solidFill>
            <a:srgbClr val="00B0F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7" name="Arrow: Left-Right 56">
            <a:extLst>
              <a:ext uri="{FF2B5EF4-FFF2-40B4-BE49-F238E27FC236}">
                <a16:creationId xmlns:a16="http://schemas.microsoft.com/office/drawing/2014/main" id="{172D9198-5463-6204-D060-5B53942ED79C}"/>
              </a:ext>
            </a:extLst>
          </p:cNvPr>
          <p:cNvSpPr/>
          <p:nvPr/>
        </p:nvSpPr>
        <p:spPr>
          <a:xfrm rot="16200000">
            <a:off x="791814" y="3621711"/>
            <a:ext cx="917085" cy="306824"/>
          </a:xfrm>
          <a:prstGeom prst="leftRightArrow">
            <a:avLst/>
          </a:prstGeom>
          <a:solidFill>
            <a:srgbClr val="00B0F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" name="Oval 36">
            <a:extLst>
              <a:ext uri="{FF2B5EF4-FFF2-40B4-BE49-F238E27FC236}">
                <a16:creationId xmlns:a16="http://schemas.microsoft.com/office/drawing/2014/main" id="{306B35FB-5E4D-924C-8CE1-3633FE852A75}"/>
              </a:ext>
            </a:extLst>
          </p:cNvPr>
          <p:cNvSpPr/>
          <p:nvPr/>
        </p:nvSpPr>
        <p:spPr>
          <a:xfrm>
            <a:off x="8440326" y="5634449"/>
            <a:ext cx="216349" cy="20725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Oval 38">
            <a:extLst>
              <a:ext uri="{FF2B5EF4-FFF2-40B4-BE49-F238E27FC236}">
                <a16:creationId xmlns:a16="http://schemas.microsoft.com/office/drawing/2014/main" id="{DF46E675-F324-E71D-5CA3-F44782D56DEB}"/>
              </a:ext>
            </a:extLst>
          </p:cNvPr>
          <p:cNvSpPr/>
          <p:nvPr/>
        </p:nvSpPr>
        <p:spPr>
          <a:xfrm>
            <a:off x="8923591" y="4929253"/>
            <a:ext cx="216349" cy="207254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TextBox 39">
            <a:extLst>
              <a:ext uri="{FF2B5EF4-FFF2-40B4-BE49-F238E27FC236}">
                <a16:creationId xmlns:a16="http://schemas.microsoft.com/office/drawing/2014/main" id="{C19F1472-7E25-4B8F-11E0-965E76035CBE}"/>
              </a:ext>
            </a:extLst>
          </p:cNvPr>
          <p:cNvSpPr txBox="1"/>
          <p:nvPr/>
        </p:nvSpPr>
        <p:spPr>
          <a:xfrm>
            <a:off x="8688598" y="5096897"/>
            <a:ext cx="12876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600" dirty="0">
                <a:solidFill>
                  <a:srgbClr val="0070C0"/>
                </a:solidFill>
              </a:rPr>
              <a:t>12:02</a:t>
            </a:r>
          </a:p>
        </p:txBody>
      </p:sp>
      <p:sp>
        <p:nvSpPr>
          <p:cNvPr id="6" name="Oval 40">
            <a:extLst>
              <a:ext uri="{FF2B5EF4-FFF2-40B4-BE49-F238E27FC236}">
                <a16:creationId xmlns:a16="http://schemas.microsoft.com/office/drawing/2014/main" id="{AFBCD08A-0E35-FE88-9F9E-2704929B2006}"/>
              </a:ext>
            </a:extLst>
          </p:cNvPr>
          <p:cNvSpPr/>
          <p:nvPr/>
        </p:nvSpPr>
        <p:spPr>
          <a:xfrm>
            <a:off x="9542635" y="3855953"/>
            <a:ext cx="216349" cy="207254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41">
            <a:extLst>
              <a:ext uri="{FF2B5EF4-FFF2-40B4-BE49-F238E27FC236}">
                <a16:creationId xmlns:a16="http://schemas.microsoft.com/office/drawing/2014/main" id="{3C9DF461-A109-5A3B-F3DE-F34D229B1595}"/>
              </a:ext>
            </a:extLst>
          </p:cNvPr>
          <p:cNvSpPr txBox="1"/>
          <p:nvPr/>
        </p:nvSpPr>
        <p:spPr>
          <a:xfrm>
            <a:off x="9305315" y="3985051"/>
            <a:ext cx="12876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600" dirty="0">
                <a:solidFill>
                  <a:srgbClr val="7030A0"/>
                </a:solidFill>
              </a:rPr>
              <a:t>12:13</a:t>
            </a:r>
          </a:p>
        </p:txBody>
      </p:sp>
      <p:cxnSp>
        <p:nvCxnSpPr>
          <p:cNvPr id="11" name="Straight Connector 42">
            <a:extLst>
              <a:ext uri="{FF2B5EF4-FFF2-40B4-BE49-F238E27FC236}">
                <a16:creationId xmlns:a16="http://schemas.microsoft.com/office/drawing/2014/main" id="{721C9B5A-9A02-E5BF-5D02-DC47672ECD26}"/>
              </a:ext>
            </a:extLst>
          </p:cNvPr>
          <p:cNvCxnSpPr/>
          <p:nvPr/>
        </p:nvCxnSpPr>
        <p:spPr>
          <a:xfrm>
            <a:off x="10076721" y="4518251"/>
            <a:ext cx="1774845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43">
            <a:extLst>
              <a:ext uri="{FF2B5EF4-FFF2-40B4-BE49-F238E27FC236}">
                <a16:creationId xmlns:a16="http://schemas.microsoft.com/office/drawing/2014/main" id="{C78F496B-8B10-6163-F7F5-7275F5E0CCD9}"/>
              </a:ext>
            </a:extLst>
          </p:cNvPr>
          <p:cNvSpPr txBox="1"/>
          <p:nvPr/>
        </p:nvSpPr>
        <p:spPr>
          <a:xfrm>
            <a:off x="10076721" y="4246848"/>
            <a:ext cx="12876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600" dirty="0">
                <a:solidFill>
                  <a:schemeClr val="bg1">
                    <a:lumMod val="65000"/>
                  </a:schemeClr>
                </a:solidFill>
              </a:rPr>
              <a:t>WM: 12:08</a:t>
            </a:r>
          </a:p>
        </p:txBody>
      </p:sp>
      <p:cxnSp>
        <p:nvCxnSpPr>
          <p:cNvPr id="14" name="Straight Arrow Connector 44">
            <a:extLst>
              <a:ext uri="{FF2B5EF4-FFF2-40B4-BE49-F238E27FC236}">
                <a16:creationId xmlns:a16="http://schemas.microsoft.com/office/drawing/2014/main" id="{2392EA38-F999-C8C6-8BF2-E845E7733DE2}"/>
              </a:ext>
            </a:extLst>
          </p:cNvPr>
          <p:cNvCxnSpPr/>
          <p:nvPr/>
        </p:nvCxnSpPr>
        <p:spPr>
          <a:xfrm>
            <a:off x="10027074" y="3985610"/>
            <a:ext cx="0" cy="532641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45">
            <a:extLst>
              <a:ext uri="{FF2B5EF4-FFF2-40B4-BE49-F238E27FC236}">
                <a16:creationId xmlns:a16="http://schemas.microsoft.com/office/drawing/2014/main" id="{B16CB957-E586-C148-A89F-EA780B15A9EA}"/>
              </a:ext>
            </a:extLst>
          </p:cNvPr>
          <p:cNvSpPr txBox="1"/>
          <p:nvPr/>
        </p:nvSpPr>
        <p:spPr>
          <a:xfrm>
            <a:off x="9975095" y="3972069"/>
            <a:ext cx="12876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600" dirty="0">
                <a:solidFill>
                  <a:schemeClr val="bg1">
                    <a:lumMod val="65000"/>
                  </a:schemeClr>
                </a:solidFill>
              </a:rPr>
              <a:t>12:13 – 5min</a:t>
            </a:r>
          </a:p>
        </p:txBody>
      </p:sp>
      <p:cxnSp>
        <p:nvCxnSpPr>
          <p:cNvPr id="16" name="Straight Connector 46">
            <a:extLst>
              <a:ext uri="{FF2B5EF4-FFF2-40B4-BE49-F238E27FC236}">
                <a16:creationId xmlns:a16="http://schemas.microsoft.com/office/drawing/2014/main" id="{18D4ED43-BB1A-CD23-4E7F-D029D42BE8BE}"/>
              </a:ext>
            </a:extLst>
          </p:cNvPr>
          <p:cNvCxnSpPr>
            <a:cxnSpLocks/>
          </p:cNvCxnSpPr>
          <p:nvPr/>
        </p:nvCxnSpPr>
        <p:spPr>
          <a:xfrm>
            <a:off x="9758984" y="3985610"/>
            <a:ext cx="268090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AA1B479E-DD06-30F3-EA22-3C02424F61BF}"/>
              </a:ext>
            </a:extLst>
          </p:cNvPr>
          <p:cNvGraphicFramePr>
            <a:graphicFrameLocks noGrp="1"/>
          </p:cNvGraphicFramePr>
          <p:nvPr/>
        </p:nvGraphicFramePr>
        <p:xfrm>
          <a:off x="3346449" y="551587"/>
          <a:ext cx="2473326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6663">
                  <a:extLst>
                    <a:ext uri="{9D8B030D-6E8A-4147-A177-3AD203B41FA5}">
                      <a16:colId xmlns:a16="http://schemas.microsoft.com/office/drawing/2014/main" val="2932132155"/>
                    </a:ext>
                  </a:extLst>
                </a:gridCol>
                <a:gridCol w="1236663">
                  <a:extLst>
                    <a:ext uri="{9D8B030D-6E8A-4147-A177-3AD203B41FA5}">
                      <a16:colId xmlns:a16="http://schemas.microsoft.com/office/drawing/2014/main" val="36646229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dirty="0" err="1"/>
                        <a:t>SensorID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Event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689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00B050"/>
                          </a:solidFill>
                        </a:rPr>
                        <a:t>Id1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00B050"/>
                          </a:solidFill>
                        </a:rPr>
                        <a:t>11:54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095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0070C0"/>
                          </a:solidFill>
                        </a:rPr>
                        <a:t>Id1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0070C0"/>
                          </a:solidFill>
                        </a:rPr>
                        <a:t>12:02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238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7030A0"/>
                          </a:solidFill>
                        </a:rPr>
                        <a:t>Id1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7030A0"/>
                          </a:solidFill>
                        </a:rPr>
                        <a:t>12:13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955645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C2C99A39-EAF4-2553-8D3D-8B2987493CD8}"/>
              </a:ext>
            </a:extLst>
          </p:cNvPr>
          <p:cNvSpPr txBox="1"/>
          <p:nvPr/>
        </p:nvSpPr>
        <p:spPr>
          <a:xfrm>
            <a:off x="3520735" y="213241"/>
            <a:ext cx="2062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From 12:10 – 12:15</a:t>
            </a:r>
          </a:p>
        </p:txBody>
      </p:sp>
      <p:sp>
        <p:nvSpPr>
          <p:cNvPr id="27" name="TextBox 37">
            <a:extLst>
              <a:ext uri="{FF2B5EF4-FFF2-40B4-BE49-F238E27FC236}">
                <a16:creationId xmlns:a16="http://schemas.microsoft.com/office/drawing/2014/main" id="{63CCD90F-77A1-F336-DA7C-E5FC6A5EEAC0}"/>
              </a:ext>
            </a:extLst>
          </p:cNvPr>
          <p:cNvSpPr txBox="1"/>
          <p:nvPr/>
        </p:nvSpPr>
        <p:spPr>
          <a:xfrm>
            <a:off x="8205333" y="5802093"/>
            <a:ext cx="12876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600" dirty="0">
                <a:solidFill>
                  <a:srgbClr val="00B050"/>
                </a:solidFill>
              </a:rPr>
              <a:t>11:54</a:t>
            </a:r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79650812-81E2-BEBA-2EDF-8B69E743537A}"/>
              </a:ext>
            </a:extLst>
          </p:cNvPr>
          <p:cNvSpPr/>
          <p:nvPr/>
        </p:nvSpPr>
        <p:spPr>
          <a:xfrm>
            <a:off x="8440326" y="5635550"/>
            <a:ext cx="216349" cy="20725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4" name="TextBox 37">
            <a:extLst>
              <a:ext uri="{FF2B5EF4-FFF2-40B4-BE49-F238E27FC236}">
                <a16:creationId xmlns:a16="http://schemas.microsoft.com/office/drawing/2014/main" id="{ECA9206D-A1D1-2A2F-3A86-B5EE83444FE8}"/>
              </a:ext>
            </a:extLst>
          </p:cNvPr>
          <p:cNvSpPr txBox="1"/>
          <p:nvPr/>
        </p:nvSpPr>
        <p:spPr>
          <a:xfrm>
            <a:off x="8205333" y="5803194"/>
            <a:ext cx="12876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600" dirty="0">
                <a:solidFill>
                  <a:schemeClr val="bg1">
                    <a:lumMod val="75000"/>
                  </a:schemeClr>
                </a:solidFill>
              </a:rPr>
              <a:t>11:54</a:t>
            </a:r>
          </a:p>
        </p:txBody>
      </p:sp>
      <p:sp>
        <p:nvSpPr>
          <p:cNvPr id="37" name="Arrow: Left-Right 36">
            <a:extLst>
              <a:ext uri="{FF2B5EF4-FFF2-40B4-BE49-F238E27FC236}">
                <a16:creationId xmlns:a16="http://schemas.microsoft.com/office/drawing/2014/main" id="{3FAC43AF-78D3-BDCC-E4A8-03496038AD75}"/>
              </a:ext>
            </a:extLst>
          </p:cNvPr>
          <p:cNvSpPr/>
          <p:nvPr/>
        </p:nvSpPr>
        <p:spPr>
          <a:xfrm rot="16200000">
            <a:off x="768783" y="5512130"/>
            <a:ext cx="917085" cy="306824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6661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C45A3-BFB6-2741-4B13-64083962A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99C25-BCEA-D83B-7888-69D888F26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26627" cy="4351338"/>
          </a:xfrm>
        </p:spPr>
        <p:txBody>
          <a:bodyPr>
            <a:normAutofit/>
          </a:bodyPr>
          <a:lstStyle/>
          <a:p>
            <a:r>
              <a:rPr lang="en-US" dirty="0"/>
              <a:t>Watermark = max event time (before 12:10) – watermark delay = 12:08 – 5 min = 12:03</a:t>
            </a:r>
          </a:p>
          <a:p>
            <a:r>
              <a:rPr lang="en-US" dirty="0"/>
              <a:t>Therefore, intermediate state for 11:50-12:00 is dropped as watermark (12:03) &gt; 12:00. The 11:50-12:00 entry will not be updated, and the rest entries are updated accordingly. </a:t>
            </a:r>
          </a:p>
          <a:p>
            <a:r>
              <a:rPr lang="en-US" dirty="0"/>
              <a:t>Note: the intermediate state 11:55-12:05 is NOT dropped as watermark (12:03) &lt; 12:05, there may still be events from 12:03 to </a:t>
            </a:r>
            <a:r>
              <a:rPr lang="en-US"/>
              <a:t>12:05 that </a:t>
            </a:r>
            <a:r>
              <a:rPr lang="en-US" dirty="0"/>
              <a:t>need to be recorded. </a:t>
            </a:r>
          </a:p>
          <a:p>
            <a:endParaRPr lang="en-S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37BCB2-4626-85A4-FBFC-54B973E4ACF6}"/>
              </a:ext>
            </a:extLst>
          </p:cNvPr>
          <p:cNvSpPr txBox="1"/>
          <p:nvPr/>
        </p:nvSpPr>
        <p:spPr>
          <a:xfrm>
            <a:off x="8922417" y="658574"/>
            <a:ext cx="2062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dirty="0"/>
              <a:t>Result Table (12:15)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4E64949-8D6F-E26C-D930-950A13B542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154206"/>
              </p:ext>
            </p:extLst>
          </p:nvPr>
        </p:nvGraphicFramePr>
        <p:xfrm>
          <a:off x="8446506" y="1032522"/>
          <a:ext cx="280060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7775">
                  <a:extLst>
                    <a:ext uri="{9D8B030D-6E8A-4147-A177-3AD203B41FA5}">
                      <a16:colId xmlns:a16="http://schemas.microsoft.com/office/drawing/2014/main" val="2932132155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3664622994"/>
                    </a:ext>
                  </a:extLst>
                </a:gridCol>
                <a:gridCol w="657479">
                  <a:extLst>
                    <a:ext uri="{9D8B030D-6E8A-4147-A177-3AD203B41FA5}">
                      <a16:colId xmlns:a16="http://schemas.microsoft.com/office/drawing/2014/main" val="9984193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sz="1400" dirty="0"/>
                        <a:t>Event 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 err="1"/>
                        <a:t>SensorID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/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689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11:55-12:05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Id1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SG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238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12:00-12:10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Id1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SG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955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12:05-12:15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Id1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SG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586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/>
                          </a:solidFill>
                        </a:rPr>
                        <a:t>12:10-12:20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id1</a:t>
                      </a:r>
                      <a:endParaRPr lang="en-SG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SG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23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4098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670</Words>
  <Application>Microsoft Office PowerPoint</Application>
  <PresentationFormat>Widescreen</PresentationFormat>
  <Paragraphs>218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MinionPro-Regular</vt:lpstr>
      <vt:lpstr>Arial</vt:lpstr>
      <vt:lpstr>Calibri</vt:lpstr>
      <vt:lpstr>Calibri Light</vt:lpstr>
      <vt:lpstr>Office Theme</vt:lpstr>
      <vt:lpstr>CS4225/CS5425 Big Data Systems for Data Science</vt:lpstr>
      <vt:lpstr>Question 1</vt:lpstr>
      <vt:lpstr>PowerPoint Presentation</vt:lpstr>
      <vt:lpstr>Question 2</vt:lpstr>
      <vt:lpstr>PowerPoint Presentation</vt:lpstr>
      <vt:lpstr>Question 3</vt:lpstr>
      <vt:lpstr>Question 3</vt:lpstr>
      <vt:lpstr>Question 3</vt:lpstr>
      <vt:lpstr>PowerPoint Presentation</vt:lpstr>
      <vt:lpstr>PowerPoint Presentation</vt:lpstr>
      <vt:lpstr>PowerPoint Presentation</vt:lpstr>
      <vt:lpstr>Question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Goh Teck Lun</dc:creator>
  <cp:lastModifiedBy>Lau Chee Loong, Desmond</cp:lastModifiedBy>
  <cp:revision>110</cp:revision>
  <dcterms:created xsi:type="dcterms:W3CDTF">2023-10-23T07:57:24Z</dcterms:created>
  <dcterms:modified xsi:type="dcterms:W3CDTF">2026-03-26T08:21:23Z</dcterms:modified>
</cp:coreProperties>
</file>