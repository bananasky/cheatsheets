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8" r:id="rId6"/>
    <p:sldId id="264" r:id="rId7"/>
    <p:sldId id="265" r:id="rId8"/>
    <p:sldId id="263" r:id="rId9"/>
    <p:sldId id="259" r:id="rId10"/>
    <p:sldId id="260" r:id="rId11"/>
    <p:sldId id="261" r:id="rId12"/>
    <p:sldId id="270" r:id="rId13"/>
    <p:sldId id="271" r:id="rId14"/>
    <p:sldId id="272" r:id="rId15"/>
    <p:sldId id="273" r:id="rId16"/>
    <p:sldId id="275" r:id="rId17"/>
    <p:sldId id="27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5" d="100"/>
          <a:sy n="65" d="100"/>
        </p:scale>
        <p:origin x="67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E7B63-6BBA-1A56-93F4-BCCAB132C5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22463B-C07F-1124-E70E-6FE957B39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7C72D-9257-2ED1-796D-D5F1F74D9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4D8F1-B301-4E8A-A9BE-A068CA41F6FD}" type="datetimeFigureOut">
              <a:rPr lang="en-SG" smtClean="0"/>
              <a:t>19/3/2026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75DB9-8A97-8365-ADBF-B99ED2821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B06A3-781B-9231-4C65-F269BE2A3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3F78-924C-40FE-9A35-D0A186DD9E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42378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318EE-853A-DE95-6821-6143B655F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5B62E-4B75-5DBD-CE5F-5576F3A3F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681E5-AFF6-7419-9982-CB37E698E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4D8F1-B301-4E8A-A9BE-A068CA41F6FD}" type="datetimeFigureOut">
              <a:rPr lang="en-SG" smtClean="0"/>
              <a:t>19/3/2026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95EFE-06B7-5311-C2A6-5FB197414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51A78-BCCC-EFC5-E251-A934043B6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3F78-924C-40FE-9A35-D0A186DD9E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92199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7609E-7FE0-FB4D-8FAD-2047058B1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3542DA-8E68-1037-FA3F-49E5B3D80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EED7D-2D9B-3C10-D6D2-8E3BD07E7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4D8F1-B301-4E8A-A9BE-A068CA41F6FD}" type="datetimeFigureOut">
              <a:rPr lang="en-SG" smtClean="0"/>
              <a:t>19/3/2026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09160-120A-5FB4-34A3-12CAE6ED7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0A247-E389-10E5-CD4A-9BC367983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3F78-924C-40FE-9A35-D0A186DD9E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25591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1F1DB-8228-884F-8C52-AF28C890A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C9820-6FCB-F109-6A29-4307F01507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61820A-CEE7-DE56-2D9A-CCF29B9FE3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77D2F4-0F7D-4DE2-7E36-FB06D1381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4D8F1-B301-4E8A-A9BE-A068CA41F6FD}" type="datetimeFigureOut">
              <a:rPr lang="en-SG" smtClean="0"/>
              <a:t>19/3/2026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B6319-20C3-B6D9-C7F5-0F20B03EC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BC7E6-D38C-9CED-6DA1-C5CDEA02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3F78-924C-40FE-9A35-D0A186DD9E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06118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25C56-1D3D-F6F1-EC70-8AB4BE9B1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67E3A-6E1A-B261-8D3F-B19DB5B9D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0DCC2B-48B6-08DD-151D-CFE7D5BD18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84AB13-8DFB-22FA-7E6D-9F0D56B708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57B835-8C78-A6F1-7A05-F3B63672EC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B66BDF-6032-88CE-977D-3F38E01B0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4D8F1-B301-4E8A-A9BE-A068CA41F6FD}" type="datetimeFigureOut">
              <a:rPr lang="en-SG" smtClean="0"/>
              <a:t>19/3/2026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769E48-FD0B-08CC-D615-5E2FCD161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842CF2-8EDF-BB37-FE5C-1D1BBD787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3F78-924C-40FE-9A35-D0A186DD9E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22418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CB709-37DD-45BA-2216-06CC18042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AC0E8D-2688-FE0A-29FE-48FE987BB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4D8F1-B301-4E8A-A9BE-A068CA41F6FD}" type="datetimeFigureOut">
              <a:rPr lang="en-SG" smtClean="0"/>
              <a:t>19/3/2026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A984BB-48B1-9D95-97E5-CA5271849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692895-63DA-A8C9-E835-4B9FF8912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3F78-924C-40FE-9A35-D0A186DD9E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2804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61EAB5-C106-D427-A177-08DC7A6D0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4D8F1-B301-4E8A-A9BE-A068CA41F6FD}" type="datetimeFigureOut">
              <a:rPr lang="en-SG" smtClean="0"/>
              <a:t>19/3/2026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69BE0E-6376-8845-5964-9AF530C33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C34FBD-B38F-36E6-6630-4616785D3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3F78-924C-40FE-9A35-D0A186DD9E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30930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B1369-505E-E462-F4B4-4C5D759CE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1FB3D-698A-5ED2-4089-2234BEF26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F4BB7B-B859-9E2A-4227-322B84D39C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242560-CE7E-4FC8-EDE7-0CA6C602D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4D8F1-B301-4E8A-A9BE-A068CA41F6FD}" type="datetimeFigureOut">
              <a:rPr lang="en-SG" smtClean="0"/>
              <a:t>19/3/2026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3AA65-40FF-1FEE-9610-DEB0F2AD9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8032E4-1BEF-C612-AF76-5E14EDC48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3F78-924C-40FE-9A35-D0A186DD9E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18024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822C1-8310-91E0-43F2-0F387A6D4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1B624E-A242-6E36-E164-654C0D0D7D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119C4-354B-B7C5-4ABF-34247C5330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338714-DB73-B668-C068-CB10A7844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4D8F1-B301-4E8A-A9BE-A068CA41F6FD}" type="datetimeFigureOut">
              <a:rPr lang="en-SG" smtClean="0"/>
              <a:t>19/3/2026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E2AAB8-D67D-B6A6-E958-D47A1856D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0F53D-C2F8-10B0-856C-FE5FA960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3F78-924C-40FE-9A35-D0A186DD9E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58923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46FC1-5F95-95E9-C706-77D4DB958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8A5E87-964B-7CF4-2394-586B516518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7A4BC-FCB3-F133-7642-D9EBD73FA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4D8F1-B301-4E8A-A9BE-A068CA41F6FD}" type="datetimeFigureOut">
              <a:rPr lang="en-SG" smtClean="0"/>
              <a:t>19/3/2026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10298-08AE-89AB-77A5-5EEE8B440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9B928-B37B-1A39-9F5B-2629D84A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3F78-924C-40FE-9A35-D0A186DD9E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924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BA3B7B-FDF2-6CB5-7330-E6727AC5DD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3AD996-8A5E-983D-221D-A58C6A14D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87C58-783D-B9A0-CAE2-1FAE3AFA1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4D8F1-B301-4E8A-A9BE-A068CA41F6FD}" type="datetimeFigureOut">
              <a:rPr lang="en-SG" smtClean="0"/>
              <a:t>19/3/2026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F578F-AE6F-705D-61C9-9320421DC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94E2B-8C1C-3693-92EC-25CFE2DDE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3F78-924C-40FE-9A35-D0A186DD9E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40389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A76E71-A511-8EB6-0781-9D1B45F45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312F56-8664-55CC-5653-ED5FB66FC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47BFE-B0FB-FD54-5579-128EB312B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04D8F1-B301-4E8A-A9BE-A068CA41F6FD}" type="datetimeFigureOut">
              <a:rPr lang="en-SG" smtClean="0"/>
              <a:t>19/3/2026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93C74-90D2-96FC-40B1-3DF1912A6D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A3114-7A93-821E-25B5-C6B5B0C874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013F78-924C-40FE-9A35-D0A186DD9E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05168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6843E-D48D-4F5A-8859-B8EE2D2FBF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07256"/>
            <a:ext cx="9144000" cy="1851820"/>
          </a:xfrm>
        </p:spPr>
        <p:txBody>
          <a:bodyPr/>
          <a:lstStyle/>
          <a:p>
            <a:r>
              <a:rPr lang="en-SG" b="1" dirty="0"/>
              <a:t>CS4225/CS5425 Big Data Systems for Data Science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BD3E95-D5D2-A5BD-C3C7-11AAF11454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94807"/>
            <a:ext cx="9144000" cy="3055937"/>
          </a:xfrm>
        </p:spPr>
        <p:txBody>
          <a:bodyPr>
            <a:normAutofit fontScale="92500" lnSpcReduction="10000"/>
          </a:bodyPr>
          <a:lstStyle/>
          <a:p>
            <a:r>
              <a:rPr lang="en-SG" sz="3900"/>
              <a:t>Tutorial 2 </a:t>
            </a:r>
            <a:r>
              <a:rPr lang="en-SG" sz="3900" dirty="0"/>
              <a:t>Answers</a:t>
            </a:r>
          </a:p>
          <a:p>
            <a:endParaRPr lang="en-SG" sz="3200" dirty="0"/>
          </a:p>
          <a:p>
            <a:pPr algn="ctr" eaLnBrk="1" hangingPunct="1"/>
            <a:r>
              <a:rPr lang="en-US" sz="3000" dirty="0">
                <a:latin typeface="+mj-lt"/>
              </a:rPr>
              <a:t>Desmond Lau</a:t>
            </a:r>
          </a:p>
          <a:p>
            <a:pPr algn="ctr" eaLnBrk="1" hangingPunct="1"/>
            <a:r>
              <a:rPr lang="en-US" sz="3000" dirty="0">
                <a:latin typeface="+mj-lt"/>
              </a:rPr>
              <a:t>School of Computing</a:t>
            </a:r>
          </a:p>
          <a:p>
            <a:pPr algn="ctr" eaLnBrk="1" hangingPunct="1"/>
            <a:r>
              <a:rPr lang="en-US" sz="3000" dirty="0">
                <a:latin typeface="+mj-lt"/>
              </a:rPr>
              <a:t>National University of Singapore</a:t>
            </a:r>
          </a:p>
          <a:p>
            <a:pPr algn="ctr" eaLnBrk="1" hangingPunct="1"/>
            <a:r>
              <a:rPr lang="en-SG" sz="3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dlau@nus.edu.sg</a:t>
            </a:r>
            <a:endParaRPr lang="en-SG" sz="3000" dirty="0"/>
          </a:p>
        </p:txBody>
      </p:sp>
    </p:spTree>
    <p:extLst>
      <p:ext uri="{BB962C8B-B14F-4D97-AF65-F5344CB8AC3E}">
        <p14:creationId xmlns:p14="http://schemas.microsoft.com/office/powerpoint/2010/main" val="514876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68A76-FBAE-56B4-3692-BF4E84130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B906E-2D60-F0C9-ECD5-A5E5AA566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Why is Spark more suitable for iterative processing compared to Hadoop?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D571AB-BF25-9E40-31C2-33D2556F9D6E}"/>
              </a:ext>
            </a:extLst>
          </p:cNvPr>
          <p:cNvSpPr txBox="1"/>
          <p:nvPr/>
        </p:nvSpPr>
        <p:spPr>
          <a:xfrm>
            <a:off x="1091622" y="3216464"/>
            <a:ext cx="452336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Spark stores most of its intermediate results in memory, making it much faster, especially for iterative processing. </a:t>
            </a:r>
            <a:endParaRPr lang="en-SG" sz="2400" dirty="0">
              <a:solidFill>
                <a:srgbClr val="00B050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6F224E9-1B5A-1304-D1BD-7F9CCDAF411B}"/>
              </a:ext>
            </a:extLst>
          </p:cNvPr>
          <p:cNvGrpSpPr/>
          <p:nvPr/>
        </p:nvGrpSpPr>
        <p:grpSpPr>
          <a:xfrm>
            <a:off x="5524475" y="2737466"/>
            <a:ext cx="5195524" cy="3317910"/>
            <a:chOff x="5524475" y="2737466"/>
            <a:chExt cx="5195524" cy="331791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EE2D266-19EE-CB51-CCAA-F01AA12980FA}"/>
                </a:ext>
              </a:extLst>
            </p:cNvPr>
            <p:cNvSpPr txBox="1"/>
            <p:nvPr/>
          </p:nvSpPr>
          <p:spPr>
            <a:xfrm>
              <a:off x="7195997" y="5686044"/>
              <a:ext cx="18524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SG" b="1" dirty="0"/>
                <a:t>Lecture 7 - Slide 5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B8A525A-CF50-27F8-689A-E1AE1F7204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24475" y="2737466"/>
              <a:ext cx="5195524" cy="29485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330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FD524-AA4E-CAE2-C60A-057DEF6BD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745AF-B9BB-8DF6-1438-F3E456BA4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below spark code block, please indicate which lines are transformation and which lines are action. For transformation, please also indicate whether it is a narrow transformation or wide transformation.</a:t>
            </a:r>
            <a:endParaRPr lang="en-SG" dirty="0"/>
          </a:p>
        </p:txBody>
      </p:sp>
      <p:pic>
        <p:nvPicPr>
          <p:cNvPr id="4" name="Picture 3" descr="Text, letter&#10;&#10;Description automatically generated">
            <a:extLst>
              <a:ext uri="{FF2B5EF4-FFF2-40B4-BE49-F238E27FC236}">
                <a16:creationId xmlns:a16="http://schemas.microsoft.com/office/drawing/2014/main" id="{2B784044-7EF5-40ED-A93D-651F64E85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904" y="3573921"/>
            <a:ext cx="5670882" cy="172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297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F4256A6-01F6-7E3F-4867-5CD107AD31F3}"/>
              </a:ext>
            </a:extLst>
          </p:cNvPr>
          <p:cNvGrpSpPr/>
          <p:nvPr/>
        </p:nvGrpSpPr>
        <p:grpSpPr>
          <a:xfrm>
            <a:off x="2787788" y="840272"/>
            <a:ext cx="6616424" cy="5177456"/>
            <a:chOff x="2787788" y="840272"/>
            <a:chExt cx="6616424" cy="517745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28965A3-E361-1C72-B548-39C7798EE2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87788" y="840272"/>
              <a:ext cx="6616424" cy="4871366"/>
            </a:xfrm>
            <a:prstGeom prst="rect">
              <a:avLst/>
            </a:prstGeom>
          </p:spPr>
        </p:pic>
        <p:sp>
          <p:nvSpPr>
            <p:cNvPr id="7" name="TextBox 12">
              <a:extLst>
                <a:ext uri="{FF2B5EF4-FFF2-40B4-BE49-F238E27FC236}">
                  <a16:creationId xmlns:a16="http://schemas.microsoft.com/office/drawing/2014/main" id="{BEE7200A-403F-358D-E57E-CA56D92EAF04}"/>
                </a:ext>
              </a:extLst>
            </p:cNvPr>
            <p:cNvSpPr txBox="1"/>
            <p:nvPr/>
          </p:nvSpPr>
          <p:spPr>
            <a:xfrm>
              <a:off x="5110506" y="5648396"/>
              <a:ext cx="197098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SG" b="1" dirty="0"/>
                <a:t>Lecture 7 - Slide 15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02205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3911E8F-D532-C0A6-16FC-287BBCE7A6CE}"/>
              </a:ext>
            </a:extLst>
          </p:cNvPr>
          <p:cNvGrpSpPr/>
          <p:nvPr/>
        </p:nvGrpSpPr>
        <p:grpSpPr>
          <a:xfrm>
            <a:off x="2671896" y="899689"/>
            <a:ext cx="6848207" cy="5058622"/>
            <a:chOff x="2671896" y="899689"/>
            <a:chExt cx="6848207" cy="505862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3020545-7E6E-CB2F-FDEF-02C25F757B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71896" y="899689"/>
              <a:ext cx="6848207" cy="4668634"/>
            </a:xfrm>
            <a:prstGeom prst="rect">
              <a:avLst/>
            </a:prstGeom>
          </p:spPr>
        </p:pic>
        <p:sp>
          <p:nvSpPr>
            <p:cNvPr id="9" name="TextBox 12">
              <a:extLst>
                <a:ext uri="{FF2B5EF4-FFF2-40B4-BE49-F238E27FC236}">
                  <a16:creationId xmlns:a16="http://schemas.microsoft.com/office/drawing/2014/main" id="{0702C6D6-3062-D4A8-B918-FD009AFD9799}"/>
                </a:ext>
              </a:extLst>
            </p:cNvPr>
            <p:cNvSpPr txBox="1"/>
            <p:nvPr/>
          </p:nvSpPr>
          <p:spPr>
            <a:xfrm>
              <a:off x="5109074" y="5588979"/>
              <a:ext cx="19738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SG" b="1" dirty="0"/>
                <a:t>Lecture 7 - Slide 16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57924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FD524-AA4E-CAE2-C60A-057DEF6BD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745AF-B9BB-8DF6-1438-F3E456BA4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below spark code block, please indicate which lines are transformation and which lines are action. For transformation, please also indicate whether it is a narrow transformation or wide transformation.</a:t>
            </a:r>
            <a:endParaRPr lang="en-SG" dirty="0"/>
          </a:p>
        </p:txBody>
      </p:sp>
      <p:pic>
        <p:nvPicPr>
          <p:cNvPr id="4" name="Picture 3" descr="Text, letter&#10;&#10;Description automatically generated">
            <a:extLst>
              <a:ext uri="{FF2B5EF4-FFF2-40B4-BE49-F238E27FC236}">
                <a16:creationId xmlns:a16="http://schemas.microsoft.com/office/drawing/2014/main" id="{2B784044-7EF5-40ED-A93D-651F64E85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904" y="3573921"/>
            <a:ext cx="5670882" cy="17251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196932-1866-BAE8-B17B-F8ACC175435C}"/>
              </a:ext>
            </a:extLst>
          </p:cNvPr>
          <p:cNvSpPr txBox="1"/>
          <p:nvPr/>
        </p:nvSpPr>
        <p:spPr>
          <a:xfrm>
            <a:off x="7535786" y="3612979"/>
            <a:ext cx="412786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Line 1: </a:t>
            </a: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Transformation </a:t>
            </a:r>
          </a:p>
          <a:p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Line 2: Transformation</a:t>
            </a:r>
          </a:p>
          <a:p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Line 3: Transformation</a:t>
            </a:r>
          </a:p>
          <a:p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Line 4: Action</a:t>
            </a:r>
            <a:endParaRPr lang="en-SG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5235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04022E-87A0-E004-BC68-C173BD5E81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2033" y="593297"/>
            <a:ext cx="7247925" cy="5268137"/>
          </a:xfrm>
        </p:spPr>
      </p:pic>
      <p:sp>
        <p:nvSpPr>
          <p:cNvPr id="6" name="TextBox 12">
            <a:extLst>
              <a:ext uri="{FF2B5EF4-FFF2-40B4-BE49-F238E27FC236}">
                <a16:creationId xmlns:a16="http://schemas.microsoft.com/office/drawing/2014/main" id="{1E0CAB3C-B369-FB5C-5240-23E16013E578}"/>
              </a:ext>
            </a:extLst>
          </p:cNvPr>
          <p:cNvSpPr txBox="1"/>
          <p:nvPr/>
        </p:nvSpPr>
        <p:spPr>
          <a:xfrm>
            <a:off x="4993816" y="5861434"/>
            <a:ext cx="22043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b="1" dirty="0"/>
              <a:t>Lecture 7 - Slide 36</a:t>
            </a:r>
          </a:p>
        </p:txBody>
      </p:sp>
    </p:spTree>
    <p:extLst>
      <p:ext uri="{BB962C8B-B14F-4D97-AF65-F5344CB8AC3E}">
        <p14:creationId xmlns:p14="http://schemas.microsoft.com/office/powerpoint/2010/main" val="949926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FD524-AA4E-CAE2-C60A-057DEF6BD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745AF-B9BB-8DF6-1438-F3E456BA4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below spark code block, please indicate which lines are transformation and which lines are action. For transformation, please also indicate whether it is a narrow transformation or wide transformation.</a:t>
            </a:r>
            <a:endParaRPr lang="en-SG" dirty="0"/>
          </a:p>
        </p:txBody>
      </p:sp>
      <p:pic>
        <p:nvPicPr>
          <p:cNvPr id="4" name="Picture 3" descr="Text, letter&#10;&#10;Description automatically generated">
            <a:extLst>
              <a:ext uri="{FF2B5EF4-FFF2-40B4-BE49-F238E27FC236}">
                <a16:creationId xmlns:a16="http://schemas.microsoft.com/office/drawing/2014/main" id="{2B784044-7EF5-40ED-A93D-651F64E85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904" y="3573921"/>
            <a:ext cx="5670882" cy="17251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196932-1866-BAE8-B17B-F8ACC175435C}"/>
              </a:ext>
            </a:extLst>
          </p:cNvPr>
          <p:cNvSpPr txBox="1"/>
          <p:nvPr/>
        </p:nvSpPr>
        <p:spPr>
          <a:xfrm>
            <a:off x="7535786" y="3612979"/>
            <a:ext cx="412786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Line 1: </a:t>
            </a: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Narrow Transformation </a:t>
            </a:r>
          </a:p>
          <a:p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Line 2: Narrow Transformation</a:t>
            </a:r>
          </a:p>
          <a:p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Line 3: Wide Transformation</a:t>
            </a:r>
          </a:p>
          <a:p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Line 4: Action</a:t>
            </a:r>
            <a:endParaRPr lang="en-SG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71256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AA1BC-DB35-9CE9-29A2-596B72693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2CEFA-FA5F-82B4-2659-D387C2F64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9238"/>
            <a:ext cx="10515600" cy="4727725"/>
          </a:xfrm>
        </p:spPr>
        <p:txBody>
          <a:bodyPr/>
          <a:lstStyle/>
          <a:p>
            <a:r>
              <a:rPr lang="en-US" dirty="0"/>
              <a:t>In HDFS, each chunk is replicated three times by default. In contrast, in Spark, RDD uses lineage for reliability. What is a major problem if Spark also uses replications for reliability? </a:t>
            </a:r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6BC015-25C2-270F-3679-43A22544000F}"/>
              </a:ext>
            </a:extLst>
          </p:cNvPr>
          <p:cNvSpPr txBox="1"/>
          <p:nvPr/>
        </p:nvSpPr>
        <p:spPr>
          <a:xfrm>
            <a:off x="1545625" y="3813100"/>
            <a:ext cx="37030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Consumes a lot of memory; memory is much scarcer than disk space</a:t>
            </a:r>
            <a:endParaRPr lang="en-SG" sz="2400" dirty="0">
              <a:solidFill>
                <a:srgbClr val="00B050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735B1AB-168A-6168-47AA-025D6E565FA2}"/>
              </a:ext>
            </a:extLst>
          </p:cNvPr>
          <p:cNvGrpSpPr/>
          <p:nvPr/>
        </p:nvGrpSpPr>
        <p:grpSpPr>
          <a:xfrm>
            <a:off x="5956136" y="2793683"/>
            <a:ext cx="4931988" cy="3752612"/>
            <a:chOff x="5956136" y="2793683"/>
            <a:chExt cx="4931988" cy="375261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531DC56-FF46-2C63-0492-C49AF13368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2550" b="5047"/>
            <a:stretch/>
          </p:blipFill>
          <p:spPr>
            <a:xfrm>
              <a:off x="5956136" y="2793683"/>
              <a:ext cx="4931988" cy="3383280"/>
            </a:xfrm>
            <a:prstGeom prst="rect">
              <a:avLst/>
            </a:prstGeom>
          </p:spPr>
        </p:pic>
        <p:sp>
          <p:nvSpPr>
            <p:cNvPr id="8" name="TextBox 12">
              <a:extLst>
                <a:ext uri="{FF2B5EF4-FFF2-40B4-BE49-F238E27FC236}">
                  <a16:creationId xmlns:a16="http://schemas.microsoft.com/office/drawing/2014/main" id="{5AE25F9B-E19F-7A07-19A1-67AF2867B74D}"/>
                </a:ext>
              </a:extLst>
            </p:cNvPr>
            <p:cNvSpPr txBox="1"/>
            <p:nvPr/>
          </p:nvSpPr>
          <p:spPr>
            <a:xfrm>
              <a:off x="7670869" y="6176963"/>
              <a:ext cx="197346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SG" b="1" dirty="0"/>
                <a:t>Lecture 7 - Slide 37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04032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3F6FC-7D36-9789-B010-1DEF6B5CF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75541-8EC5-0B2A-28C6-683B762AF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it true </a:t>
            </a:r>
            <a:r>
              <a:rPr lang="en-US"/>
              <a:t>that in </a:t>
            </a:r>
            <a:r>
              <a:rPr lang="en-US" dirty="0"/>
              <a:t>Spark runtime, RDD cannot reside in the hard disk?</a:t>
            </a:r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8C9F91-259A-D48E-695C-CE9E7259F0F3}"/>
              </a:ext>
            </a:extLst>
          </p:cNvPr>
          <p:cNvSpPr txBox="1"/>
          <p:nvPr/>
        </p:nvSpPr>
        <p:spPr>
          <a:xfrm>
            <a:off x="1472001" y="3611590"/>
            <a:ext cx="30136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</a:rPr>
              <a:t>False. RDD can also be stored on disk if memory runs out</a:t>
            </a:r>
            <a:endParaRPr lang="en-SG" sz="2400" dirty="0">
              <a:solidFill>
                <a:srgbClr val="00B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E531D8-8B4A-7942-EEF3-67A5A54CFC58}"/>
              </a:ext>
            </a:extLst>
          </p:cNvPr>
          <p:cNvSpPr txBox="1"/>
          <p:nvPr/>
        </p:nvSpPr>
        <p:spPr>
          <a:xfrm>
            <a:off x="7195997" y="5686044"/>
            <a:ext cx="1852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b="1" dirty="0"/>
              <a:t>Lecture 7 - Slide 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8AB1FC-D841-07B7-C540-DC027AB06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475" y="2737466"/>
            <a:ext cx="5195524" cy="294857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615278C-AD79-D7E7-7899-423F576A30FA}"/>
              </a:ext>
            </a:extLst>
          </p:cNvPr>
          <p:cNvSpPr/>
          <p:nvPr/>
        </p:nvSpPr>
        <p:spPr>
          <a:xfrm>
            <a:off x="6026990" y="5452188"/>
            <a:ext cx="3088256" cy="233856"/>
          </a:xfrm>
          <a:prstGeom prst="roundRect">
            <a:avLst/>
          </a:prstGeom>
          <a:solidFill>
            <a:srgbClr val="92D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42459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89CBF-25A3-DD9F-01B3-B78737B59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886"/>
            <a:ext cx="10515600" cy="113006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On a certain large Spark cluster, Rose creates a data frame named </a:t>
            </a:r>
            <a:r>
              <a:rPr lang="en-US" b="1" dirty="0" err="1"/>
              <a:t>traceA</a:t>
            </a:r>
            <a:r>
              <a:rPr lang="en-US" dirty="0"/>
              <a:t>, and writes the shown program to process the trace. </a:t>
            </a:r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04A7A1-D81F-5BC1-35DD-5EE748200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072" y="2725947"/>
            <a:ext cx="8811855" cy="308653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26B0258-A9A7-118B-76E8-5216B27DF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SG" b="1" dirty="0"/>
              <a:t>Question 5</a:t>
            </a:r>
          </a:p>
        </p:txBody>
      </p:sp>
    </p:spTree>
    <p:extLst>
      <p:ext uri="{BB962C8B-B14F-4D97-AF65-F5344CB8AC3E}">
        <p14:creationId xmlns:p14="http://schemas.microsoft.com/office/powerpoint/2010/main" val="2534924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24A2B-C16E-66CC-700F-4BE91EC88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93A87-D553-6334-CBCD-C0EA3DC8A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886"/>
            <a:ext cx="10515600" cy="152687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 err="1"/>
              <a:t>traceA</a:t>
            </a:r>
            <a:r>
              <a:rPr lang="en-US" b="1" dirty="0"/>
              <a:t> </a:t>
            </a:r>
            <a:r>
              <a:rPr lang="en-US" dirty="0"/>
              <a:t>data frame keeps the logs, and each log entry represents the log information of one web page access, including various fields: </a:t>
            </a:r>
            <a:r>
              <a:rPr lang="en-US" b="1" dirty="0" err="1"/>
              <a:t>ip</a:t>
            </a:r>
            <a:r>
              <a:rPr lang="en-US" dirty="0"/>
              <a:t>, the IP address of the log entry and </a:t>
            </a:r>
            <a:r>
              <a:rPr lang="en-US" b="1" dirty="0"/>
              <a:t>time</a:t>
            </a:r>
            <a:r>
              <a:rPr lang="en-US" dirty="0"/>
              <a:t>, the amount of time of that access.</a:t>
            </a:r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ADC7FA-476D-458E-F49E-D6F49685E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072" y="3122762"/>
            <a:ext cx="8811855" cy="308653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58262F3-9C72-7850-FB4D-CE0F94EBA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SG" b="1" dirty="0"/>
              <a:t>Question 5</a:t>
            </a:r>
          </a:p>
        </p:txBody>
      </p:sp>
    </p:spTree>
    <p:extLst>
      <p:ext uri="{BB962C8B-B14F-4D97-AF65-F5344CB8AC3E}">
        <p14:creationId xmlns:p14="http://schemas.microsoft.com/office/powerpoint/2010/main" val="28174727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25728-B1F1-3216-32F6-78DDA1A2D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6AE3C-D0E6-A4DB-0DFB-6A60376F1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4880824"/>
            <a:ext cx="10515600" cy="13974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the above code, what are the potential performance bottlenecks? Please identify which lines cause the bottleneck and justify your answer.</a:t>
            </a:r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8AAA34-330B-6375-4809-C3FACCF8D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071" y="1690688"/>
            <a:ext cx="8811855" cy="308653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C007D92-B046-6DD0-5AAB-A758D18FC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SG" b="1" dirty="0"/>
              <a:t>Question 5</a:t>
            </a:r>
          </a:p>
        </p:txBody>
      </p:sp>
    </p:spTree>
    <p:extLst>
      <p:ext uri="{BB962C8B-B14F-4D97-AF65-F5344CB8AC3E}">
        <p14:creationId xmlns:p14="http://schemas.microsoft.com/office/powerpoint/2010/main" val="22738750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E6B45-DE8F-82D1-21CE-D59725CBA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B7A57-9C28-B8A0-BA2C-ABDCDEB0F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4880824"/>
            <a:ext cx="10515600" cy="13974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If the </a:t>
            </a:r>
            <a:r>
              <a:rPr lang="en-US" dirty="0" err="1">
                <a:solidFill>
                  <a:srgbClr val="00B050"/>
                </a:solidFill>
              </a:rPr>
              <a:t>dataframe</a:t>
            </a:r>
            <a:r>
              <a:rPr lang="en-US" dirty="0">
                <a:solidFill>
                  <a:srgbClr val="00B050"/>
                </a:solidFill>
              </a:rPr>
              <a:t> is not entirely in memory, reading </a:t>
            </a:r>
            <a:r>
              <a:rPr lang="en-US" dirty="0" err="1">
                <a:solidFill>
                  <a:srgbClr val="00B050"/>
                </a:solidFill>
              </a:rPr>
              <a:t>traceA</a:t>
            </a:r>
            <a:r>
              <a:rPr lang="en-US" dirty="0">
                <a:solidFill>
                  <a:srgbClr val="00B050"/>
                </a:solidFill>
              </a:rPr>
              <a:t> (Line 1-3) may incur potential I/O cost.</a:t>
            </a:r>
            <a:endParaRPr lang="en-SG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F0375A-6F4B-AC62-871B-439232B15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071" y="1690688"/>
            <a:ext cx="8811855" cy="308653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665B0A44-7176-45F0-C4FF-795EDCDEA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SG" b="1" dirty="0"/>
              <a:t>Question 5</a:t>
            </a:r>
          </a:p>
        </p:txBody>
      </p:sp>
      <p:sp>
        <p:nvSpPr>
          <p:cNvPr id="2" name="Right Bracket 1">
            <a:extLst>
              <a:ext uri="{FF2B5EF4-FFF2-40B4-BE49-F238E27FC236}">
                <a16:creationId xmlns:a16="http://schemas.microsoft.com/office/drawing/2014/main" id="{E5A478D0-9990-F740-CBE9-A0520125A20C}"/>
              </a:ext>
            </a:extLst>
          </p:cNvPr>
          <p:cNvSpPr/>
          <p:nvPr/>
        </p:nvSpPr>
        <p:spPr>
          <a:xfrm>
            <a:off x="8695426" y="2216988"/>
            <a:ext cx="188703" cy="830889"/>
          </a:xfrm>
          <a:prstGeom prst="rightBracket">
            <a:avLst>
              <a:gd name="adj" fmla="val 56608"/>
            </a:avLst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692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92C52-DFBA-53FF-7412-7997C8209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87695-EAF4-A33C-9BFD-2627DF88B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4880824"/>
            <a:ext cx="10515600" cy="13974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Depending on the size of data generated from Line 3, Line 4 &amp; 5 can also be the bottleneck as both operations are wide transformations and thus require data shuffling through the network. </a:t>
            </a:r>
            <a:endParaRPr lang="en-SG" dirty="0">
              <a:solidFill>
                <a:srgbClr val="00B050"/>
              </a:solidFill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SG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B1CED2-CE97-8314-A506-0D4B9484C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071" y="1690688"/>
            <a:ext cx="8811855" cy="308653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35C576C-6155-2850-B5D2-404A8ABD2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SG" b="1" dirty="0"/>
              <a:t>Question 5</a:t>
            </a:r>
          </a:p>
        </p:txBody>
      </p:sp>
      <p:sp>
        <p:nvSpPr>
          <p:cNvPr id="2" name="Right Bracket 1">
            <a:extLst>
              <a:ext uri="{FF2B5EF4-FFF2-40B4-BE49-F238E27FC236}">
                <a16:creationId xmlns:a16="http://schemas.microsoft.com/office/drawing/2014/main" id="{EEED4B7C-CF9B-75BC-1956-066EF5954A8B}"/>
              </a:ext>
            </a:extLst>
          </p:cNvPr>
          <p:cNvSpPr/>
          <p:nvPr/>
        </p:nvSpPr>
        <p:spPr>
          <a:xfrm>
            <a:off x="8695426" y="2216988"/>
            <a:ext cx="188703" cy="830889"/>
          </a:xfrm>
          <a:prstGeom prst="rightBracket">
            <a:avLst>
              <a:gd name="adj" fmla="val 56608"/>
            </a:avLst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Right Bracket 3">
            <a:extLst>
              <a:ext uri="{FF2B5EF4-FFF2-40B4-BE49-F238E27FC236}">
                <a16:creationId xmlns:a16="http://schemas.microsoft.com/office/drawing/2014/main" id="{11042255-FC0D-39E4-3651-B2CAB464ED4E}"/>
              </a:ext>
            </a:extLst>
          </p:cNvPr>
          <p:cNvSpPr/>
          <p:nvPr/>
        </p:nvSpPr>
        <p:spPr>
          <a:xfrm>
            <a:off x="8695426" y="3047878"/>
            <a:ext cx="188703" cy="601096"/>
          </a:xfrm>
          <a:prstGeom prst="rightBracket">
            <a:avLst>
              <a:gd name="adj" fmla="val 56608"/>
            </a:avLst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56016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616EF-8FE5-79A4-82B1-DC8167A18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330F8-CD95-79A9-7B14-E62969A2C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4880824"/>
            <a:ext cx="10515600" cy="13974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If the grouped data after Line 4 is highly skewed (e.g. disproportionately many rows for one </a:t>
            </a:r>
            <a:r>
              <a:rPr lang="en-US" dirty="0" err="1">
                <a:solidFill>
                  <a:srgbClr val="00B05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ip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address), Line 5 will have task straggler issues (some tasks requiring much more time than others). </a:t>
            </a:r>
            <a:endParaRPr lang="en-SG" dirty="0">
              <a:solidFill>
                <a:srgbClr val="00B050"/>
              </a:solidFill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SG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D17373-BB06-07AF-9C1F-9BDAD114B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071" y="1690688"/>
            <a:ext cx="8811855" cy="308653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839BA5D-EF03-6765-5D64-A10201616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SG" b="1" dirty="0"/>
              <a:t>Question 5</a:t>
            </a:r>
          </a:p>
        </p:txBody>
      </p:sp>
      <p:sp>
        <p:nvSpPr>
          <p:cNvPr id="2" name="Right Bracket 1">
            <a:extLst>
              <a:ext uri="{FF2B5EF4-FFF2-40B4-BE49-F238E27FC236}">
                <a16:creationId xmlns:a16="http://schemas.microsoft.com/office/drawing/2014/main" id="{22F8973B-0761-03FD-305C-15D7248E19DE}"/>
              </a:ext>
            </a:extLst>
          </p:cNvPr>
          <p:cNvSpPr/>
          <p:nvPr/>
        </p:nvSpPr>
        <p:spPr>
          <a:xfrm>
            <a:off x="8695426" y="2216988"/>
            <a:ext cx="188703" cy="1138684"/>
          </a:xfrm>
          <a:prstGeom prst="rightBracket">
            <a:avLst>
              <a:gd name="adj" fmla="val 56608"/>
            </a:avLst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Right Bracket 3">
            <a:extLst>
              <a:ext uri="{FF2B5EF4-FFF2-40B4-BE49-F238E27FC236}">
                <a16:creationId xmlns:a16="http://schemas.microsoft.com/office/drawing/2014/main" id="{CAE84C8A-E131-1DB5-E9B7-819F34B649B0}"/>
              </a:ext>
            </a:extLst>
          </p:cNvPr>
          <p:cNvSpPr/>
          <p:nvPr/>
        </p:nvSpPr>
        <p:spPr>
          <a:xfrm>
            <a:off x="8695426" y="3355674"/>
            <a:ext cx="188703" cy="293299"/>
          </a:xfrm>
          <a:prstGeom prst="rightBracket">
            <a:avLst>
              <a:gd name="adj" fmla="val 56608"/>
            </a:avLst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209537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A629C-6A0E-06F9-1211-374D70C6E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4B19C-ED11-720B-485A-C7DFCE1FA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4880824"/>
            <a:ext cx="10515600" cy="1397480"/>
          </a:xfrm>
        </p:spPr>
        <p:txBody>
          <a:bodyPr>
            <a:normAutofit/>
          </a:bodyPr>
          <a:lstStyle/>
          <a:p>
            <a:pPr marL="0" marR="0" indent="0">
              <a:buNone/>
            </a:pPr>
            <a:r>
              <a:rPr lang="en-SG" dirty="0">
                <a:solidFill>
                  <a:srgbClr val="00B050"/>
                </a:solidFill>
                <a:effectLst/>
                <a:ea typeface="SimSun" panose="02010600030101010101" pitchFamily="2" charset="-122"/>
                <a:cs typeface="Times New Roman" panose="02020603050405020304" pitchFamily="18" charset="0"/>
              </a:rPr>
              <a:t>Line 7 may return too many results. We can add LIMIT to the SQL query to limit the number of results (e.g. adding the line ‘LIMIT 100’ after Line 5 to get the first 100 results).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0ACB4A-7FBE-1DBF-2569-47B9C67B4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071" y="1690688"/>
            <a:ext cx="8811855" cy="308653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CC5A6B2C-C325-51A6-EABF-2A8CCFD88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SG" b="1" dirty="0"/>
              <a:t>Question 5</a:t>
            </a:r>
          </a:p>
        </p:txBody>
      </p:sp>
      <p:sp>
        <p:nvSpPr>
          <p:cNvPr id="2" name="Right Bracket 1">
            <a:extLst>
              <a:ext uri="{FF2B5EF4-FFF2-40B4-BE49-F238E27FC236}">
                <a16:creationId xmlns:a16="http://schemas.microsoft.com/office/drawing/2014/main" id="{7E207F95-38FF-5144-651C-83A08E635D2C}"/>
              </a:ext>
            </a:extLst>
          </p:cNvPr>
          <p:cNvSpPr/>
          <p:nvPr/>
        </p:nvSpPr>
        <p:spPr>
          <a:xfrm>
            <a:off x="8747185" y="2216987"/>
            <a:ext cx="136944" cy="1742535"/>
          </a:xfrm>
          <a:prstGeom prst="rightBracket">
            <a:avLst>
              <a:gd name="adj" fmla="val 56608"/>
            </a:avLst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Right Bracket 3">
            <a:extLst>
              <a:ext uri="{FF2B5EF4-FFF2-40B4-BE49-F238E27FC236}">
                <a16:creationId xmlns:a16="http://schemas.microsoft.com/office/drawing/2014/main" id="{39908682-3479-C202-FB85-FB6907982CA8}"/>
              </a:ext>
            </a:extLst>
          </p:cNvPr>
          <p:cNvSpPr/>
          <p:nvPr/>
        </p:nvSpPr>
        <p:spPr>
          <a:xfrm>
            <a:off x="8695426" y="3959524"/>
            <a:ext cx="188703" cy="293299"/>
          </a:xfrm>
          <a:prstGeom prst="rightBracket">
            <a:avLst>
              <a:gd name="adj" fmla="val 56608"/>
            </a:avLst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135047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572</Words>
  <Application>Microsoft Office PowerPoint</Application>
  <PresentationFormat>Widescreen</PresentationFormat>
  <Paragraphs>50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SimSun</vt:lpstr>
      <vt:lpstr>Arial</vt:lpstr>
      <vt:lpstr>Calibri</vt:lpstr>
      <vt:lpstr>Calibri Light</vt:lpstr>
      <vt:lpstr>Times New Roman</vt:lpstr>
      <vt:lpstr>Office Theme</vt:lpstr>
      <vt:lpstr>CS4225/CS5425 Big Data Systems for Data Science</vt:lpstr>
      <vt:lpstr>Question 1</vt:lpstr>
      <vt:lpstr>Question 2</vt:lpstr>
      <vt:lpstr>PowerPoint Presentation</vt:lpstr>
      <vt:lpstr>PowerPoint Presentation</vt:lpstr>
      <vt:lpstr>Question 2</vt:lpstr>
      <vt:lpstr>PowerPoint Presentation</vt:lpstr>
      <vt:lpstr>Question 2</vt:lpstr>
      <vt:lpstr>Question 3</vt:lpstr>
      <vt:lpstr>Question 4</vt:lpstr>
      <vt:lpstr>Question 5</vt:lpstr>
      <vt:lpstr>Question 5</vt:lpstr>
      <vt:lpstr>Question 5</vt:lpstr>
      <vt:lpstr>Question 5</vt:lpstr>
      <vt:lpstr>Question 5</vt:lpstr>
      <vt:lpstr>Question 5</vt:lpstr>
      <vt:lpstr>Question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Goh Teck Lun</dc:creator>
  <cp:lastModifiedBy>Lau Chee Loong, Desmond</cp:lastModifiedBy>
  <cp:revision>39</cp:revision>
  <dcterms:created xsi:type="dcterms:W3CDTF">2023-10-23T07:57:24Z</dcterms:created>
  <dcterms:modified xsi:type="dcterms:W3CDTF">2026-03-19T12:18:11Z</dcterms:modified>
</cp:coreProperties>
</file>