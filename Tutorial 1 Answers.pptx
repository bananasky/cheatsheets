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84" r:id="rId2"/>
    <p:sldId id="285" r:id="rId3"/>
    <p:sldId id="286" r:id="rId4"/>
    <p:sldId id="287" r:id="rId5"/>
    <p:sldId id="288" r:id="rId6"/>
    <p:sldId id="289" r:id="rId7"/>
    <p:sldId id="291" r:id="rId8"/>
    <p:sldId id="292" r:id="rId9"/>
    <p:sldId id="262" r:id="rId10"/>
    <p:sldId id="264" r:id="rId11"/>
    <p:sldId id="266" r:id="rId12"/>
    <p:sldId id="294" r:id="rId13"/>
    <p:sldId id="270" r:id="rId14"/>
    <p:sldId id="295" r:id="rId15"/>
    <p:sldId id="296" r:id="rId16"/>
    <p:sldId id="298" r:id="rId17"/>
    <p:sldId id="299" r:id="rId18"/>
    <p:sldId id="300" r:id="rId19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D98555-747B-4EC8-9ABE-10F0C661FCA8}">
          <p14:sldIdLst>
            <p14:sldId id="284"/>
          </p14:sldIdLst>
        </p14:section>
        <p14:section name="Q1" id="{866E8070-8B53-4D32-A25F-CB630E11DD04}">
          <p14:sldIdLst>
            <p14:sldId id="285"/>
            <p14:sldId id="286"/>
            <p14:sldId id="287"/>
            <p14:sldId id="288"/>
          </p14:sldIdLst>
        </p14:section>
        <p14:section name="Q2" id="{109E9995-4975-433E-8489-158E7274B9C7}">
          <p14:sldIdLst>
            <p14:sldId id="289"/>
            <p14:sldId id="291"/>
            <p14:sldId id="292"/>
            <p14:sldId id="262"/>
          </p14:sldIdLst>
        </p14:section>
        <p14:section name="Q3" id="{6E2425AD-7323-4687-BEC3-7BBA79795CC1}">
          <p14:sldIdLst>
            <p14:sldId id="264"/>
            <p14:sldId id="266"/>
            <p14:sldId id="294"/>
            <p14:sldId id="270"/>
            <p14:sldId id="295"/>
            <p14:sldId id="296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DFE3"/>
          </a:solidFill>
        </a:fill>
      </a:tcStyle>
    </a:wholeTbl>
    <a:band2H>
      <a:tcTxStyle/>
      <a:tcStyle>
        <a:tcBdr/>
        <a:fill>
          <a:solidFill>
            <a:srgbClr val="EAF0F2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D9E0"/>
          </a:solidFill>
        </a:fill>
      </a:tcStyle>
    </a:wholeTbl>
    <a:band2H>
      <a:tcTxStyle/>
      <a:tcStyle>
        <a:tcBdr/>
        <a:fill>
          <a:solidFill>
            <a:srgbClr val="EDEDF0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7D8DA"/>
          </a:solidFill>
        </a:fill>
      </a:tcStyle>
    </a:wholeTbl>
    <a:band2H>
      <a:tcTxStyle/>
      <a:tcStyle>
        <a:tcBdr/>
        <a:fill>
          <a:solidFill>
            <a:srgbClr val="ECECED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0"/>
    <p:restoredTop sz="94643"/>
  </p:normalViewPr>
  <p:slideViewPr>
    <p:cSldViewPr snapToGrid="0">
      <p:cViewPr varScale="1">
        <p:scale>
          <a:sx n="84" d="100"/>
          <a:sy n="84" d="100"/>
        </p:scale>
        <p:origin x="15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5" name="Shape 11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We</a:t>
            </a:r>
            <a:r>
              <a:rPr lang="en-US" baseline="0" dirty="0"/>
              <a:t> can assume this is the result of word count on every single document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Which is the occurrence of word on the whole dataset..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353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We</a:t>
            </a:r>
            <a:r>
              <a:rPr lang="en-US" baseline="0" dirty="0"/>
              <a:t> can assume this is the result of word count on every single document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Which is the occurrence of word on the whole dataset..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312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We</a:t>
            </a:r>
            <a:r>
              <a:rPr lang="en-US" baseline="0" dirty="0"/>
              <a:t> can assume this is the result of word count on every single document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Which is the occurrence of word on the whole dataset..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591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We</a:t>
            </a:r>
            <a:r>
              <a:rPr lang="en-US" baseline="0" dirty="0"/>
              <a:t> can assume this is the result of word count on every single document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Which is the occurrence of word on the whole dataset..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938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We</a:t>
            </a:r>
            <a:r>
              <a:rPr lang="en-US" baseline="0" dirty="0"/>
              <a:t> can assume this is the result of word count on every single document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Which is the occurrence of word on the whole dataset..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96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0" y="0"/>
            <a:ext cx="9144000" cy="4953239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41"/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0" y="6604318"/>
            <a:ext cx="9144000" cy="253682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41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069" y="1375899"/>
            <a:ext cx="8098767" cy="1582285"/>
          </a:xfrm>
        </p:spPr>
        <p:txBody>
          <a:bodyPr/>
          <a:lstStyle>
            <a:lvl1pPr algn="ctr">
              <a:defRPr sz="540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205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63047" y="5198322"/>
            <a:ext cx="2317815" cy="1136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650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文本框 5"/>
          <p:cNvSpPr txBox="1"/>
          <p:nvPr/>
        </p:nvSpPr>
        <p:spPr>
          <a:xfrm>
            <a:off x="8236034" y="690758"/>
            <a:ext cx="184731" cy="314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441" dirty="0"/>
          </a:p>
        </p:txBody>
      </p:sp>
    </p:spTree>
    <p:extLst>
      <p:ext uri="{BB962C8B-B14F-4D97-AF65-F5344CB8AC3E}">
        <p14:creationId xmlns:p14="http://schemas.microsoft.com/office/powerpoint/2010/main" val="427261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3" y="4407179"/>
            <a:ext cx="7772757" cy="1361567"/>
          </a:xfrm>
        </p:spPr>
        <p:txBody>
          <a:bodyPr anchor="t"/>
          <a:lstStyle>
            <a:lvl1pPr algn="l">
              <a:defRPr sz="360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083" y="2906588"/>
            <a:ext cx="7772757" cy="1500591"/>
          </a:xfrm>
        </p:spPr>
        <p:txBody>
          <a:bodyPr anchor="b"/>
          <a:lstStyle>
            <a:lvl1pPr marL="0" indent="0">
              <a:buNone/>
              <a:defRPr sz="1801"/>
            </a:lvl1pPr>
            <a:lvl2pPr marL="411800" indent="0">
              <a:buNone/>
              <a:defRPr sz="1621"/>
            </a:lvl2pPr>
            <a:lvl3pPr marL="823600" indent="0">
              <a:buNone/>
              <a:defRPr sz="1441"/>
            </a:lvl3pPr>
            <a:lvl4pPr marL="1235400" indent="0">
              <a:buNone/>
              <a:defRPr sz="1261"/>
            </a:lvl4pPr>
            <a:lvl5pPr marL="1647200" indent="0">
              <a:buNone/>
              <a:defRPr sz="1261"/>
            </a:lvl5pPr>
            <a:lvl6pPr marL="2059000" indent="0">
              <a:buNone/>
              <a:defRPr sz="1261"/>
            </a:lvl6pPr>
            <a:lvl7pPr marL="2470800" indent="0">
              <a:buNone/>
              <a:defRPr sz="1261"/>
            </a:lvl7pPr>
            <a:lvl8pPr marL="2882600" indent="0">
              <a:buNone/>
              <a:defRPr sz="1261"/>
            </a:lvl8pPr>
            <a:lvl9pPr marL="3294400" indent="0">
              <a:buNone/>
              <a:defRPr sz="126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500" y="1641047"/>
            <a:ext cx="3816315" cy="4619296"/>
          </a:xfrm>
        </p:spPr>
        <p:txBody>
          <a:bodyPr/>
          <a:lstStyle>
            <a:lvl1pPr>
              <a:defRPr sz="2522"/>
            </a:lvl1pPr>
            <a:lvl2pPr>
              <a:defRPr sz="2162"/>
            </a:lvl2pPr>
            <a:lvl3pPr>
              <a:defRPr sz="1801"/>
            </a:lvl3pPr>
            <a:lvl4pPr>
              <a:defRPr sz="1621"/>
            </a:lvl4pPr>
            <a:lvl5pPr>
              <a:defRPr sz="1621"/>
            </a:lvl5pPr>
            <a:lvl6pPr>
              <a:defRPr sz="1621"/>
            </a:lvl6pPr>
            <a:lvl7pPr>
              <a:defRPr sz="1621"/>
            </a:lvl7pPr>
            <a:lvl8pPr>
              <a:defRPr sz="1621"/>
            </a:lvl8pPr>
            <a:lvl9pPr>
              <a:defRPr sz="162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4082" y="1641047"/>
            <a:ext cx="3817745" cy="4619296"/>
          </a:xfrm>
        </p:spPr>
        <p:txBody>
          <a:bodyPr/>
          <a:lstStyle>
            <a:lvl1pPr>
              <a:defRPr sz="2522"/>
            </a:lvl1pPr>
            <a:lvl2pPr>
              <a:defRPr sz="2162"/>
            </a:lvl2pPr>
            <a:lvl3pPr>
              <a:defRPr sz="1801"/>
            </a:lvl3pPr>
            <a:lvl4pPr>
              <a:defRPr sz="1621"/>
            </a:lvl4pPr>
            <a:lvl5pPr>
              <a:defRPr sz="1621"/>
            </a:lvl5pPr>
            <a:lvl6pPr>
              <a:defRPr sz="1621"/>
            </a:lvl6pPr>
            <a:lvl7pPr>
              <a:defRPr sz="1621"/>
            </a:lvl7pPr>
            <a:lvl8pPr>
              <a:defRPr sz="1621"/>
            </a:lvl8pPr>
            <a:lvl9pPr>
              <a:defRPr sz="162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9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5180"/>
            <a:ext cx="8228885" cy="11422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57" y="1534989"/>
            <a:ext cx="4039375" cy="639220"/>
          </a:xfrm>
        </p:spPr>
        <p:txBody>
          <a:bodyPr anchor="b"/>
          <a:lstStyle>
            <a:lvl1pPr marL="0" indent="0">
              <a:buNone/>
              <a:defRPr sz="2162" b="1"/>
            </a:lvl1pPr>
            <a:lvl2pPr marL="411800" indent="0">
              <a:buNone/>
              <a:defRPr sz="1801" b="1"/>
            </a:lvl2pPr>
            <a:lvl3pPr marL="823600" indent="0">
              <a:buNone/>
              <a:defRPr sz="1621" b="1"/>
            </a:lvl3pPr>
            <a:lvl4pPr marL="1235400" indent="0">
              <a:buNone/>
              <a:defRPr sz="1441" b="1"/>
            </a:lvl4pPr>
            <a:lvl5pPr marL="1647200" indent="0">
              <a:buNone/>
              <a:defRPr sz="1441" b="1"/>
            </a:lvl5pPr>
            <a:lvl6pPr marL="2059000" indent="0">
              <a:buNone/>
              <a:defRPr sz="1441" b="1"/>
            </a:lvl6pPr>
            <a:lvl7pPr marL="2470800" indent="0">
              <a:buNone/>
              <a:defRPr sz="1441" b="1"/>
            </a:lvl7pPr>
            <a:lvl8pPr marL="2882600" indent="0">
              <a:buNone/>
              <a:defRPr sz="1441" b="1"/>
            </a:lvl8pPr>
            <a:lvl9pPr marL="3294400" indent="0">
              <a:buNone/>
              <a:defRPr sz="144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7" y="2174209"/>
            <a:ext cx="4039375" cy="3951411"/>
          </a:xfrm>
        </p:spPr>
        <p:txBody>
          <a:bodyPr/>
          <a:lstStyle>
            <a:lvl1pPr>
              <a:defRPr sz="2162"/>
            </a:lvl1pPr>
            <a:lvl2pPr>
              <a:defRPr sz="1801"/>
            </a:lvl2pPr>
            <a:lvl3pPr>
              <a:defRPr sz="1621"/>
            </a:lvl3pPr>
            <a:lvl4pPr>
              <a:defRPr sz="1441"/>
            </a:lvl4pPr>
            <a:lvl5pPr>
              <a:defRPr sz="1441"/>
            </a:lvl5pPr>
            <a:lvl6pPr>
              <a:defRPr sz="1441"/>
            </a:lvl6pPr>
            <a:lvl7pPr>
              <a:defRPr sz="1441"/>
            </a:lvl7pPr>
            <a:lvl8pPr>
              <a:defRPr sz="1441"/>
            </a:lvl8pPr>
            <a:lvl9pPr>
              <a:defRPr sz="144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639" y="1534989"/>
            <a:ext cx="4040804" cy="639220"/>
          </a:xfrm>
        </p:spPr>
        <p:txBody>
          <a:bodyPr anchor="b"/>
          <a:lstStyle>
            <a:lvl1pPr marL="0" indent="0">
              <a:buNone/>
              <a:defRPr sz="2162" b="1"/>
            </a:lvl1pPr>
            <a:lvl2pPr marL="411800" indent="0">
              <a:buNone/>
              <a:defRPr sz="1801" b="1"/>
            </a:lvl2pPr>
            <a:lvl3pPr marL="823600" indent="0">
              <a:buNone/>
              <a:defRPr sz="1621" b="1"/>
            </a:lvl3pPr>
            <a:lvl4pPr marL="1235400" indent="0">
              <a:buNone/>
              <a:defRPr sz="1441" b="1"/>
            </a:lvl4pPr>
            <a:lvl5pPr marL="1647200" indent="0">
              <a:buNone/>
              <a:defRPr sz="1441" b="1"/>
            </a:lvl5pPr>
            <a:lvl6pPr marL="2059000" indent="0">
              <a:buNone/>
              <a:defRPr sz="1441" b="1"/>
            </a:lvl6pPr>
            <a:lvl7pPr marL="2470800" indent="0">
              <a:buNone/>
              <a:defRPr sz="1441" b="1"/>
            </a:lvl7pPr>
            <a:lvl8pPr marL="2882600" indent="0">
              <a:buNone/>
              <a:defRPr sz="1441" b="1"/>
            </a:lvl8pPr>
            <a:lvl9pPr marL="3294400" indent="0">
              <a:buNone/>
              <a:defRPr sz="144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639" y="2174209"/>
            <a:ext cx="4040804" cy="3951411"/>
          </a:xfrm>
        </p:spPr>
        <p:txBody>
          <a:bodyPr/>
          <a:lstStyle>
            <a:lvl1pPr>
              <a:defRPr sz="2162"/>
            </a:lvl1pPr>
            <a:lvl2pPr>
              <a:defRPr sz="1801"/>
            </a:lvl2pPr>
            <a:lvl3pPr>
              <a:defRPr sz="1621"/>
            </a:lvl3pPr>
            <a:lvl4pPr>
              <a:defRPr sz="1441"/>
            </a:lvl4pPr>
            <a:lvl5pPr>
              <a:defRPr sz="1441"/>
            </a:lvl5pPr>
            <a:lvl6pPr>
              <a:defRPr sz="1441"/>
            </a:lvl6pPr>
            <a:lvl7pPr>
              <a:defRPr sz="1441"/>
            </a:lvl7pPr>
            <a:lvl8pPr>
              <a:defRPr sz="1441"/>
            </a:lvl8pPr>
            <a:lvl9pPr>
              <a:defRPr sz="144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80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1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51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3748"/>
            <a:ext cx="3008440" cy="1160915"/>
          </a:xfrm>
        </p:spPr>
        <p:txBody>
          <a:bodyPr anchor="b"/>
          <a:lstStyle>
            <a:lvl1pPr algn="l">
              <a:defRPr sz="18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668" y="273747"/>
            <a:ext cx="5111775" cy="5851873"/>
          </a:xfrm>
        </p:spPr>
        <p:txBody>
          <a:bodyPr/>
          <a:lstStyle>
            <a:lvl1pPr>
              <a:defRPr sz="2882"/>
            </a:lvl1pPr>
            <a:lvl2pPr>
              <a:defRPr sz="2522"/>
            </a:lvl2pPr>
            <a:lvl3pPr>
              <a:defRPr sz="2162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58" y="1434663"/>
            <a:ext cx="3008440" cy="4690957"/>
          </a:xfrm>
        </p:spPr>
        <p:txBody>
          <a:bodyPr/>
          <a:lstStyle>
            <a:lvl1pPr marL="0" indent="0">
              <a:buNone/>
              <a:defRPr sz="1261"/>
            </a:lvl1pPr>
            <a:lvl2pPr marL="411800" indent="0">
              <a:buNone/>
              <a:defRPr sz="1081"/>
            </a:lvl2pPr>
            <a:lvl3pPr marL="823600" indent="0">
              <a:buNone/>
              <a:defRPr sz="901"/>
            </a:lvl3pPr>
            <a:lvl4pPr marL="1235400" indent="0">
              <a:buNone/>
              <a:defRPr sz="811"/>
            </a:lvl4pPr>
            <a:lvl5pPr marL="1647200" indent="0">
              <a:buNone/>
              <a:defRPr sz="811"/>
            </a:lvl5pPr>
            <a:lvl6pPr marL="2059000" indent="0">
              <a:buNone/>
              <a:defRPr sz="811"/>
            </a:lvl6pPr>
            <a:lvl7pPr marL="2470800" indent="0">
              <a:buNone/>
              <a:defRPr sz="811"/>
            </a:lvl7pPr>
            <a:lvl8pPr marL="2882600" indent="0">
              <a:buNone/>
              <a:defRPr sz="811"/>
            </a:lvl8pPr>
            <a:lvl9pPr marL="3294400" indent="0">
              <a:buNone/>
              <a:defRPr sz="81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7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24" y="4801317"/>
            <a:ext cx="5486399" cy="566126"/>
          </a:xfrm>
        </p:spPr>
        <p:txBody>
          <a:bodyPr anchor="b"/>
          <a:lstStyle>
            <a:lvl1pPr algn="l">
              <a:defRPr sz="18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24" y="613422"/>
            <a:ext cx="5486399" cy="4114800"/>
          </a:xfrm>
        </p:spPr>
        <p:txBody>
          <a:bodyPr/>
          <a:lstStyle>
            <a:lvl1pPr marL="0" indent="0">
              <a:buNone/>
              <a:defRPr sz="2882"/>
            </a:lvl1pPr>
            <a:lvl2pPr marL="411800" indent="0">
              <a:buNone/>
              <a:defRPr sz="2522"/>
            </a:lvl2pPr>
            <a:lvl3pPr marL="823600" indent="0">
              <a:buNone/>
              <a:defRPr sz="2162"/>
            </a:lvl3pPr>
            <a:lvl4pPr marL="1235400" indent="0">
              <a:buNone/>
              <a:defRPr sz="1801"/>
            </a:lvl4pPr>
            <a:lvl5pPr marL="1647200" indent="0">
              <a:buNone/>
              <a:defRPr sz="1801"/>
            </a:lvl5pPr>
            <a:lvl6pPr marL="2059000" indent="0">
              <a:buNone/>
              <a:defRPr sz="1801"/>
            </a:lvl6pPr>
            <a:lvl7pPr marL="2470800" indent="0">
              <a:buNone/>
              <a:defRPr sz="1801"/>
            </a:lvl7pPr>
            <a:lvl8pPr marL="2882600" indent="0">
              <a:buNone/>
              <a:defRPr sz="1801"/>
            </a:lvl8pPr>
            <a:lvl9pPr marL="3294400" indent="0">
              <a:buNone/>
              <a:defRPr sz="180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24" y="5367442"/>
            <a:ext cx="5486399" cy="805475"/>
          </a:xfrm>
        </p:spPr>
        <p:txBody>
          <a:bodyPr/>
          <a:lstStyle>
            <a:lvl1pPr marL="0" indent="0">
              <a:buNone/>
              <a:defRPr sz="1261"/>
            </a:lvl1pPr>
            <a:lvl2pPr marL="411800" indent="0">
              <a:buNone/>
              <a:defRPr sz="1081"/>
            </a:lvl2pPr>
            <a:lvl3pPr marL="823600" indent="0">
              <a:buNone/>
              <a:defRPr sz="901"/>
            </a:lvl3pPr>
            <a:lvl4pPr marL="1235400" indent="0">
              <a:buNone/>
              <a:defRPr sz="811"/>
            </a:lvl4pPr>
            <a:lvl5pPr marL="1647200" indent="0">
              <a:buNone/>
              <a:defRPr sz="811"/>
            </a:lvl5pPr>
            <a:lvl6pPr marL="2059000" indent="0">
              <a:buNone/>
              <a:defRPr sz="811"/>
            </a:lvl6pPr>
            <a:lvl7pPr marL="2470800" indent="0">
              <a:buNone/>
              <a:defRPr sz="811"/>
            </a:lvl7pPr>
            <a:lvl8pPr marL="2882600" indent="0">
              <a:buNone/>
              <a:defRPr sz="811"/>
            </a:lvl8pPr>
            <a:lvl9pPr marL="3294400" indent="0">
              <a:buNone/>
              <a:defRPr sz="81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91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31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80067" y="290946"/>
            <a:ext cx="1941759" cy="5969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500" y="290946"/>
            <a:ext cx="5692300" cy="596939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94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0499" y="290946"/>
            <a:ext cx="6518763" cy="1143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499" y="1641047"/>
            <a:ext cx="7771327" cy="4619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499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defTabSz="913682">
              <a:defRPr sz="901">
                <a:solidFill>
                  <a:srgbClr val="003399"/>
                </a:solidFill>
              </a:defRPr>
            </a:lvl1pPr>
          </a:lstStyle>
          <a:p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1995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defTabSz="913682">
              <a:defRPr sz="901">
                <a:solidFill>
                  <a:srgbClr val="003399"/>
                </a:solidFill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6608618"/>
            <a:ext cx="9144000" cy="26084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41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5368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41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412431" y="389838"/>
            <a:ext cx="1452745" cy="7123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9427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3682" rtl="0" eaLnBrk="1" fontAlgn="base" hangingPunct="1">
        <a:spcBef>
          <a:spcPct val="0"/>
        </a:spcBef>
        <a:spcAft>
          <a:spcPct val="0"/>
        </a:spcAft>
        <a:defRPr sz="3152" b="1">
          <a:solidFill>
            <a:srgbClr val="FF6600"/>
          </a:solidFill>
          <a:latin typeface="+mj-lt"/>
          <a:ea typeface="+mj-ea"/>
          <a:cs typeface="+mj-cs"/>
        </a:defRPr>
      </a:lvl1pPr>
      <a:lvl2pPr algn="l" defTabSz="913682" rtl="0" eaLnBrk="1" fontAlgn="base" hangingPunct="1">
        <a:spcBef>
          <a:spcPct val="0"/>
        </a:spcBef>
        <a:spcAft>
          <a:spcPct val="0"/>
        </a:spcAft>
        <a:defRPr sz="3152" b="1">
          <a:solidFill>
            <a:srgbClr val="FF6600"/>
          </a:solidFill>
          <a:latin typeface="Arial" charset="0"/>
        </a:defRPr>
      </a:lvl2pPr>
      <a:lvl3pPr algn="l" defTabSz="913682" rtl="0" eaLnBrk="1" fontAlgn="base" hangingPunct="1">
        <a:spcBef>
          <a:spcPct val="0"/>
        </a:spcBef>
        <a:spcAft>
          <a:spcPct val="0"/>
        </a:spcAft>
        <a:defRPr sz="3152" b="1">
          <a:solidFill>
            <a:srgbClr val="FF6600"/>
          </a:solidFill>
          <a:latin typeface="Arial" charset="0"/>
        </a:defRPr>
      </a:lvl3pPr>
      <a:lvl4pPr algn="l" defTabSz="913682" rtl="0" eaLnBrk="1" fontAlgn="base" hangingPunct="1">
        <a:spcBef>
          <a:spcPct val="0"/>
        </a:spcBef>
        <a:spcAft>
          <a:spcPct val="0"/>
        </a:spcAft>
        <a:defRPr sz="3152" b="1">
          <a:solidFill>
            <a:srgbClr val="FF6600"/>
          </a:solidFill>
          <a:latin typeface="Arial" charset="0"/>
        </a:defRPr>
      </a:lvl4pPr>
      <a:lvl5pPr algn="l" defTabSz="913682" rtl="0" eaLnBrk="1" fontAlgn="base" hangingPunct="1">
        <a:spcBef>
          <a:spcPct val="0"/>
        </a:spcBef>
        <a:spcAft>
          <a:spcPct val="0"/>
        </a:spcAft>
        <a:defRPr sz="3152" b="1">
          <a:solidFill>
            <a:srgbClr val="FF6600"/>
          </a:solidFill>
          <a:latin typeface="Arial" charset="0"/>
        </a:defRPr>
      </a:lvl5pPr>
      <a:lvl6pPr marL="411800" algn="l" defTabSz="913682" rtl="0" eaLnBrk="1" fontAlgn="base" hangingPunct="1">
        <a:spcBef>
          <a:spcPct val="0"/>
        </a:spcBef>
        <a:spcAft>
          <a:spcPct val="0"/>
        </a:spcAft>
        <a:defRPr sz="3152" b="1">
          <a:solidFill>
            <a:srgbClr val="FF6600"/>
          </a:solidFill>
          <a:latin typeface="Arial" charset="0"/>
        </a:defRPr>
      </a:lvl6pPr>
      <a:lvl7pPr marL="823600" algn="l" defTabSz="913682" rtl="0" eaLnBrk="1" fontAlgn="base" hangingPunct="1">
        <a:spcBef>
          <a:spcPct val="0"/>
        </a:spcBef>
        <a:spcAft>
          <a:spcPct val="0"/>
        </a:spcAft>
        <a:defRPr sz="3152" b="1">
          <a:solidFill>
            <a:srgbClr val="FF6600"/>
          </a:solidFill>
          <a:latin typeface="Arial" charset="0"/>
        </a:defRPr>
      </a:lvl7pPr>
      <a:lvl8pPr marL="1235400" algn="l" defTabSz="913682" rtl="0" eaLnBrk="1" fontAlgn="base" hangingPunct="1">
        <a:spcBef>
          <a:spcPct val="0"/>
        </a:spcBef>
        <a:spcAft>
          <a:spcPct val="0"/>
        </a:spcAft>
        <a:defRPr sz="3152" b="1">
          <a:solidFill>
            <a:srgbClr val="FF6600"/>
          </a:solidFill>
          <a:latin typeface="Arial" charset="0"/>
        </a:defRPr>
      </a:lvl8pPr>
      <a:lvl9pPr marL="1647200" algn="l" defTabSz="913682" rtl="0" eaLnBrk="1" fontAlgn="base" hangingPunct="1">
        <a:spcBef>
          <a:spcPct val="0"/>
        </a:spcBef>
        <a:spcAft>
          <a:spcPct val="0"/>
        </a:spcAft>
        <a:defRPr sz="3152" b="1">
          <a:solidFill>
            <a:srgbClr val="FF6600"/>
          </a:solidFill>
          <a:latin typeface="Arial" charset="0"/>
        </a:defRPr>
      </a:lvl9pPr>
    </p:titleStyle>
    <p:bodyStyle>
      <a:lvl1pPr algn="l" defTabSz="913682" rtl="0" eaLnBrk="1" fontAlgn="base" hangingPunct="1">
        <a:spcBef>
          <a:spcPct val="20000"/>
        </a:spcBef>
        <a:spcAft>
          <a:spcPct val="0"/>
        </a:spcAft>
        <a:defRPr sz="2252" b="1">
          <a:solidFill>
            <a:srgbClr val="003399"/>
          </a:solidFill>
          <a:latin typeface="+mn-lt"/>
          <a:ea typeface="+mn-ea"/>
          <a:cs typeface="+mn-cs"/>
        </a:defRPr>
      </a:lvl1pPr>
      <a:lvl2pPr marL="337447" indent="5719" algn="l" defTabSz="913682" rtl="0" eaLnBrk="1" fontAlgn="base" hangingPunct="1">
        <a:spcBef>
          <a:spcPct val="20000"/>
        </a:spcBef>
        <a:spcAft>
          <a:spcPct val="0"/>
        </a:spcAft>
        <a:defRPr sz="2342">
          <a:solidFill>
            <a:srgbClr val="003399"/>
          </a:solidFill>
          <a:latin typeface="+mn-lt"/>
        </a:defRPr>
      </a:lvl2pPr>
      <a:lvl3pPr marL="680614" algn="l" defTabSz="913682" rtl="0" eaLnBrk="1" fontAlgn="base" hangingPunct="1">
        <a:spcBef>
          <a:spcPct val="20000"/>
        </a:spcBef>
        <a:spcAft>
          <a:spcPct val="0"/>
        </a:spcAft>
        <a:defRPr sz="1982" b="1">
          <a:solidFill>
            <a:srgbClr val="FF6600"/>
          </a:solidFill>
          <a:latin typeface="+mn-lt"/>
        </a:defRPr>
      </a:lvl3pPr>
      <a:lvl4pPr marL="1029500" indent="5719" algn="l" defTabSz="913682" rtl="0" eaLnBrk="1" fontAlgn="base" hangingPunct="1">
        <a:spcBef>
          <a:spcPct val="20000"/>
        </a:spcBef>
        <a:spcAft>
          <a:spcPct val="0"/>
        </a:spcAft>
        <a:defRPr sz="1982" i="1">
          <a:solidFill>
            <a:srgbClr val="003399"/>
          </a:solidFill>
          <a:latin typeface="+mn-lt"/>
        </a:defRPr>
      </a:lvl4pPr>
      <a:lvl5pPr marL="1372667" algn="l" defTabSz="913682" rtl="0" eaLnBrk="1" fontAlgn="base" hangingPunct="1">
        <a:spcBef>
          <a:spcPct val="20000"/>
        </a:spcBef>
        <a:spcAft>
          <a:spcPct val="0"/>
        </a:spcAft>
        <a:defRPr sz="1801">
          <a:solidFill>
            <a:srgbClr val="003399"/>
          </a:solidFill>
          <a:latin typeface="+mn-lt"/>
        </a:defRPr>
      </a:lvl5pPr>
      <a:lvl6pPr marL="1784467" algn="l" defTabSz="913682" rtl="0" eaLnBrk="1" fontAlgn="base" hangingPunct="1">
        <a:spcBef>
          <a:spcPct val="20000"/>
        </a:spcBef>
        <a:spcAft>
          <a:spcPct val="0"/>
        </a:spcAft>
        <a:defRPr sz="1801">
          <a:solidFill>
            <a:srgbClr val="003399"/>
          </a:solidFill>
          <a:latin typeface="+mn-lt"/>
        </a:defRPr>
      </a:lvl6pPr>
      <a:lvl7pPr marL="2196267" algn="l" defTabSz="913682" rtl="0" eaLnBrk="1" fontAlgn="base" hangingPunct="1">
        <a:spcBef>
          <a:spcPct val="20000"/>
        </a:spcBef>
        <a:spcAft>
          <a:spcPct val="0"/>
        </a:spcAft>
        <a:defRPr sz="1801">
          <a:solidFill>
            <a:srgbClr val="003399"/>
          </a:solidFill>
          <a:latin typeface="+mn-lt"/>
        </a:defRPr>
      </a:lvl7pPr>
      <a:lvl8pPr marL="2608067" algn="l" defTabSz="913682" rtl="0" eaLnBrk="1" fontAlgn="base" hangingPunct="1">
        <a:spcBef>
          <a:spcPct val="20000"/>
        </a:spcBef>
        <a:spcAft>
          <a:spcPct val="0"/>
        </a:spcAft>
        <a:defRPr sz="1801">
          <a:solidFill>
            <a:srgbClr val="003399"/>
          </a:solidFill>
          <a:latin typeface="+mn-lt"/>
        </a:defRPr>
      </a:lvl8pPr>
      <a:lvl9pPr marL="3019867" algn="l" defTabSz="913682" rtl="0" eaLnBrk="1" fontAlgn="base" hangingPunct="1">
        <a:spcBef>
          <a:spcPct val="20000"/>
        </a:spcBef>
        <a:spcAft>
          <a:spcPct val="0"/>
        </a:spcAft>
        <a:defRPr sz="1801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823600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1pPr>
      <a:lvl2pPr marL="411800" algn="l" defTabSz="823600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2pPr>
      <a:lvl3pPr marL="823600" algn="l" defTabSz="823600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3pPr>
      <a:lvl4pPr marL="1235400" algn="l" defTabSz="823600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4pPr>
      <a:lvl5pPr marL="1647200" algn="l" defTabSz="823600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5pPr>
      <a:lvl6pPr marL="2059000" algn="l" defTabSz="823600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6pPr>
      <a:lvl7pPr marL="2470800" algn="l" defTabSz="823600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7pPr>
      <a:lvl8pPr marL="2882600" algn="l" defTabSz="823600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8pPr>
      <a:lvl9pPr marL="3294400" algn="l" defTabSz="823600" rtl="0" eaLnBrk="1" latinLnBrk="0" hangingPunct="1">
        <a:defRPr sz="16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92873A-F906-1A69-A04E-6450B3F650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367" r="4580"/>
          <a:stretch/>
        </p:blipFill>
        <p:spPr>
          <a:xfrm>
            <a:off x="6881091" y="369454"/>
            <a:ext cx="2262909" cy="1055426"/>
          </a:xfrm>
          <a:prstGeom prst="rect">
            <a:avLst/>
          </a:prstGeom>
        </p:spPr>
      </p:pic>
      <p:sp>
        <p:nvSpPr>
          <p:cNvPr id="4" name="Text Box 18">
            <a:extLst>
              <a:ext uri="{FF2B5EF4-FFF2-40B4-BE49-F238E27FC236}">
                <a16:creationId xmlns:a16="http://schemas.microsoft.com/office/drawing/2014/main" id="{797B38F8-454C-A3B8-7968-9650F51B3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96" y="1700753"/>
            <a:ext cx="8301807" cy="1589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zh-CN" sz="3243" b="1" dirty="0">
                <a:latin typeface="+mj-lt"/>
              </a:rPr>
              <a:t>CS4225/CS5425 Big Data Systems for Data Science</a:t>
            </a:r>
          </a:p>
          <a:p>
            <a:pPr algn="ctr" eaLnBrk="1" hangingPunct="1"/>
            <a:r>
              <a:rPr lang="en-US" sz="3243" dirty="0">
                <a:latin typeface="+mj-lt"/>
              </a:rPr>
              <a:t>Tutorial 1 Answers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A85E2-3D66-0822-46E5-5C3327B02CD1}"/>
              </a:ext>
            </a:extLst>
          </p:cNvPr>
          <p:cNvSpPr txBox="1"/>
          <p:nvPr/>
        </p:nvSpPr>
        <p:spPr>
          <a:xfrm>
            <a:off x="2379207" y="387257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1800" dirty="0">
                <a:latin typeface="+mj-lt"/>
              </a:rPr>
              <a:t>Desmond Lau</a:t>
            </a:r>
          </a:p>
          <a:p>
            <a:pPr algn="ctr" eaLnBrk="1" hangingPunct="1"/>
            <a:r>
              <a:rPr lang="en-US" sz="1800" dirty="0">
                <a:latin typeface="+mj-lt"/>
              </a:rPr>
              <a:t>School of Computing</a:t>
            </a:r>
          </a:p>
          <a:p>
            <a:pPr algn="ctr" eaLnBrk="1" hangingPunct="1"/>
            <a:r>
              <a:rPr lang="en-US" sz="1800" dirty="0">
                <a:latin typeface="+mj-lt"/>
              </a:rPr>
              <a:t>National University of Singapore</a:t>
            </a:r>
          </a:p>
          <a:p>
            <a:pPr algn="ctr" eaLnBrk="1" hangingPunct="1"/>
            <a:r>
              <a:rPr lang="en-SG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dlau@nus.edu.sg</a:t>
            </a: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362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B74D2A-B296-7D10-BD88-D2DEA08BA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64" y="2487857"/>
            <a:ext cx="8603672" cy="18822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5A94F8-1185-C87D-7B00-B5458EB04616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Question 1:</a:t>
            </a:r>
          </a:p>
        </p:txBody>
      </p:sp>
    </p:spTree>
    <p:extLst>
      <p:ext uri="{BB962C8B-B14F-4D97-AF65-F5344CB8AC3E}">
        <p14:creationId xmlns:p14="http://schemas.microsoft.com/office/powerpoint/2010/main" val="4252712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6AEBD3-731E-779B-1732-D54F80AB6C4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92359" y="98927"/>
            <a:ext cx="4359281" cy="3509107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BD158428-4873-DFE2-512E-C1972F7F7F41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Solution 1: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93406-417D-06ED-9519-CA998D5B519C}"/>
              </a:ext>
            </a:extLst>
          </p:cNvPr>
          <p:cNvSpPr/>
          <p:nvPr/>
        </p:nvSpPr>
        <p:spPr bwMode="auto">
          <a:xfrm>
            <a:off x="2392359" y="1323967"/>
            <a:ext cx="633949" cy="1941945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AF099E-F39B-0BE3-62C1-C9C405245D39}"/>
              </a:ext>
            </a:extLst>
          </p:cNvPr>
          <p:cNvSpPr txBox="1"/>
          <p:nvPr/>
        </p:nvSpPr>
        <p:spPr>
          <a:xfrm>
            <a:off x="207815" y="2169113"/>
            <a:ext cx="22121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solidFill>
                  <a:srgbClr val="00B050"/>
                </a:solidFill>
                <a:latin typeface="+mn-lt"/>
              </a:rPr>
              <a:t>Input Files:</a:t>
            </a:r>
          </a:p>
          <a:p>
            <a:r>
              <a:rPr lang="en-US" sz="1800" kern="0" dirty="0">
                <a:solidFill>
                  <a:srgbClr val="00B050"/>
                </a:solidFill>
                <a:latin typeface="+mn-lt"/>
              </a:rPr>
              <a:t>[15, 21, 24, 30, 49]</a:t>
            </a:r>
            <a:endParaRPr lang="en-SG" sz="18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0B71AA-15D4-6CC1-198C-39067631B458}"/>
              </a:ext>
            </a:extLst>
          </p:cNvPr>
          <p:cNvSpPr txBox="1"/>
          <p:nvPr/>
        </p:nvSpPr>
        <p:spPr>
          <a:xfrm>
            <a:off x="1679118" y="3592089"/>
            <a:ext cx="62013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Map Phase:</a:t>
            </a:r>
            <a:br>
              <a:rPr lang="en-US" sz="2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2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“The map function takes an integer </a:t>
            </a:r>
            <a:r>
              <a:rPr lang="en-US" sz="2000" i="1" dirty="0" err="1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and produces the list of pairs (</a:t>
            </a:r>
            <a:r>
              <a:rPr lang="en-US" sz="2000" i="1" dirty="0" err="1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</a:t>
            </a:r>
            <a:r>
              <a:rPr lang="en-US" sz="2000" dirty="0" err="1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</a:t>
            </a:r>
            <a:r>
              <a:rPr lang="en-US" sz="2000" i="1" dirty="0" err="1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 such that </a:t>
            </a:r>
            <a:r>
              <a:rPr lang="en-US" sz="2000" i="1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</a:t>
            </a:r>
            <a:r>
              <a:rPr lang="en-US" sz="2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is a prime divisor of </a:t>
            </a:r>
            <a:r>
              <a:rPr lang="en-US" sz="2000" i="1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DA0AC0-CC1D-9B90-A4C8-6707A0E4338C}"/>
              </a:ext>
            </a:extLst>
          </p:cNvPr>
          <p:cNvSpPr/>
          <p:nvPr/>
        </p:nvSpPr>
        <p:spPr bwMode="auto">
          <a:xfrm>
            <a:off x="3154207" y="1336389"/>
            <a:ext cx="735550" cy="1941945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A4D19-5B76-5368-DF30-C91E2439EB2E}"/>
              </a:ext>
            </a:extLst>
          </p:cNvPr>
          <p:cNvSpPr txBox="1"/>
          <p:nvPr/>
        </p:nvSpPr>
        <p:spPr>
          <a:xfrm>
            <a:off x="1679118" y="4607752"/>
            <a:ext cx="40312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b="0" kern="0" dirty="0">
                <a:solidFill>
                  <a:srgbClr val="00B0F0"/>
                </a:solidFill>
              </a:rPr>
              <a:t>15  -&gt;  [(3,15), (5,15)]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b="0" kern="0" dirty="0">
                <a:solidFill>
                  <a:srgbClr val="00B0F0"/>
                </a:solidFill>
              </a:rPr>
              <a:t>21  -&gt;  [(3,21), (7,21)]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b="0" kern="0" dirty="0">
                <a:solidFill>
                  <a:srgbClr val="00B0F0"/>
                </a:solidFill>
              </a:rPr>
              <a:t>24  -&gt;  [(2,24), (3,24)]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b="0" kern="0" dirty="0">
                <a:solidFill>
                  <a:srgbClr val="00B0F0"/>
                </a:solidFill>
              </a:rPr>
              <a:t>30  -&gt;  [(2,30), (3,30), (5,30)]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b="0" kern="0" dirty="0">
                <a:solidFill>
                  <a:srgbClr val="00B0F0"/>
                </a:solidFill>
              </a:rPr>
              <a:t>49  -&gt;  [(7,49)]</a:t>
            </a:r>
          </a:p>
        </p:txBody>
      </p:sp>
    </p:spTree>
    <p:extLst>
      <p:ext uri="{BB962C8B-B14F-4D97-AF65-F5344CB8AC3E}">
        <p14:creationId xmlns:p14="http://schemas.microsoft.com/office/powerpoint/2010/main" val="378967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2" grpId="0" build="p"/>
      <p:bldP spid="13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6AEBD3-731E-779B-1732-D54F80AB6C4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92359" y="98927"/>
            <a:ext cx="4359281" cy="3509107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BD158428-4873-DFE2-512E-C1972F7F7F41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Solution 1: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0B71AA-15D4-6CC1-198C-39067631B458}"/>
              </a:ext>
            </a:extLst>
          </p:cNvPr>
          <p:cNvSpPr txBox="1"/>
          <p:nvPr/>
        </p:nvSpPr>
        <p:spPr>
          <a:xfrm>
            <a:off x="3948533" y="3814333"/>
            <a:ext cx="369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End of Shuffle Phase (automatic) :</a:t>
            </a:r>
            <a:b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</a:br>
            <a:r>
              <a:rPr lang="en-US" sz="200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grouping by keys</a:t>
            </a:r>
            <a:endParaRPr lang="en-US" sz="2000" i="1" dirty="0">
              <a:solidFill>
                <a:srgbClr val="FF0000"/>
              </a:solidFill>
              <a:effectLst/>
              <a:ea typeface="Times New Roman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DA0AC0-CC1D-9B90-A4C8-6707A0E4338C}"/>
              </a:ext>
            </a:extLst>
          </p:cNvPr>
          <p:cNvSpPr/>
          <p:nvPr/>
        </p:nvSpPr>
        <p:spPr bwMode="auto">
          <a:xfrm>
            <a:off x="3948533" y="1323966"/>
            <a:ext cx="1316193" cy="226812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032046BD-534C-E29E-4531-9B10E1A5AFF2}"/>
              </a:ext>
            </a:extLst>
          </p:cNvPr>
          <p:cNvSpPr txBox="1"/>
          <p:nvPr/>
        </p:nvSpPr>
        <p:spPr>
          <a:xfrm>
            <a:off x="207815" y="3757893"/>
            <a:ext cx="3396445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chemeClr val="accent2"/>
              </a:buClr>
              <a:buSzPct val="85000"/>
              <a:defRPr sz="1600"/>
            </a:pPr>
            <a:r>
              <a:rPr lang="en-US" sz="2000" b="0" kern="0" dirty="0">
                <a:solidFill>
                  <a:srgbClr val="00B0F0"/>
                </a:solidFill>
              </a:rPr>
              <a:t>Output of Map Phase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3586E-FAC1-389B-BA74-C29737D56089}"/>
              </a:ext>
            </a:extLst>
          </p:cNvPr>
          <p:cNvSpPr txBox="1"/>
          <p:nvPr/>
        </p:nvSpPr>
        <p:spPr>
          <a:xfrm>
            <a:off x="207815" y="4168276"/>
            <a:ext cx="40312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b="0" kern="0" dirty="0">
                <a:solidFill>
                  <a:srgbClr val="00B0F0"/>
                </a:solidFill>
              </a:rPr>
              <a:t>15  -&gt;  [(3,15), (5,15)]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b="0" kern="0" dirty="0">
                <a:solidFill>
                  <a:srgbClr val="00B0F0"/>
                </a:solidFill>
              </a:rPr>
              <a:t>21  -&gt;  [(3,21), (7,21)]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b="0" kern="0" dirty="0">
                <a:solidFill>
                  <a:srgbClr val="00B0F0"/>
                </a:solidFill>
              </a:rPr>
              <a:t>24  -&gt;  [(2,24), (3,24)]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b="0" kern="0" dirty="0">
                <a:solidFill>
                  <a:srgbClr val="00B0F0"/>
                </a:solidFill>
              </a:rPr>
              <a:t>30  -&gt;  [(2,30), (3,30), (5,30)]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b="0" kern="0" dirty="0">
                <a:solidFill>
                  <a:srgbClr val="00B0F0"/>
                </a:solidFill>
              </a:rPr>
              <a:t>49  -&gt;  [(7,49)]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4FEE1-A434-2FF7-9DE1-203CCC24CEAD}"/>
              </a:ext>
            </a:extLst>
          </p:cNvPr>
          <p:cNvSpPr txBox="1"/>
          <p:nvPr/>
        </p:nvSpPr>
        <p:spPr>
          <a:xfrm>
            <a:off x="3950860" y="4522219"/>
            <a:ext cx="34405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kern="0" dirty="0">
                <a:solidFill>
                  <a:srgbClr val="FF0000"/>
                </a:solidFill>
              </a:rPr>
              <a:t>(2, [24, 30])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kern="0" dirty="0">
                <a:solidFill>
                  <a:srgbClr val="FF0000"/>
                </a:solidFill>
              </a:rPr>
              <a:t>(3, [15, 21, 24, 30])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kern="0" dirty="0">
                <a:solidFill>
                  <a:srgbClr val="FF0000"/>
                </a:solidFill>
              </a:rPr>
              <a:t>(5, [15, 30])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kern="0" dirty="0">
                <a:solidFill>
                  <a:srgbClr val="FF0000"/>
                </a:solidFill>
              </a:rPr>
              <a:t>(7, [21, 49])</a:t>
            </a:r>
          </a:p>
        </p:txBody>
      </p:sp>
    </p:spTree>
    <p:extLst>
      <p:ext uri="{BB962C8B-B14F-4D97-AF65-F5344CB8AC3E}">
        <p14:creationId xmlns:p14="http://schemas.microsoft.com/office/powerpoint/2010/main" val="1641291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6AEBD3-731E-779B-1732-D54F80AB6C4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92359" y="98927"/>
            <a:ext cx="4359281" cy="3509107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BD158428-4873-DFE2-512E-C1972F7F7F41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Solution 1: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0B71AA-15D4-6CC1-198C-39067631B458}"/>
              </a:ext>
            </a:extLst>
          </p:cNvPr>
          <p:cNvSpPr txBox="1"/>
          <p:nvPr/>
        </p:nvSpPr>
        <p:spPr>
          <a:xfrm>
            <a:off x="3594457" y="3739154"/>
            <a:ext cx="546792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ea typeface="Times New Roman" panose="02020603050405020304" pitchFamily="18" charset="0"/>
                <a:cs typeface="Times" panose="02020603050405020304" pitchFamily="18" charset="0"/>
              </a:rPr>
              <a:t>Output of R</a:t>
            </a:r>
            <a:r>
              <a:rPr lang="en-US" sz="2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educe Phase:</a:t>
            </a:r>
            <a:br>
              <a:rPr lang="en-US" sz="2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</a:br>
            <a:r>
              <a:rPr lang="en-US" sz="2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“The reduce function is addition. That is, reduce  (p, [i</a:t>
            </a:r>
            <a:r>
              <a:rPr lang="en-US" sz="2000" baseline="-25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1</a:t>
            </a:r>
            <a:r>
              <a:rPr lang="en-US" sz="2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, i</a:t>
            </a:r>
            <a:r>
              <a:rPr lang="en-US" sz="2000" baseline="-25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2</a:t>
            </a:r>
            <a:r>
              <a:rPr lang="en-US" sz="2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, …, </a:t>
            </a:r>
            <a:r>
              <a:rPr lang="en-US" sz="2000" dirty="0" err="1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i</a:t>
            </a:r>
            <a:r>
              <a:rPr lang="en-US" sz="2000" baseline="-25000" dirty="0" err="1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k</a:t>
            </a:r>
            <a:r>
              <a:rPr lang="en-US" sz="2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] is (p, i</a:t>
            </a:r>
            <a:r>
              <a:rPr lang="en-US" sz="2000" baseline="-25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1</a:t>
            </a:r>
            <a:r>
              <a:rPr lang="en-US" sz="2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 + i</a:t>
            </a:r>
            <a:r>
              <a:rPr lang="en-US" sz="2000" baseline="-25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2</a:t>
            </a:r>
            <a:r>
              <a:rPr lang="en-US" sz="2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+ … + </a:t>
            </a:r>
            <a:r>
              <a:rPr lang="en-US" sz="2000" dirty="0" err="1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i</a:t>
            </a:r>
            <a:r>
              <a:rPr lang="en-US" sz="2000" baseline="-25000" dirty="0" err="1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k</a:t>
            </a:r>
            <a:r>
              <a:rPr lang="en-US" sz="2000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" panose="02020603050405020304" pitchFamily="18" charset="0"/>
              </a:rPr>
              <a:t>)”</a:t>
            </a:r>
          </a:p>
          <a:p>
            <a:endParaRPr lang="en-US" sz="1000" dirty="0">
              <a:solidFill>
                <a:srgbClr val="7030A0"/>
              </a:solidFill>
              <a:effectLst/>
              <a:ea typeface="Times New Roman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DA0AC0-CC1D-9B90-A4C8-6707A0E4338C}"/>
              </a:ext>
            </a:extLst>
          </p:cNvPr>
          <p:cNvSpPr/>
          <p:nvPr/>
        </p:nvSpPr>
        <p:spPr bwMode="auto">
          <a:xfrm>
            <a:off x="5264727" y="1588654"/>
            <a:ext cx="766618" cy="1690255"/>
          </a:xfrm>
          <a:prstGeom prst="rect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652E2768-13D1-D92B-19DA-DA05FA7FF0AC}"/>
              </a:ext>
            </a:extLst>
          </p:cNvPr>
          <p:cNvSpPr txBox="1"/>
          <p:nvPr/>
        </p:nvSpPr>
        <p:spPr>
          <a:xfrm>
            <a:off x="207815" y="3758391"/>
            <a:ext cx="3654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chemeClr val="accent2"/>
              </a:buClr>
              <a:buSzPct val="85000"/>
              <a:defRPr sz="1600"/>
            </a:pPr>
            <a:r>
              <a:rPr lang="en-US" sz="2000" b="0" kern="0" dirty="0">
                <a:solidFill>
                  <a:srgbClr val="FF0000"/>
                </a:solidFill>
              </a:rPr>
              <a:t>Input of Reduce Phase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2156B-A001-DDB9-249C-F5FAD3D53193}"/>
              </a:ext>
            </a:extLst>
          </p:cNvPr>
          <p:cNvSpPr txBox="1"/>
          <p:nvPr/>
        </p:nvSpPr>
        <p:spPr>
          <a:xfrm>
            <a:off x="207815" y="4158501"/>
            <a:ext cx="26077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kern="0" dirty="0">
                <a:solidFill>
                  <a:srgbClr val="FF0000"/>
                </a:solidFill>
              </a:rPr>
              <a:t>(2, [24, 30])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kern="0" dirty="0">
                <a:solidFill>
                  <a:srgbClr val="FF0000"/>
                </a:solidFill>
              </a:rPr>
              <a:t>(3, [15, 21, 24, 30])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kern="0" dirty="0">
                <a:solidFill>
                  <a:srgbClr val="FF0000"/>
                </a:solidFill>
              </a:rPr>
              <a:t>(5, [15, 30])</a:t>
            </a:r>
          </a:p>
          <a:p>
            <a:pPr marL="396000" indent="-411800">
              <a:spcBef>
                <a:spcPts val="0"/>
              </a:spcBef>
              <a:buClr>
                <a:schemeClr val="accent2"/>
              </a:buClr>
              <a:buSzPct val="85000"/>
              <a:buFontTx/>
              <a:buChar char="▪"/>
              <a:defRPr sz="1600"/>
            </a:pPr>
            <a:r>
              <a:rPr lang="en-US" sz="2000" kern="0" dirty="0">
                <a:solidFill>
                  <a:srgbClr val="FF0000"/>
                </a:solidFill>
              </a:rPr>
              <a:t>(7, [21, 49])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2040EC-F383-9AD9-C344-A6B361AB5CBC}"/>
              </a:ext>
            </a:extLst>
          </p:cNvPr>
          <p:cNvSpPr txBox="1"/>
          <p:nvPr/>
        </p:nvSpPr>
        <p:spPr>
          <a:xfrm>
            <a:off x="3594457" y="4820220"/>
            <a:ext cx="10919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964" indent="-285750" eaLnBrk="1" hangingPunct="1"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rgbClr val="7030A0"/>
                </a:solidFill>
                <a:ea typeface="SimSun" pitchFamily="2" charset="-122"/>
              </a:rPr>
              <a:t>(2,54)</a:t>
            </a:r>
          </a:p>
          <a:p>
            <a:pPr marL="51964" indent="-285750" eaLnBrk="1" hangingPunct="1"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rgbClr val="7030A0"/>
                </a:solidFill>
                <a:ea typeface="SimSun" pitchFamily="2" charset="-122"/>
              </a:rPr>
              <a:t>(3,90)</a:t>
            </a:r>
          </a:p>
          <a:p>
            <a:pPr marL="51964" indent="-285750" eaLnBrk="1" hangingPunct="1"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rgbClr val="7030A0"/>
                </a:solidFill>
                <a:ea typeface="SimSun" pitchFamily="2" charset="-122"/>
              </a:rPr>
              <a:t>(5,45)</a:t>
            </a:r>
          </a:p>
          <a:p>
            <a:pPr marL="51964" indent="-285750" eaLnBrk="1" hangingPunct="1">
              <a:buClr>
                <a:schemeClr val="accent2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rgbClr val="7030A0"/>
                </a:solidFill>
                <a:ea typeface="SimSun" pitchFamily="2" charset="-122"/>
              </a:rPr>
              <a:t>(7,70)</a:t>
            </a:r>
            <a:endParaRPr lang="en-US" sz="2000" i="1" dirty="0">
              <a:solidFill>
                <a:srgbClr val="7030A0"/>
              </a:solidFill>
              <a:effectLst/>
              <a:ea typeface="Times New Roman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277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E4D2278-49A0-EB9E-902F-0596DB7D27CB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Question 2: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1BEE22B-3129-E802-8E69-F71ADE642A6A}"/>
              </a:ext>
            </a:extLst>
          </p:cNvPr>
          <p:cNvGrpSpPr/>
          <p:nvPr/>
        </p:nvGrpSpPr>
        <p:grpSpPr>
          <a:xfrm>
            <a:off x="418707" y="1648667"/>
            <a:ext cx="8321826" cy="3792653"/>
            <a:chOff x="411087" y="1641047"/>
            <a:chExt cx="8321826" cy="37926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C29A05-805E-A7B4-16C8-AE2CAF399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1087" y="1641047"/>
              <a:ext cx="8321826" cy="3792653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58A968B-6BB4-B94F-707D-BA89A6449E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45" r="-345"/>
            <a:stretch/>
          </p:blipFill>
          <p:spPr>
            <a:xfrm>
              <a:off x="411087" y="3916681"/>
              <a:ext cx="7959374" cy="340368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3FC958D-F9A9-AFD4-91C9-3D5BF86AD2E0}"/>
              </a:ext>
            </a:extLst>
          </p:cNvPr>
          <p:cNvSpPr/>
          <p:nvPr/>
        </p:nvSpPr>
        <p:spPr bwMode="auto">
          <a:xfrm>
            <a:off x="3398520" y="2026920"/>
            <a:ext cx="2293620" cy="17830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9AAD69-596B-4915-CEE7-67A7940BC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394" y="2422213"/>
            <a:ext cx="22860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58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E4D2278-49A0-EB9E-902F-0596DB7D27CB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Solution 2: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F5B2CB-C338-C3AE-C653-F05BEF3853E7}"/>
              </a:ext>
            </a:extLst>
          </p:cNvPr>
          <p:cNvSpPr txBox="1"/>
          <p:nvPr/>
        </p:nvSpPr>
        <p:spPr>
          <a:xfrm>
            <a:off x="3050007" y="3107054"/>
            <a:ext cx="15459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800" dirty="0"/>
              <a:t>Part of a large matrix </a:t>
            </a:r>
          </a:p>
          <a:p>
            <a:pPr algn="ctr"/>
            <a:r>
              <a:rPr lang="en-SG" sz="1800" dirty="0"/>
              <a:t>(n x 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B28F0A-0402-0589-563D-BB13356AAFC4}"/>
              </a:ext>
            </a:extLst>
          </p:cNvPr>
          <p:cNvSpPr txBox="1"/>
          <p:nvPr/>
        </p:nvSpPr>
        <p:spPr>
          <a:xfrm>
            <a:off x="4071216" y="4179491"/>
            <a:ext cx="1001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800" dirty="0"/>
              <a:t>n &gt;&gt;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4806B-6D47-9235-C99B-CE5B9357A77A}"/>
              </a:ext>
            </a:extLst>
          </p:cNvPr>
          <p:cNvSpPr txBox="1"/>
          <p:nvPr/>
        </p:nvSpPr>
        <p:spPr>
          <a:xfrm>
            <a:off x="4600506" y="3114535"/>
            <a:ext cx="1545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800" dirty="0"/>
              <a:t>Small vector </a:t>
            </a:r>
          </a:p>
          <a:p>
            <a:pPr algn="ctr"/>
            <a:r>
              <a:rPr lang="en-SG" sz="1800" dirty="0"/>
              <a:t>(4 x 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A8A0E-2CCB-1F03-B990-45A01EABE131}"/>
              </a:ext>
            </a:extLst>
          </p:cNvPr>
          <p:cNvSpPr txBox="1"/>
          <p:nvPr/>
        </p:nvSpPr>
        <p:spPr>
          <a:xfrm>
            <a:off x="702740" y="3776550"/>
            <a:ext cx="30220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/>
              <a:t>Too large to be stored on single machine. To be distributed to cluster of machines. Map function takes matrix elements as 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DF69C5-DB24-B13E-39A2-8A2BB290C089}"/>
              </a:ext>
            </a:extLst>
          </p:cNvPr>
          <p:cNvSpPr txBox="1"/>
          <p:nvPr/>
        </p:nvSpPr>
        <p:spPr>
          <a:xfrm>
            <a:off x="6013091" y="3856326"/>
            <a:ext cx="2531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/>
              <a:t>Fixed vector stored on every machine in cluster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C05276-9CCD-5FCD-6E58-B43B97A17323}"/>
              </a:ext>
            </a:extLst>
          </p:cNvPr>
          <p:cNvCxnSpPr>
            <a:cxnSpLocks/>
          </p:cNvCxnSpPr>
          <p:nvPr/>
        </p:nvCxnSpPr>
        <p:spPr bwMode="auto">
          <a:xfrm flipV="1">
            <a:off x="2585872" y="3518031"/>
            <a:ext cx="665281" cy="2523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EE9B6C3-E86E-7127-41D3-D5B3C2B0FFC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837611" y="3520644"/>
            <a:ext cx="692724" cy="3356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4EA35C-6AB5-A630-46FE-61AA9EE17F0C}"/>
              </a:ext>
            </a:extLst>
          </p:cNvPr>
          <p:cNvSpPr txBox="1"/>
          <p:nvPr/>
        </p:nvSpPr>
        <p:spPr>
          <a:xfrm>
            <a:off x="1059871" y="5368678"/>
            <a:ext cx="70242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input to the mapper function is </a:t>
            </a:r>
            <a:r>
              <a:rPr lang="en-SG" dirty="0">
                <a:solidFill>
                  <a:srgbClr val="FF0000"/>
                </a:solidFill>
              </a:rPr>
              <a:t>(value, row, col)</a:t>
            </a:r>
            <a:r>
              <a:rPr lang="en-SG" dirty="0"/>
              <a:t>. </a:t>
            </a:r>
            <a:r>
              <a:rPr lang="en-SG" dirty="0" err="1"/>
              <a:t>e.g</a:t>
            </a:r>
            <a:r>
              <a:rPr lang="en-SG" dirty="0"/>
              <a:t>:</a:t>
            </a:r>
          </a:p>
          <a:p>
            <a:r>
              <a:rPr lang="en-SG" dirty="0"/>
              <a:t>(1, 1, 1), (2, 1, 2), … , (16, 4, 4)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EAC1D-8A70-3FF4-3B3D-B380DBC153B5}"/>
              </a:ext>
            </a:extLst>
          </p:cNvPr>
          <p:cNvSpPr txBox="1"/>
          <p:nvPr/>
        </p:nvSpPr>
        <p:spPr>
          <a:xfrm>
            <a:off x="1059871" y="1243117"/>
            <a:ext cx="7024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Imagine the matrix given is truncated, such that…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33173E-2E95-0658-4DE1-B9A621802B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334"/>
          <a:stretch>
            <a:fillRect/>
          </a:stretch>
        </p:blipFill>
        <p:spPr>
          <a:xfrm>
            <a:off x="2863158" y="1906534"/>
            <a:ext cx="1821165" cy="1181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463D3A-36EA-E9CD-B845-786E9DF5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86"/>
          <a:stretch>
            <a:fillRect/>
          </a:stretch>
        </p:blipFill>
        <p:spPr>
          <a:xfrm>
            <a:off x="5187000" y="1906534"/>
            <a:ext cx="372949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82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469EAF-1D5C-D2F4-B314-24F0E58F7D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86"/>
          <a:stretch>
            <a:fillRect/>
          </a:stretch>
        </p:blipFill>
        <p:spPr>
          <a:xfrm>
            <a:off x="2017683" y="3980308"/>
            <a:ext cx="400536" cy="1268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002B96-D58B-2569-A486-5F7EDB40B7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334"/>
          <a:stretch>
            <a:fillRect/>
          </a:stretch>
        </p:blipFill>
        <p:spPr>
          <a:xfrm>
            <a:off x="125790" y="4142140"/>
            <a:ext cx="1464876" cy="9500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6AEBD3-731E-779B-1732-D54F80AB6C4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92359" y="98927"/>
            <a:ext cx="4359281" cy="3509107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BD158428-4873-DFE2-512E-C1972F7F7F41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Solution 2: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DB90BA84-1D2E-3AE4-CA21-0C8A754F19B0}"/>
              </a:ext>
            </a:extLst>
          </p:cNvPr>
          <p:cNvSpPr txBox="1"/>
          <p:nvPr/>
        </p:nvSpPr>
        <p:spPr>
          <a:xfrm>
            <a:off x="225345" y="1211685"/>
            <a:ext cx="1397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solidFill>
                  <a:srgbClr val="00B0F0"/>
                </a:solidFill>
                <a:latin typeface="+mn-lt"/>
              </a:rPr>
              <a:t>Map Input :</a:t>
            </a:r>
          </a:p>
          <a:p>
            <a:r>
              <a:rPr lang="en-SG" sz="1800" dirty="0">
                <a:solidFill>
                  <a:srgbClr val="00B0F0"/>
                </a:solidFill>
              </a:rPr>
              <a:t>(1, 1, 1), </a:t>
            </a:r>
          </a:p>
          <a:p>
            <a:r>
              <a:rPr lang="en-SG" sz="1800" dirty="0">
                <a:solidFill>
                  <a:srgbClr val="00B0F0"/>
                </a:solidFill>
              </a:rPr>
              <a:t>(2, 1, 2), </a:t>
            </a:r>
          </a:p>
          <a:p>
            <a:r>
              <a:rPr lang="en-SG" sz="1800" dirty="0">
                <a:solidFill>
                  <a:srgbClr val="00B0F0"/>
                </a:solidFill>
              </a:rPr>
              <a:t>… , </a:t>
            </a:r>
          </a:p>
          <a:p>
            <a:r>
              <a:rPr lang="en-SG" sz="1800" dirty="0">
                <a:solidFill>
                  <a:srgbClr val="00B0F0"/>
                </a:solidFill>
              </a:rPr>
              <a:t>(16, 4, 4)</a:t>
            </a:r>
            <a:endParaRPr lang="en-US" sz="1800" kern="0"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337665-C3BB-6CBF-2370-954EA658D3B5}"/>
              </a:ext>
            </a:extLst>
          </p:cNvPr>
          <p:cNvSpPr txBox="1"/>
          <p:nvPr/>
        </p:nvSpPr>
        <p:spPr>
          <a:xfrm>
            <a:off x="1628516" y="4362252"/>
            <a:ext cx="341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DD867-6A27-2C63-9AE8-F48DF90F5135}"/>
              </a:ext>
            </a:extLst>
          </p:cNvPr>
          <p:cNvSpPr txBox="1"/>
          <p:nvPr/>
        </p:nvSpPr>
        <p:spPr>
          <a:xfrm>
            <a:off x="2595712" y="4383710"/>
            <a:ext cx="341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= </a:t>
            </a:r>
          </a:p>
        </p:txBody>
      </p: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74E87E15-AE2D-02D9-F6B0-4A7C40BB1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029027"/>
              </p:ext>
            </p:extLst>
          </p:nvPr>
        </p:nvGraphicFramePr>
        <p:xfrm>
          <a:off x="3297334" y="3964462"/>
          <a:ext cx="299724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7244">
                  <a:extLst>
                    <a:ext uri="{9D8B030D-6E8A-4147-A177-3AD203B41FA5}">
                      <a16:colId xmlns:a16="http://schemas.microsoft.com/office/drawing/2014/main" val="3665372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SG" dirty="0"/>
                        <a:t> + </a:t>
                      </a:r>
                      <a:r>
                        <a:rPr lang="en-SG" dirty="0">
                          <a:solidFill>
                            <a:srgbClr val="0070C0"/>
                          </a:solidFill>
                        </a:rPr>
                        <a:t>2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>
                          <a:solidFill>
                            <a:srgbClr val="FFC000"/>
                          </a:solidFill>
                        </a:rPr>
                        <a:t>2</a:t>
                      </a:r>
                      <a:r>
                        <a:rPr lang="en-SG" dirty="0"/>
                        <a:t> + 3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3 + 4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018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5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1 + 6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2 + 7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3 + 8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510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9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1 + 10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2 + 11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3 + 12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13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1 + 14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2 + 15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3 + 16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757089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9AFE2CBD-A617-AE94-B5C9-B30AD3B2B2A2}"/>
              </a:ext>
            </a:extLst>
          </p:cNvPr>
          <p:cNvSpPr/>
          <p:nvPr/>
        </p:nvSpPr>
        <p:spPr bwMode="auto">
          <a:xfrm>
            <a:off x="260035" y="4123095"/>
            <a:ext cx="230909" cy="28632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FECDF4-2D5E-32E3-306F-3C41CD92B895}"/>
              </a:ext>
            </a:extLst>
          </p:cNvPr>
          <p:cNvSpPr/>
          <p:nvPr/>
        </p:nvSpPr>
        <p:spPr bwMode="auto">
          <a:xfrm>
            <a:off x="2036895" y="3998976"/>
            <a:ext cx="317508" cy="286328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Times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8A203A-DBB6-487B-85C4-F33EC0B50EFF}"/>
              </a:ext>
            </a:extLst>
          </p:cNvPr>
          <p:cNvSpPr/>
          <p:nvPr/>
        </p:nvSpPr>
        <p:spPr bwMode="auto">
          <a:xfrm>
            <a:off x="600845" y="4123095"/>
            <a:ext cx="230909" cy="286328"/>
          </a:xfrm>
          <a:prstGeom prst="rect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13895711-79E6-F136-CE5A-BF2DBEC54FE2}"/>
              </a:ext>
            </a:extLst>
          </p:cNvPr>
          <p:cNvSpPr txBox="1"/>
          <p:nvPr/>
        </p:nvSpPr>
        <p:spPr>
          <a:xfrm>
            <a:off x="210407" y="2846478"/>
            <a:ext cx="1397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kern="0" dirty="0">
                <a:solidFill>
                  <a:srgbClr val="00B0F0"/>
                </a:solidFill>
                <a:latin typeface="+mn-lt"/>
              </a:rPr>
              <a:t>(</a:t>
            </a:r>
            <a:r>
              <a:rPr lang="en-SG" sz="1800" kern="0" dirty="0" err="1">
                <a:solidFill>
                  <a:srgbClr val="00B0F0"/>
                </a:solidFill>
                <a:latin typeface="+mn-lt"/>
              </a:rPr>
              <a:t>M</a:t>
            </a:r>
            <a:r>
              <a:rPr lang="en-SG" sz="1800" kern="0" baseline="-25000" dirty="0" err="1">
                <a:solidFill>
                  <a:srgbClr val="00B0F0"/>
                </a:solidFill>
                <a:latin typeface="+mn-lt"/>
              </a:rPr>
              <a:t>ij</a:t>
            </a:r>
            <a:r>
              <a:rPr lang="en-SG" sz="1800" kern="0" dirty="0">
                <a:solidFill>
                  <a:srgbClr val="00B0F0"/>
                </a:solidFill>
                <a:latin typeface="+mn-lt"/>
              </a:rPr>
              <a:t>, </a:t>
            </a:r>
            <a:r>
              <a:rPr lang="en-SG" sz="1800" kern="0" dirty="0" err="1">
                <a:solidFill>
                  <a:srgbClr val="00B0F0"/>
                </a:solidFill>
                <a:latin typeface="+mn-lt"/>
              </a:rPr>
              <a:t>i</a:t>
            </a:r>
            <a:r>
              <a:rPr lang="en-SG" sz="1800" kern="0" dirty="0">
                <a:solidFill>
                  <a:srgbClr val="00B0F0"/>
                </a:solidFill>
                <a:latin typeface="+mn-lt"/>
              </a:rPr>
              <a:t>, j)</a:t>
            </a:r>
            <a:endParaRPr lang="en-US" sz="1800" kern="0"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DBF94506-C63D-EFD9-BD11-526F12CBDD1F}"/>
              </a:ext>
            </a:extLst>
          </p:cNvPr>
          <p:cNvSpPr txBox="1"/>
          <p:nvPr/>
        </p:nvSpPr>
        <p:spPr>
          <a:xfrm>
            <a:off x="107419" y="5331547"/>
            <a:ext cx="16083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kern="0" dirty="0">
                <a:latin typeface="+mn-lt"/>
              </a:rPr>
              <a:t>Matrix </a:t>
            </a:r>
            <a:r>
              <a:rPr lang="en-SG" sz="1400" b="1" kern="0" dirty="0">
                <a:latin typeface="+mn-lt"/>
              </a:rPr>
              <a:t>M</a:t>
            </a:r>
          </a:p>
          <a:p>
            <a:pPr algn="ctr"/>
            <a:r>
              <a:rPr lang="en-SG" sz="1400" kern="0" dirty="0">
                <a:latin typeface="+mn-lt"/>
              </a:rPr>
              <a:t>with Matrix Element, </a:t>
            </a:r>
            <a:r>
              <a:rPr lang="en-SG" sz="1400" kern="0" dirty="0" err="1">
                <a:latin typeface="+mn-lt"/>
              </a:rPr>
              <a:t>M</a:t>
            </a:r>
            <a:r>
              <a:rPr lang="en-SG" sz="1400" kern="0" baseline="-25000" dirty="0" err="1">
                <a:latin typeface="+mn-lt"/>
              </a:rPr>
              <a:t>ij</a:t>
            </a:r>
            <a:endParaRPr lang="en-US" sz="1400" kern="0" dirty="0">
              <a:latin typeface="+mn-lt"/>
            </a:endParaRP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4BDE5BE1-A572-498F-2B95-61075FA7C036}"/>
              </a:ext>
            </a:extLst>
          </p:cNvPr>
          <p:cNvSpPr txBox="1"/>
          <p:nvPr/>
        </p:nvSpPr>
        <p:spPr>
          <a:xfrm>
            <a:off x="1513854" y="5353005"/>
            <a:ext cx="14081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kern="0" dirty="0">
                <a:latin typeface="+mn-lt"/>
              </a:rPr>
              <a:t>Vector </a:t>
            </a:r>
            <a:r>
              <a:rPr lang="en-SG" sz="1400" b="1" kern="0" dirty="0">
                <a:latin typeface="+mn-lt"/>
              </a:rPr>
              <a:t>V</a:t>
            </a:r>
          </a:p>
          <a:p>
            <a:pPr algn="ctr"/>
            <a:r>
              <a:rPr lang="en-SG" sz="1400" kern="0" dirty="0">
                <a:latin typeface="+mn-lt"/>
              </a:rPr>
              <a:t>with element</a:t>
            </a:r>
          </a:p>
          <a:p>
            <a:pPr algn="ctr"/>
            <a:r>
              <a:rPr lang="en-SG" sz="1400" kern="0" dirty="0">
                <a:latin typeface="+mn-lt"/>
              </a:rPr>
              <a:t> </a:t>
            </a:r>
            <a:r>
              <a:rPr lang="en-SG" sz="1400" kern="0" dirty="0" err="1">
                <a:latin typeface="+mn-lt"/>
              </a:rPr>
              <a:t>v</a:t>
            </a:r>
            <a:r>
              <a:rPr lang="en-SG" sz="1400" kern="0" baseline="-25000" dirty="0" err="1">
                <a:latin typeface="+mn-lt"/>
              </a:rPr>
              <a:t>j</a:t>
            </a:r>
            <a:endParaRPr lang="en-US" sz="1400" kern="0" baseline="-25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9">
                <a:extLst>
                  <a:ext uri="{FF2B5EF4-FFF2-40B4-BE49-F238E27FC236}">
                    <a16:creationId xmlns:a16="http://schemas.microsoft.com/office/drawing/2014/main" id="{6B5C8738-05D2-CA86-7B71-074793C55CBC}"/>
                  </a:ext>
                </a:extLst>
              </p:cNvPr>
              <p:cNvSpPr txBox="1"/>
              <p:nvPr/>
            </p:nvSpPr>
            <p:spPr>
              <a:xfrm>
                <a:off x="3414791" y="5463251"/>
                <a:ext cx="2762330" cy="1043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SG" sz="1400" kern="0" dirty="0">
                    <a:latin typeface="+mn-lt"/>
                  </a:rPr>
                  <a:t>Vector </a:t>
                </a:r>
                <a:r>
                  <a:rPr lang="en-SG" sz="1400" b="1" kern="0" dirty="0">
                    <a:latin typeface="+mn-lt"/>
                  </a:rPr>
                  <a:t>X </a:t>
                </a:r>
              </a:p>
              <a:p>
                <a:pPr algn="ctr"/>
                <a:r>
                  <a:rPr lang="en-SG" sz="1400" kern="0" dirty="0">
                    <a:latin typeface="+mn-lt"/>
                  </a:rPr>
                  <a:t>with element</a:t>
                </a:r>
              </a:p>
              <a:p>
                <a:pPr algn="ctr"/>
                <a:r>
                  <a:rPr lang="en-SG" sz="1400" kern="0" dirty="0">
                    <a:latin typeface="+mn-lt"/>
                  </a:rPr>
                  <a:t> x</a:t>
                </a:r>
                <a:r>
                  <a:rPr lang="en-SG" sz="1400" kern="0" baseline="-25000" dirty="0">
                    <a:latin typeface="+mn-lt"/>
                  </a:rPr>
                  <a:t>i </a:t>
                </a:r>
                <a:r>
                  <a:rPr lang="en-SG" sz="1400" kern="0" dirty="0">
                    <a:latin typeface="+mn-lt"/>
                  </a:rPr>
                  <a:t>= </a:t>
                </a:r>
                <a:r>
                  <a:rPr lang="en-SG" sz="1400" b="1" kern="0" dirty="0">
                    <a:latin typeface="+mn-lt"/>
                  </a:rPr>
                  <a:t>M</a:t>
                </a:r>
                <a:r>
                  <a:rPr lang="en-SG" sz="1400" kern="0" baseline="-25000" dirty="0">
                    <a:latin typeface="+mn-lt"/>
                  </a:rPr>
                  <a:t>i</a:t>
                </a:r>
                <a:r>
                  <a:rPr lang="en-SG" sz="1400" b="1" kern="0" baseline="-25000" dirty="0">
                    <a:latin typeface="+mn-lt"/>
                  </a:rPr>
                  <a:t> </a:t>
                </a:r>
                <a:r>
                  <a:rPr lang="en-SG" sz="1400" kern="0" dirty="0">
                    <a:latin typeface="+mn-lt"/>
                  </a:rPr>
                  <a:t>× </a:t>
                </a:r>
                <a:r>
                  <a:rPr lang="en-SG" sz="1400" b="1" kern="0" dirty="0">
                    <a:latin typeface="+mn-lt"/>
                  </a:rPr>
                  <a:t>V</a:t>
                </a:r>
                <a:r>
                  <a:rPr lang="en-SG" sz="1400" kern="0" dirty="0">
                    <a:latin typeface="+mn-lt"/>
                  </a:rPr>
                  <a:t> =</a:t>
                </a:r>
                <a:r>
                  <a:rPr lang="en-SG" sz="1400" kern="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rial" charset="0"/>
                            <a:cs typeface="Arial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400" b="0" i="1">
                            <a:solidFill>
                              <a:schemeClr val="tx1"/>
                            </a:solidFill>
                            <a:latin typeface="Cambria Math" charset="0"/>
                            <a:ea typeface="Arial" charset="0"/>
                            <a:cs typeface="Arial" charset="0"/>
                          </a:rPr>
                          <m:t>𝑗</m:t>
                        </m:r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charset="0"/>
                            <a:ea typeface="Arial" charset="0"/>
                            <a:cs typeface="Arial" charset="0"/>
                          </a:rPr>
                          <m:t>=1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Arial" charset="0"/>
                            <a:cs typeface="Arial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charset="0"/>
                                <a:cs typeface="Arial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Arial" charset="0"/>
                                <a:cs typeface="Arial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en-US" sz="1400" b="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Arial" charset="0"/>
                                <a:cs typeface="Arial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charset="0"/>
                            <a:ea typeface="Arial" charset="0"/>
                            <a:cs typeface="Arial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rial" charset="0"/>
                                <a:cs typeface="Arial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Arial" charset="0"/>
                                <a:cs typeface="Arial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400" b="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Arial" charset="0"/>
                                <a:cs typeface="Arial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SG" sz="1400" b="1" dirty="0">
                  <a:solidFill>
                    <a:schemeClr val="tx1"/>
                  </a:solidFill>
                  <a:latin typeface="+mn-lt"/>
                  <a:ea typeface="Arial" charset="0"/>
                  <a:cs typeface="Arial" charset="0"/>
                </a:endParaRPr>
              </a:p>
              <a:p>
                <a:pPr algn="ctr"/>
                <a:r>
                  <a:rPr lang="en-US" sz="1400" kern="0" dirty="0">
                    <a:latin typeface="+mn-lt"/>
                  </a:rPr>
                  <a:t>e.g. x</a:t>
                </a:r>
                <a:r>
                  <a:rPr lang="en-US" sz="1400" kern="0" baseline="-25000" dirty="0">
                    <a:latin typeface="+mn-lt"/>
                  </a:rPr>
                  <a:t>1 </a:t>
                </a:r>
                <a:r>
                  <a:rPr lang="en-US" sz="1400" kern="0" dirty="0">
                    <a:latin typeface="+mn-lt"/>
                  </a:rPr>
                  <a:t>=</a:t>
                </a:r>
                <a:r>
                  <a:rPr lang="en-US" sz="1800" kern="0" dirty="0">
                    <a:latin typeface="+mn-lt"/>
                  </a:rPr>
                  <a:t> </a:t>
                </a:r>
                <a:r>
                  <a:rPr lang="en-SG" sz="1400" dirty="0">
                    <a:solidFill>
                      <a:srgbClr val="FF0000"/>
                    </a:solidFill>
                  </a:rPr>
                  <a:t>1</a:t>
                </a:r>
                <a:r>
                  <a:rPr lang="en-SG" sz="1400" dirty="0"/>
                  <a:t>×</a:t>
                </a:r>
                <a:r>
                  <a:rPr lang="en-SG" sz="1400" dirty="0">
                    <a:solidFill>
                      <a:srgbClr val="00B050"/>
                    </a:solidFill>
                  </a:rPr>
                  <a:t>1</a:t>
                </a:r>
                <a:r>
                  <a:rPr lang="en-SG" sz="1400" dirty="0"/>
                  <a:t> + </a:t>
                </a:r>
                <a:r>
                  <a:rPr lang="en-SG" sz="1400" dirty="0">
                    <a:solidFill>
                      <a:srgbClr val="0070C0"/>
                    </a:solidFill>
                  </a:rPr>
                  <a:t>2</a:t>
                </a:r>
                <a:r>
                  <a:rPr lang="en-SG" sz="1400" dirty="0"/>
                  <a:t>×</a:t>
                </a:r>
                <a:r>
                  <a:rPr lang="en-SG" sz="1400" dirty="0">
                    <a:solidFill>
                      <a:srgbClr val="FFC000"/>
                    </a:solidFill>
                  </a:rPr>
                  <a:t>2</a:t>
                </a:r>
                <a:r>
                  <a:rPr lang="en-SG" sz="1400" dirty="0"/>
                  <a:t> + 3×3 + 4×4</a:t>
                </a:r>
                <a:endParaRPr lang="en-SG" sz="1100" dirty="0"/>
              </a:p>
            </p:txBody>
          </p:sp>
        </mc:Choice>
        <mc:Fallback xmlns="">
          <p:sp>
            <p:nvSpPr>
              <p:cNvPr id="28" name="TextBox 9">
                <a:extLst>
                  <a:ext uri="{FF2B5EF4-FFF2-40B4-BE49-F238E27FC236}">
                    <a16:creationId xmlns:a16="http://schemas.microsoft.com/office/drawing/2014/main" id="{6B5C8738-05D2-CA86-7B71-074793C55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791" y="5463251"/>
                <a:ext cx="2762330" cy="1043042"/>
              </a:xfrm>
              <a:prstGeom prst="rect">
                <a:avLst/>
              </a:prstGeom>
              <a:blipFill>
                <a:blip r:embed="rId4"/>
                <a:stretch>
                  <a:fillRect t="-1170" b="-1812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6">
            <a:extLst>
              <a:ext uri="{FF2B5EF4-FFF2-40B4-BE49-F238E27FC236}">
                <a16:creationId xmlns:a16="http://schemas.microsoft.com/office/drawing/2014/main" id="{29CED6B6-F57B-5DE6-BF0E-1255E7D78ED0}"/>
              </a:ext>
            </a:extLst>
          </p:cNvPr>
          <p:cNvSpPr txBox="1"/>
          <p:nvPr/>
        </p:nvSpPr>
        <p:spPr>
          <a:xfrm>
            <a:off x="136143" y="3529158"/>
            <a:ext cx="1545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800" dirty="0"/>
              <a:t>(n x m)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7EC26C14-4625-3E26-A1D5-4827DF8572E9}"/>
              </a:ext>
            </a:extLst>
          </p:cNvPr>
          <p:cNvSpPr txBox="1"/>
          <p:nvPr/>
        </p:nvSpPr>
        <p:spPr>
          <a:xfrm>
            <a:off x="1434721" y="3543710"/>
            <a:ext cx="1545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800" dirty="0"/>
              <a:t>(m x 1)</a:t>
            </a: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05D8A55F-8315-113A-694A-7ACCB7350456}"/>
              </a:ext>
            </a:extLst>
          </p:cNvPr>
          <p:cNvSpPr txBox="1"/>
          <p:nvPr/>
        </p:nvSpPr>
        <p:spPr>
          <a:xfrm>
            <a:off x="3866626" y="3543710"/>
            <a:ext cx="1545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800" dirty="0"/>
              <a:t>(n x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10">
                <a:extLst>
                  <a:ext uri="{FF2B5EF4-FFF2-40B4-BE49-F238E27FC236}">
                    <a16:creationId xmlns:a16="http://schemas.microsoft.com/office/drawing/2014/main" id="{8264CB0E-5FA6-513B-1603-4201E36000B4}"/>
                  </a:ext>
                </a:extLst>
              </p:cNvPr>
              <p:cNvSpPr txBox="1"/>
              <p:nvPr/>
            </p:nvSpPr>
            <p:spPr>
              <a:xfrm>
                <a:off x="6678151" y="3743512"/>
                <a:ext cx="2392360" cy="2082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SG" sz="1800" dirty="0">
                    <a:latin typeface="Cambria Math" panose="02040503050406030204" pitchFamily="18" charset="0"/>
                    <a:ea typeface="Arial" charset="0"/>
                    <a:cs typeface="Arial" charset="0"/>
                  </a:rPr>
                  <a:t>Map Function output: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Arial" charset="0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Arial" charset="0"/>
                              <a:cs typeface="Arial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Arial" charset="0"/>
                              <a:cs typeface="Arial" charset="0"/>
                            </a:rPr>
                            <m:t>𝑖</m:t>
                          </m:r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Arial" charset="0"/>
                              <a:cs typeface="Arial" charset="0"/>
                            </a:rPr>
                            <m:t>,</m:t>
                          </m:r>
                          <m:r>
                            <a:rPr lang="en-US" sz="1800" b="1" i="1">
                              <a:latin typeface="Cambria Math" charset="0"/>
                              <a:ea typeface="Arial" charset="0"/>
                              <a:cs typeface="Arial" charset="0"/>
                            </a:rPr>
                            <m:t>𝑴</m:t>
                          </m:r>
                        </m:e>
                        <m:sub>
                          <m:r>
                            <a:rPr lang="en-US" sz="1800" b="0" i="1">
                              <a:latin typeface="Cambria Math" charset="0"/>
                              <a:ea typeface="Arial" charset="0"/>
                              <a:cs typeface="Arial" charset="0"/>
                            </a:rPr>
                            <m:t>𝑖𝑗</m:t>
                          </m:r>
                        </m:sub>
                      </m:sSub>
                      <m:r>
                        <a:rPr lang="en-US" sz="1800" b="1" i="1">
                          <a:latin typeface="Cambria Math" charset="0"/>
                          <a:ea typeface="Arial" charset="0"/>
                          <a:cs typeface="Arial" charset="0"/>
                        </a:rPr>
                        <m:t>∙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Arial" charset="0"/>
                              <a:cs typeface="Arial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charset="0"/>
                              <a:ea typeface="Arial" charset="0"/>
                              <a:cs typeface="Arial" charset="0"/>
                            </a:rPr>
                            <m:t>𝒗</m:t>
                          </m:r>
                        </m:e>
                        <m:sub>
                          <m:r>
                            <a:rPr lang="en-US" sz="1800" b="0" i="1">
                              <a:latin typeface="Cambria Math" charset="0"/>
                              <a:ea typeface="Arial" charset="0"/>
                              <a:cs typeface="Arial" charset="0"/>
                            </a:rPr>
                            <m:t>𝑗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)</m:t>
                      </m:r>
                    </m:oMath>
                  </m:oMathPara>
                </a14:m>
                <a:endParaRPr lang="en-SG" sz="1800" b="1" dirty="0">
                  <a:ea typeface="Arial" charset="0"/>
                  <a:cs typeface="Arial" charset="0"/>
                </a:endParaRPr>
              </a:p>
              <a:p>
                <a:endParaRPr lang="en-SG" sz="1800" dirty="0"/>
              </a:p>
              <a:p>
                <a:r>
                  <a:rPr lang="en-SG" sz="1800" dirty="0"/>
                  <a:t>Reduce Function output: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𝑖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Arial" charset="0"/>
                          <a:cs typeface="Arial" charset="0"/>
                        </a:rPr>
                        <m:t>,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1800" i="1">
                              <a:latin typeface="Cambria Math" panose="02040503050406030204" pitchFamily="18" charset="0"/>
                              <a:ea typeface="Arial" charset="0"/>
                              <a:cs typeface="Arial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800" b="0" i="1">
                              <a:latin typeface="Cambria Math" charset="0"/>
                              <a:ea typeface="Arial" charset="0"/>
                              <a:cs typeface="Arial" charset="0"/>
                            </a:rPr>
                            <m:t>𝑗</m:t>
                          </m:r>
                          <m:r>
                            <a:rPr lang="en-US" sz="1800" b="0" i="1">
                              <a:latin typeface="Cambria Math" charset="0"/>
                              <a:ea typeface="Arial" charset="0"/>
                              <a:cs typeface="Arial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>
                              <a:latin typeface="Cambria Math" charset="0"/>
                              <a:ea typeface="Arial" charset="0"/>
                              <a:cs typeface="Arial" charset="0"/>
                            </a:rPr>
                            <m:t>𝑚</m:t>
                          </m:r>
                        </m:sup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Arial" charset="0"/>
                              <a:cs typeface="Arial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sz="1800" dirty="0"/>
              </a:p>
            </p:txBody>
          </p:sp>
        </mc:Choice>
        <mc:Fallback xmlns="">
          <p:sp>
            <p:nvSpPr>
              <p:cNvPr id="32" name="TextBox 10">
                <a:extLst>
                  <a:ext uri="{FF2B5EF4-FFF2-40B4-BE49-F238E27FC236}">
                    <a16:creationId xmlns:a16="http://schemas.microsoft.com/office/drawing/2014/main" id="{8264CB0E-5FA6-513B-1603-4201E3600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151" y="3743512"/>
                <a:ext cx="2392360" cy="2082045"/>
              </a:xfrm>
              <a:prstGeom prst="rect">
                <a:avLst/>
              </a:prstGeom>
              <a:blipFill>
                <a:blip r:embed="rId5"/>
                <a:stretch>
                  <a:fillRect l="-2036" t="-175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2">
            <a:extLst>
              <a:ext uri="{FF2B5EF4-FFF2-40B4-BE49-F238E27FC236}">
                <a16:creationId xmlns:a16="http://schemas.microsoft.com/office/drawing/2014/main" id="{A05C1218-ABF2-DFEB-E0F9-EEA08F8E5FEF}"/>
              </a:ext>
            </a:extLst>
          </p:cNvPr>
          <p:cNvSpPr/>
          <p:nvPr/>
        </p:nvSpPr>
        <p:spPr bwMode="auto">
          <a:xfrm>
            <a:off x="3154207" y="1336389"/>
            <a:ext cx="735550" cy="1941945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1F9A77D-9C5A-7B0C-9F5B-610885748C13}"/>
              </a:ext>
            </a:extLst>
          </p:cNvPr>
          <p:cNvSpPr/>
          <p:nvPr/>
        </p:nvSpPr>
        <p:spPr bwMode="auto">
          <a:xfrm>
            <a:off x="5264727" y="1336390"/>
            <a:ext cx="766618" cy="1942520"/>
          </a:xfrm>
          <a:prstGeom prst="rect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2FD7DE-54BB-309A-1107-332B4439D7FD}"/>
              </a:ext>
            </a:extLst>
          </p:cNvPr>
          <p:cNvSpPr/>
          <p:nvPr/>
        </p:nvSpPr>
        <p:spPr bwMode="auto">
          <a:xfrm>
            <a:off x="2036895" y="4306757"/>
            <a:ext cx="317508" cy="286328"/>
          </a:xfrm>
          <a:prstGeom prst="rect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15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6" grpId="0"/>
      <p:bldP spid="18" grpId="0" animBg="1"/>
      <p:bldP spid="19" grpId="0" animBg="1"/>
      <p:bldP spid="23" grpId="0" animBg="1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2" grpId="0" animBg="1"/>
      <p:bldP spid="5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9017000" y="6651625"/>
            <a:ext cx="127000" cy="1349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099" y="2997198"/>
            <a:ext cx="82771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Map</a:t>
            </a:r>
            <a:r>
              <a:rPr lang="en-US" altLang="zh-CN" sz="2000" dirty="0">
                <a:latin typeface="Arial" charset="0"/>
                <a:ea typeface="Arial" charset="0"/>
                <a:cs typeface="Arial" charset="0"/>
              </a:rPr>
              <a:t>: </a:t>
            </a:r>
            <a:r>
              <a:rPr lang="zh-CN" altLang="en-US" sz="2000" dirty="0">
                <a:latin typeface="Arial" charset="0"/>
                <a:ea typeface="Arial" charset="0"/>
                <a:cs typeface="Arial" charset="0"/>
              </a:rPr>
              <a:t>Thus, the sixteen key-value pairs produced are:</a:t>
            </a:r>
            <a:endParaRPr lang="en-US" altLang="zh-CN" sz="2000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latin typeface="Arial" charset="0"/>
              <a:ea typeface="Arial" charset="0"/>
              <a:cs typeface="Arial" charset="0"/>
            </a:endParaRPr>
          </a:p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Reduce</a:t>
            </a:r>
            <a:r>
              <a:rPr lang="en-US" altLang="zh-CN" sz="2000" dirty="0">
                <a:latin typeface="Arial" charset="0"/>
                <a:ea typeface="Arial" charset="0"/>
                <a:cs typeface="Arial" charset="0"/>
              </a:rPr>
              <a:t>:</a:t>
            </a:r>
            <a:r>
              <a:rPr lang="zh-CN" altLang="en-US" sz="2000" dirty="0">
                <a:latin typeface="Arial" charset="0"/>
                <a:ea typeface="Arial" charset="0"/>
                <a:cs typeface="Arial" charset="0"/>
              </a:rPr>
              <a:t> sum the values corresponding to the same key, thus, results of reduce are:</a:t>
            </a:r>
            <a:r>
              <a:rPr lang="en-US" altLang="zh-CN" sz="20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zh-CN" altLang="en-US" sz="2000" dirty="0">
                <a:latin typeface="Arial" charset="0"/>
                <a:ea typeface="Arial" charset="0"/>
                <a:cs typeface="Arial" charset="0"/>
              </a:rPr>
              <a:t>(1,30), (2,70), (3,110), (4,150)</a:t>
            </a:r>
            <a:endParaRPr lang="en-US" sz="2000" dirty="0">
              <a:latin typeface="Arial" charset="0"/>
              <a:ea typeface="Arial" charset="0"/>
              <a:cs typeface="Arial" charset="0"/>
            </a:endParaRPr>
          </a:p>
          <a:p>
            <a:endParaRPr lang="en-US" sz="2000" dirty="0">
              <a:latin typeface="Arial" charset="0"/>
              <a:ea typeface="Arial" charset="0"/>
              <a:cs typeface="Arial" charset="0"/>
            </a:endParaRPr>
          </a:p>
          <a:p>
            <a:endParaRPr lang="en-US" sz="2000"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C3CE9B3A-EB0C-756A-D61E-D3DB381F8BD7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Solution 2: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591E89-C234-621D-2541-C183AFA1408B}"/>
              </a:ext>
            </a:extLst>
          </p:cNvPr>
          <p:cNvSpPr txBox="1"/>
          <p:nvPr/>
        </p:nvSpPr>
        <p:spPr>
          <a:xfrm>
            <a:off x="2820675" y="1703760"/>
            <a:ext cx="341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×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A5F44E-100A-CE11-1B3E-90E0D3C4986B}"/>
              </a:ext>
            </a:extLst>
          </p:cNvPr>
          <p:cNvSpPr txBox="1"/>
          <p:nvPr/>
        </p:nvSpPr>
        <p:spPr>
          <a:xfrm>
            <a:off x="3826961" y="1703759"/>
            <a:ext cx="341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=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8646FE9-E9BF-5E50-EA1B-1F0B0D7AC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8671"/>
              </p:ext>
            </p:extLst>
          </p:nvPr>
        </p:nvGraphicFramePr>
        <p:xfrm>
          <a:off x="4501294" y="1284512"/>
          <a:ext cx="299724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7244">
                  <a:extLst>
                    <a:ext uri="{9D8B030D-6E8A-4147-A177-3AD203B41FA5}">
                      <a16:colId xmlns:a16="http://schemas.microsoft.com/office/drawing/2014/main" val="3665372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1×1 + 2×2 +</a:t>
                      </a:r>
                      <a:r>
                        <a:rPr lang="en-SG" dirty="0"/>
                        <a:t> 3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3 + 4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018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5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1 + 6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2 + 7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3 + 8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510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9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1 + 10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2 + 11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3 + 12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13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1 + 14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2 + 15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3 + 16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75708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3302D82-FF7A-3ED6-971B-02FEFA08B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059" y="3649148"/>
            <a:ext cx="4269881" cy="1505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70E74C-51A2-E817-A966-E5800C01FD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334"/>
          <a:stretch>
            <a:fillRect/>
          </a:stretch>
        </p:blipFill>
        <p:spPr>
          <a:xfrm>
            <a:off x="920935" y="1382258"/>
            <a:ext cx="1821165" cy="1181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C19EE0-6CF2-9018-92BA-AAA8DA7A3C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686"/>
          <a:stretch>
            <a:fillRect/>
          </a:stretch>
        </p:blipFill>
        <p:spPr>
          <a:xfrm>
            <a:off x="3240855" y="1379642"/>
            <a:ext cx="372949" cy="1181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9017000" y="6651625"/>
            <a:ext cx="127000" cy="1349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94F2F56-CB49-A96C-D615-92A125907DE1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Question 3a: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36800F-883D-5EDD-D41E-00847C5ACAE7}"/>
              </a:ext>
            </a:extLst>
          </p:cNvPr>
          <p:cNvSpPr txBox="1"/>
          <p:nvPr/>
        </p:nvSpPr>
        <p:spPr>
          <a:xfrm>
            <a:off x="5303190" y="3028209"/>
            <a:ext cx="3615163" cy="1491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SG" sz="1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a) Initially, Tommy has finished an implementation with Version 1 (Figure 1). He finds that the implementation can have correct results, but the performance is very slow. Why?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429F4-CC50-CFFE-CC8F-EE3F144F1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4" y="1222226"/>
            <a:ext cx="8685456" cy="17450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88EDDC-03D0-E9AA-43E3-D3C02E0F1C7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 t="356" b="-1"/>
          <a:stretch/>
        </p:blipFill>
        <p:spPr>
          <a:xfrm>
            <a:off x="207814" y="3028209"/>
            <a:ext cx="4885193" cy="32730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ontent Placeholder 2"/>
          <p:cNvSpPr txBox="1">
            <a:spLocks noGrp="1"/>
          </p:cNvSpPr>
          <p:nvPr>
            <p:ph idx="1"/>
          </p:nvPr>
        </p:nvSpPr>
        <p:spPr>
          <a:xfrm>
            <a:off x="225160" y="1006690"/>
            <a:ext cx="7928240" cy="1464938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2400"/>
            </a:lvl1pPr>
          </a:lstStyle>
          <a:p>
            <a:r>
              <a:rPr b="0" dirty="0">
                <a:solidFill>
                  <a:schemeClr val="tx1"/>
                </a:solidFill>
              </a:rPr>
              <a:t>It requires sh</a:t>
            </a:r>
            <a:r>
              <a:rPr lang="en-US" b="0" dirty="0">
                <a:solidFill>
                  <a:schemeClr val="tx1"/>
                </a:solidFill>
              </a:rPr>
              <a:t>uffl</a:t>
            </a:r>
            <a:r>
              <a:rPr b="0" dirty="0">
                <a:solidFill>
                  <a:schemeClr val="tx1"/>
                </a:solidFill>
              </a:rPr>
              <a:t>ing all key-value pairs from mappers to reducers across the network, which is highly in</a:t>
            </a:r>
            <a:r>
              <a:rPr lang="en-US" b="0" dirty="0">
                <a:solidFill>
                  <a:schemeClr val="tx1"/>
                </a:solidFill>
              </a:rPr>
              <a:t>effi</a:t>
            </a:r>
            <a:r>
              <a:rPr b="0" dirty="0">
                <a:solidFill>
                  <a:schemeClr val="tx1"/>
                </a:solidFill>
              </a:rPr>
              <a:t>cient.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171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999538" y="6651625"/>
            <a:ext cx="144462" cy="1349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196" y="1875006"/>
            <a:ext cx="5019608" cy="3275622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55E9A023-24C3-A4DF-D238-6EFFB864A4A4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Solution 3a: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1640A4-2FCD-2B44-FB64-A8A09986BDAD}"/>
              </a:ext>
            </a:extLst>
          </p:cNvPr>
          <p:cNvGrpSpPr/>
          <p:nvPr/>
        </p:nvGrpSpPr>
        <p:grpSpPr>
          <a:xfrm>
            <a:off x="1598581" y="6100239"/>
            <a:ext cx="670518" cy="514154"/>
            <a:chOff x="1141381" y="6134818"/>
            <a:chExt cx="670518" cy="51415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B10ECC-A8A6-6B58-6761-8B239D60FDB5}"/>
                </a:ext>
              </a:extLst>
            </p:cNvPr>
            <p:cNvSpPr txBox="1"/>
            <p:nvPr/>
          </p:nvSpPr>
          <p:spPr>
            <a:xfrm>
              <a:off x="1141381" y="6187307"/>
              <a:ext cx="6705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B050"/>
                  </a:solidFill>
                </a:rPr>
                <a:t>key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5E6881A-2550-47A0-8B05-CAC460E53E0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476640" y="6134818"/>
              <a:ext cx="335259" cy="1781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BDD5030-9921-F6CC-0581-9CEC2B5D3584}"/>
              </a:ext>
            </a:extLst>
          </p:cNvPr>
          <p:cNvGrpSpPr/>
          <p:nvPr/>
        </p:nvGrpSpPr>
        <p:grpSpPr>
          <a:xfrm>
            <a:off x="3095795" y="6100239"/>
            <a:ext cx="981706" cy="883486"/>
            <a:chOff x="2493815" y="6134818"/>
            <a:chExt cx="981706" cy="88348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00E78B-339C-B07C-CE5C-D3E9FB69F668}"/>
                </a:ext>
              </a:extLst>
            </p:cNvPr>
            <p:cNvSpPr txBox="1"/>
            <p:nvPr/>
          </p:nvSpPr>
          <p:spPr>
            <a:xfrm>
              <a:off x="2493815" y="6187307"/>
              <a:ext cx="9817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>
                  <a:solidFill>
                    <a:srgbClr val="00B050"/>
                  </a:solidFill>
                </a:rPr>
                <a:t>value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2FC17A2-ECC3-50C8-53E8-EC288DC29440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2590800" y="6134818"/>
              <a:ext cx="185588" cy="1781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EC18949-C473-AFE1-FF89-91108271D43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b="73741"/>
          <a:stretch/>
        </p:blipFill>
        <p:spPr>
          <a:xfrm>
            <a:off x="476556" y="5237696"/>
            <a:ext cx="4885193" cy="8625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1" build="p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9017000" y="6651625"/>
            <a:ext cx="127000" cy="1349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94F2F56-CB49-A96C-D615-92A125907DE1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Question 3b:</a:t>
            </a: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C8545838-0D04-0188-3B79-D7C66A9AFD68}"/>
              </a:ext>
            </a:extLst>
          </p:cNvPr>
          <p:cNvSpPr txBox="1"/>
          <p:nvPr/>
        </p:nvSpPr>
        <p:spPr>
          <a:xfrm>
            <a:off x="5303190" y="3028209"/>
            <a:ext cx="3615163" cy="1491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b) Tommy wants to improve the performance using combiners. He comes </a:t>
            </a:r>
            <a:r>
              <a:rPr lang="en-US" sz="16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up</a:t>
            </a:r>
            <a:r>
              <a:rPr lang="en-US" sz="1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with the second implementation (Version 2 in Figure 2). He finds that he can seldom get reasonable results. Why?</a:t>
            </a:r>
            <a:endParaRPr lang="en-SG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B49850-24BB-5754-7DBA-6F004C442D1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7815" y="2920998"/>
            <a:ext cx="5302890" cy="36322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B3CDEE6-AFBE-E557-E3BA-4E8372516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15" y="1175975"/>
            <a:ext cx="8685456" cy="174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8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lide Number Placeholder 3"/>
          <p:cNvSpPr txBox="1">
            <a:spLocks noGrp="1"/>
          </p:cNvSpPr>
          <p:nvPr>
            <p:ph type="sldNum" sz="quarter" idx="11"/>
          </p:nvPr>
        </p:nvSpPr>
        <p:spPr>
          <a:xfrm>
            <a:off x="8990013" y="6651625"/>
            <a:ext cx="153987" cy="1349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32473" y="3213098"/>
            <a:ext cx="31575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Combiner reduces number of data transmission, </a:t>
            </a:r>
            <a:r>
              <a:rPr lang="en-US" sz="2000" b="1" dirty="0"/>
              <a:t>BUT</a:t>
            </a:r>
          </a:p>
          <a:p>
            <a:r>
              <a:rPr lang="en-US" sz="2000" dirty="0"/>
              <a:t>algorithm in Combiner must be designed such that MapReduce still work even if Combiner did not execute.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E77A201-4A9A-AEFD-41E9-03DCFC967F56}"/>
              </a:ext>
            </a:extLst>
          </p:cNvPr>
          <p:cNvSpPr txBox="1"/>
          <p:nvPr/>
        </p:nvSpPr>
        <p:spPr>
          <a:xfrm>
            <a:off x="207814" y="545025"/>
            <a:ext cx="66374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Solution 3b: Recap – Lecture 2 Slide </a:t>
            </a:r>
            <a:r>
              <a:rPr lang="en-US" b="1" dirty="0">
                <a:latin typeface="+mj-lt"/>
              </a:rPr>
              <a:t>53</a:t>
            </a:r>
            <a:endParaRPr lang="en-US" sz="2400" b="1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5BAFD3-C416-93D4-90B6-539DC64D81F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8914" y="1280687"/>
            <a:ext cx="6425195" cy="465222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5AA5603-0C9A-B045-F8BF-5F054149C532}"/>
              </a:ext>
            </a:extLst>
          </p:cNvPr>
          <p:cNvSpPr/>
          <p:nvPr/>
        </p:nvSpPr>
        <p:spPr bwMode="auto">
          <a:xfrm>
            <a:off x="520700" y="2106255"/>
            <a:ext cx="2095500" cy="2794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F8BA1-2257-FC5B-CF93-0E1B4D1D1AF7}"/>
              </a:ext>
            </a:extLst>
          </p:cNvPr>
          <p:cNvSpPr/>
          <p:nvPr/>
        </p:nvSpPr>
        <p:spPr bwMode="auto">
          <a:xfrm>
            <a:off x="5832473" y="5471159"/>
            <a:ext cx="575947" cy="46174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9017000" y="6651625"/>
            <a:ext cx="127000" cy="1349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94F2F56-CB49-A96C-D615-92A125907DE1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Solution 3b: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B49850-24BB-5754-7DBA-6F004C442D1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7815" y="1117598"/>
            <a:ext cx="5859139" cy="40132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F26D9D-794E-DBF2-8A74-0132AAF013F8}"/>
              </a:ext>
            </a:extLst>
          </p:cNvPr>
          <p:cNvSpPr txBox="1"/>
          <p:nvPr/>
        </p:nvSpPr>
        <p:spPr>
          <a:xfrm>
            <a:off x="402473" y="5333860"/>
            <a:ext cx="83390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latin typeface="Calibri" panose="020F0502020204030204" pitchFamily="34" charset="0"/>
              </a:rPr>
              <a:t>Conclusion</a:t>
            </a:r>
            <a:r>
              <a:rPr lang="en-US" sz="2000" b="0" i="0" u="none" strike="noStrike" baseline="0" dirty="0">
                <a:latin typeface="Calibri" panose="020F0502020204030204" pitchFamily="34" charset="0"/>
              </a:rPr>
              <a:t>: combiners must have the same input and output key-value type, which also must be the same as the mapper output type and the reducer input type (ignoring the fact that the combiner and reducer’s input is a</a:t>
            </a:r>
            <a:r>
              <a:rPr lang="en-US" sz="2000" b="0" i="1" u="none" strike="noStrike" baseline="0" dirty="0">
                <a:latin typeface="Calibri" panose="020F0502020204030204" pitchFamily="34" charset="0"/>
              </a:rPr>
              <a:t> list </a:t>
            </a:r>
            <a:r>
              <a:rPr lang="en-US" sz="2000" b="0" u="none" strike="noStrike" baseline="0" dirty="0">
                <a:latin typeface="Calibri" panose="020F0502020204030204" pitchFamily="34" charset="0"/>
              </a:rPr>
              <a:t>of values).</a:t>
            </a:r>
            <a:endParaRPr lang="en-SG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55586-A1B2-2B0D-C952-AD0609EC582C}"/>
              </a:ext>
            </a:extLst>
          </p:cNvPr>
          <p:cNvSpPr txBox="1"/>
          <p:nvPr/>
        </p:nvSpPr>
        <p:spPr>
          <a:xfrm>
            <a:off x="4267200" y="1117598"/>
            <a:ext cx="4749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Calibri" panose="020F0502020204030204" pitchFamily="34" charset="0"/>
              </a:rPr>
              <a:t>Case 1: Combiner always run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MapReduce works as </a:t>
            </a:r>
            <a:r>
              <a:rPr lang="en-US" sz="1800" b="1" dirty="0">
                <a:solidFill>
                  <a:srgbClr val="0070C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combiner output </a:t>
            </a:r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has same key-value type as </a:t>
            </a:r>
            <a:r>
              <a:rPr lang="en-US" sz="1800" b="1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reducer input</a:t>
            </a:r>
          </a:p>
          <a:p>
            <a:pPr algn="l"/>
            <a:endParaRPr lang="en-US" sz="1800" b="1" dirty="0">
              <a:solidFill>
                <a:srgbClr val="FF0000"/>
              </a:solidFill>
              <a:latin typeface="Calibri" panose="020F0502020204030204" pitchFamily="34" charset="0"/>
              <a:sym typeface="Wingdings" panose="05000000000000000000" pitchFamily="2" charset="2"/>
            </a:endParaRPr>
          </a:p>
          <a:p>
            <a:pPr algn="l"/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Case 2: Combiner not run sometimes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MapReduce does not work as </a:t>
            </a:r>
            <a:r>
              <a:rPr lang="en-US" sz="1800" b="1" dirty="0">
                <a:solidFill>
                  <a:srgbClr val="00B05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mapper output </a:t>
            </a:r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has different key-value type as </a:t>
            </a:r>
            <a:r>
              <a:rPr lang="en-US" sz="1800" b="1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reducer input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en-SG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2E335A-5D99-BB38-24DC-DE1B89EB40EF}"/>
              </a:ext>
            </a:extLst>
          </p:cNvPr>
          <p:cNvSpPr/>
          <p:nvPr/>
        </p:nvSpPr>
        <p:spPr bwMode="auto">
          <a:xfrm>
            <a:off x="1231900" y="3071703"/>
            <a:ext cx="1905484" cy="304801"/>
          </a:xfrm>
          <a:prstGeom prst="rect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E00542-D58F-B710-DD5B-5FB5A2FEA8E0}"/>
              </a:ext>
            </a:extLst>
          </p:cNvPr>
          <p:cNvSpPr/>
          <p:nvPr/>
        </p:nvSpPr>
        <p:spPr bwMode="auto">
          <a:xfrm>
            <a:off x="1867384" y="3533368"/>
            <a:ext cx="2399816" cy="30480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29A24B-4D46-4DEE-D6B7-0AD2A5A549CB}"/>
              </a:ext>
            </a:extLst>
          </p:cNvPr>
          <p:cNvSpPr/>
          <p:nvPr/>
        </p:nvSpPr>
        <p:spPr bwMode="auto">
          <a:xfrm>
            <a:off x="1231900" y="1515141"/>
            <a:ext cx="1511300" cy="263932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0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uiExpand="1" build="p"/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9017000" y="6651625"/>
            <a:ext cx="127000" cy="1349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94F2F56-CB49-A96C-D615-92A125907DE1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Question 3c:</a:t>
            </a: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C8545838-0D04-0188-3B79-D7C66A9AFD68}"/>
              </a:ext>
            </a:extLst>
          </p:cNvPr>
          <p:cNvSpPr txBox="1"/>
          <p:nvPr/>
        </p:nvSpPr>
        <p:spPr>
          <a:xfrm>
            <a:off x="4779816" y="3028209"/>
            <a:ext cx="4138538" cy="1984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c) 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After careful design, Tommy finally develops an efficient and correct implementation (Version 3 in Figure 3). Analyze the correctness of the combiner and the efficiency of the algorithm (i.e., why it is more efficient than Version 1).</a:t>
            </a:r>
            <a:endParaRPr lang="en-SG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6C7B9-C1E1-9990-4474-027CF106F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5" y="2920999"/>
            <a:ext cx="3825667" cy="36246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DA8FAF-A5FA-67F2-2629-50FD06839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15" y="1144938"/>
            <a:ext cx="8685456" cy="174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0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990013" y="6651625"/>
            <a:ext cx="153987" cy="1349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3468C23-4AAC-DF82-3E96-4738455D59ED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Solution 3c: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A50F1A2-C9C3-B4AD-2FC5-B61F4D0E7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5" y="1181099"/>
            <a:ext cx="3825667" cy="3624646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57751545-348E-3DF8-A650-C52B8B0BBC2D}"/>
              </a:ext>
            </a:extLst>
          </p:cNvPr>
          <p:cNvSpPr/>
          <p:nvPr/>
        </p:nvSpPr>
        <p:spPr bwMode="auto">
          <a:xfrm>
            <a:off x="1168400" y="2933699"/>
            <a:ext cx="1905484" cy="304801"/>
          </a:xfrm>
          <a:prstGeom prst="rect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4EE7263-F200-8F85-4308-4465E8FD8EDF}"/>
              </a:ext>
            </a:extLst>
          </p:cNvPr>
          <p:cNvSpPr/>
          <p:nvPr/>
        </p:nvSpPr>
        <p:spPr bwMode="auto">
          <a:xfrm>
            <a:off x="1714984" y="3344564"/>
            <a:ext cx="2399816" cy="30480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9B64134E-9551-66B1-1C2E-7D2849A9A0B1}"/>
              </a:ext>
            </a:extLst>
          </p:cNvPr>
          <p:cNvSpPr/>
          <p:nvPr/>
        </p:nvSpPr>
        <p:spPr bwMode="auto">
          <a:xfrm>
            <a:off x="1168400" y="1567637"/>
            <a:ext cx="1511300" cy="263932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E8F484-5C08-06E7-51E5-C875BCD984B0}"/>
              </a:ext>
            </a:extLst>
          </p:cNvPr>
          <p:cNvSpPr txBox="1"/>
          <p:nvPr/>
        </p:nvSpPr>
        <p:spPr>
          <a:xfrm>
            <a:off x="4317206" y="685442"/>
            <a:ext cx="4749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B050"/>
                </a:solidFill>
                <a:latin typeface="Calibri" panose="020F0502020204030204" pitchFamily="34" charset="0"/>
              </a:rPr>
              <a:t>Mapper: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Key: string t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Value: a pair consisting of integer and 1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This corresponds to a partial count over 1 instance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en-US" sz="1800" dirty="0">
              <a:solidFill>
                <a:srgbClr val="00B050"/>
              </a:solidFill>
              <a:latin typeface="Calibri" panose="020F0502020204030204" pitchFamily="34" charset="0"/>
              <a:sym typeface="Wingdings" panose="05000000000000000000" pitchFamily="2" charset="2"/>
            </a:endParaRPr>
          </a:p>
          <a:p>
            <a:pPr algn="l"/>
            <a:r>
              <a:rPr lang="en-US" sz="1800" dirty="0">
                <a:solidFill>
                  <a:srgbClr val="00B0F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Combiner: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Combiner aggregates the partial sums and the partial counts and emits pairs with updated sums and counts.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The number of key-value pairs is reduced, thus shuffle and sort can be more efficient. </a:t>
            </a:r>
          </a:p>
          <a:p>
            <a:pPr algn="l"/>
            <a:endParaRPr lang="en-US" sz="1800" dirty="0">
              <a:latin typeface="Calibri" panose="020F0502020204030204" pitchFamily="34" charset="0"/>
              <a:sym typeface="Wingdings" panose="05000000000000000000" pitchFamily="2" charset="2"/>
            </a:endParaRPr>
          </a:p>
          <a:p>
            <a:pPr algn="l"/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Reducer: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  <a:sym typeface="Wingdings" panose="05000000000000000000" pitchFamily="2" charset="2"/>
              </a:rPr>
              <a:t>Similar algorithm as combiner, with mean computed at the end. 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endParaRPr lang="en-SG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46183A-04F4-A616-F938-0A244566B72D}"/>
              </a:ext>
            </a:extLst>
          </p:cNvPr>
          <p:cNvSpPr txBox="1"/>
          <p:nvPr/>
        </p:nvSpPr>
        <p:spPr>
          <a:xfrm>
            <a:off x="207815" y="5401965"/>
            <a:ext cx="87821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latin typeface="Calibri" panose="020F0502020204030204" pitchFamily="34" charset="0"/>
                <a:sym typeface="Wingdings" panose="05000000000000000000" pitchFamily="2" charset="2"/>
              </a:rPr>
              <a:t>In essence, the algorithm transforms a non-associative operation (mean of numbers) into an associative operation (element-wise sum of a pair of numbers, with an additional division at the very end).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F3358B-EC7F-0FF8-C741-F748132C4FCE}"/>
              </a:ext>
            </a:extLst>
          </p:cNvPr>
          <p:cNvSpPr txBox="1"/>
          <p:nvPr/>
        </p:nvSpPr>
        <p:spPr>
          <a:xfrm>
            <a:off x="2590296" y="6783015"/>
            <a:ext cx="57917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D1D5DB"/>
                </a:solidFill>
                <a:effectLst/>
                <a:latin typeface="KaTeX_Main"/>
              </a:rPr>
              <a:t>Associative Operation: (</a:t>
            </a:r>
            <a:r>
              <a:rPr lang="pt-BR" b="0" i="1" dirty="0">
                <a:solidFill>
                  <a:srgbClr val="D1D5DB"/>
                </a:solidFill>
                <a:effectLst/>
                <a:latin typeface="KaTeX_Math"/>
              </a:rPr>
              <a:t>a</a:t>
            </a:r>
            <a:r>
              <a:rPr lang="pt-BR" b="0" i="0" dirty="0">
                <a:solidFill>
                  <a:srgbClr val="D1D5DB"/>
                </a:solidFill>
                <a:effectLst/>
                <a:latin typeface="KaTeX_Main"/>
              </a:rPr>
              <a:t>+</a:t>
            </a:r>
            <a:r>
              <a:rPr lang="pt-BR" b="0" i="1" dirty="0">
                <a:solidFill>
                  <a:srgbClr val="D1D5DB"/>
                </a:solidFill>
                <a:effectLst/>
                <a:latin typeface="KaTeX_Math"/>
              </a:rPr>
              <a:t>b</a:t>
            </a:r>
            <a:r>
              <a:rPr lang="pt-BR" b="0" i="0" dirty="0">
                <a:solidFill>
                  <a:srgbClr val="D1D5DB"/>
                </a:solidFill>
                <a:effectLst/>
                <a:latin typeface="KaTeX_Main"/>
              </a:rPr>
              <a:t>)+</a:t>
            </a:r>
            <a:r>
              <a:rPr lang="pt-BR" b="0" i="1" dirty="0">
                <a:solidFill>
                  <a:srgbClr val="D1D5DB"/>
                </a:solidFill>
                <a:effectLst/>
                <a:latin typeface="KaTeX_Math"/>
              </a:rPr>
              <a:t>c</a:t>
            </a:r>
            <a:r>
              <a:rPr lang="pt-BR" b="0" i="0" dirty="0">
                <a:solidFill>
                  <a:srgbClr val="D1D5DB"/>
                </a:solidFill>
                <a:effectLst/>
                <a:latin typeface="KaTeX_Main"/>
              </a:rPr>
              <a:t>=</a:t>
            </a:r>
            <a:r>
              <a:rPr lang="pt-BR" b="0" i="1" dirty="0">
                <a:solidFill>
                  <a:srgbClr val="D1D5DB"/>
                </a:solidFill>
                <a:effectLst/>
                <a:latin typeface="KaTeX_Math"/>
              </a:rPr>
              <a:t>a</a:t>
            </a:r>
            <a:r>
              <a:rPr lang="pt-BR" b="0" i="0" dirty="0">
                <a:solidFill>
                  <a:srgbClr val="D1D5DB"/>
                </a:solidFill>
                <a:effectLst/>
                <a:latin typeface="KaTeX_Main"/>
              </a:rPr>
              <a:t>+(</a:t>
            </a:r>
            <a:r>
              <a:rPr lang="pt-BR" b="0" i="1" dirty="0">
                <a:solidFill>
                  <a:srgbClr val="D1D5DB"/>
                </a:solidFill>
                <a:effectLst/>
                <a:latin typeface="KaTeX_Math"/>
              </a:rPr>
              <a:t>b</a:t>
            </a:r>
            <a:r>
              <a:rPr lang="pt-BR" b="0" i="0" dirty="0">
                <a:solidFill>
                  <a:srgbClr val="D1D5DB"/>
                </a:solidFill>
                <a:effectLst/>
                <a:latin typeface="KaTeX_Main"/>
              </a:rPr>
              <a:t>+</a:t>
            </a:r>
            <a:r>
              <a:rPr lang="pt-BR" b="0" i="1" dirty="0">
                <a:solidFill>
                  <a:srgbClr val="D1D5DB"/>
                </a:solidFill>
                <a:effectLst/>
                <a:latin typeface="KaTeX_Math"/>
              </a:rPr>
              <a:t>c</a:t>
            </a:r>
            <a:r>
              <a:rPr lang="pt-BR" b="0" i="0" dirty="0">
                <a:solidFill>
                  <a:srgbClr val="D1D5DB"/>
                </a:solidFill>
                <a:effectLst/>
                <a:latin typeface="KaTeX_Main"/>
              </a:rPr>
              <a:t>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0623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uiExpand="1" build="p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9017000" y="6651625"/>
            <a:ext cx="127000" cy="1349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94F2F56-CB49-A96C-D615-92A125907DE1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Question 3d:</a:t>
            </a: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C8545838-0D04-0188-3B79-D7C66A9AFD68}"/>
              </a:ext>
            </a:extLst>
          </p:cNvPr>
          <p:cNvSpPr txBox="1"/>
          <p:nvPr/>
        </p:nvSpPr>
        <p:spPr>
          <a:xfrm>
            <a:off x="4600257" y="3389625"/>
            <a:ext cx="4293014" cy="1208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d) Tommy analyzes the efficiency of Version 3 and comes </a:t>
            </a:r>
            <a:r>
              <a:rPr lang="en-US" sz="16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up with</a:t>
            </a:r>
            <a:r>
              <a:rPr lang="en-US" sz="1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an alternative implementation without a combiner (Version 4 in Figure 4). Is it as efficient as Version 3? Why or wh</a:t>
            </a:r>
            <a:r>
              <a:rPr lang="en-US" sz="1600" dirty="0"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y not?</a:t>
            </a:r>
            <a:r>
              <a:rPr lang="en-US" sz="1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SG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4D5E46-2501-AB2B-425B-FFA85F716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1" y="3111797"/>
            <a:ext cx="4544059" cy="29722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30C760-5259-DE80-04C6-103E7447F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15" y="1186732"/>
            <a:ext cx="8685456" cy="174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6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ontent Placeholder 2"/>
          <p:cNvSpPr txBox="1">
            <a:spLocks noGrp="1"/>
          </p:cNvSpPr>
          <p:nvPr>
            <p:ph idx="1"/>
          </p:nvPr>
        </p:nvSpPr>
        <p:spPr>
          <a:xfrm>
            <a:off x="207815" y="1196340"/>
            <a:ext cx="8631385" cy="5216651"/>
          </a:xfrm>
          <a:prstGeom prst="rect">
            <a:avLst/>
          </a:prstGeo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Inside the mapper, the partial sums and counts associated with each string are held in memory, across input key-value pairs.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Like before, the mapper output value is a pair consisting of the sum and count.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The input v</a:t>
            </a:r>
            <a:r>
              <a:rPr lang="en-US" sz="18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alue for each key is aggregated over the entire input by</a:t>
            </a:r>
            <a:r>
              <a:rPr lang="en-US" sz="1800" b="0" i="0" u="none" strike="noStrike" dirty="0">
                <a:solidFill>
                  <a:schemeClr val="tx1"/>
                </a:solidFill>
                <a:latin typeface="Calibri" panose="020F0502020204030204" pitchFamily="34" charset="0"/>
              </a:rPr>
              <a:t> the mapper.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The number of key-value pairs emitted by the mapper,</a:t>
            </a:r>
            <a:r>
              <a:rPr lang="en-US" sz="1800" b="0" i="0" u="none" strike="noStrike" dirty="0">
                <a:solidFill>
                  <a:schemeClr val="tx1"/>
                </a:solidFill>
                <a:latin typeface="Calibri" panose="020F0502020204030204" pitchFamily="34" charset="0"/>
              </a:rPr>
              <a:t> and thus</a:t>
            </a:r>
            <a:r>
              <a:rPr lang="en-US" sz="1800" b="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</a:rPr>
              <a:t> the I/O cost between the mapper and reducer,</a:t>
            </a:r>
            <a:r>
              <a:rPr lang="en-US" sz="1800" b="0" i="0" u="none" strike="noStrike" dirty="0">
                <a:solidFill>
                  <a:schemeClr val="tx1"/>
                </a:solidFill>
                <a:latin typeface="Calibri" panose="020F0502020204030204" pitchFamily="34" charset="0"/>
              </a:rPr>
              <a:t> goes down </a:t>
            </a:r>
            <a:r>
              <a:rPr lang="en-US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(compared to version 1)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H</a:t>
            </a:r>
            <a:r>
              <a:rPr lang="en-SG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ere we are using the </a:t>
            </a:r>
            <a:r>
              <a:rPr lang="en-SG" sz="1800" dirty="0">
                <a:solidFill>
                  <a:schemeClr val="tx1"/>
                </a:solidFill>
                <a:latin typeface="Calibri" panose="020F0502020204030204" pitchFamily="34" charset="0"/>
              </a:rPr>
              <a:t>in-mapper combiner</a:t>
            </a:r>
            <a:r>
              <a:rPr lang="en-SG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 pattern rather than a regular combiner as in version 3, but they are equally efficient.</a:t>
            </a:r>
          </a:p>
        </p:txBody>
      </p:sp>
      <p:sp>
        <p:nvSpPr>
          <p:cNvPr id="180" name="灯片编号占位符 3"/>
          <p:cNvSpPr txBox="1">
            <a:spLocks noGrp="1"/>
          </p:cNvSpPr>
          <p:nvPr>
            <p:ph type="sldNum" sz="quarter" idx="11"/>
          </p:nvPr>
        </p:nvSpPr>
        <p:spPr>
          <a:xfrm>
            <a:off x="8990013" y="6651625"/>
            <a:ext cx="153987" cy="1349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3468C23-4AAC-DF82-3E96-4738455D59ED}"/>
              </a:ext>
            </a:extLst>
          </p:cNvPr>
          <p:cNvSpPr txBox="1"/>
          <p:nvPr/>
        </p:nvSpPr>
        <p:spPr>
          <a:xfrm>
            <a:off x="207815" y="5450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400" b="1" dirty="0">
                <a:latin typeface="+mj-lt"/>
              </a:rPr>
              <a:t>Solution 3d: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CE5F40-7B2D-3E7D-60B0-FC534E289A15}"/>
              </a:ext>
            </a:extLst>
          </p:cNvPr>
          <p:cNvGrpSpPr/>
          <p:nvPr/>
        </p:nvGrpSpPr>
        <p:grpSpPr>
          <a:xfrm>
            <a:off x="1073637" y="3788592"/>
            <a:ext cx="6996726" cy="2624399"/>
            <a:chOff x="900507" y="3134373"/>
            <a:chExt cx="6996726" cy="262439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848B139-2BAA-00F5-76B7-8FB03B1CF67A}"/>
                </a:ext>
              </a:extLst>
            </p:cNvPr>
            <p:cNvGrpSpPr/>
            <p:nvPr/>
          </p:nvGrpSpPr>
          <p:grpSpPr>
            <a:xfrm>
              <a:off x="900507" y="3669617"/>
              <a:ext cx="3186616" cy="1184577"/>
              <a:chOff x="79662" y="2940391"/>
              <a:chExt cx="3186616" cy="1184577"/>
            </a:xfrm>
          </p:grpSpPr>
          <p:pic>
            <p:nvPicPr>
              <p:cNvPr id="2" name="Picture 2">
                <a:extLst>
                  <a:ext uri="{FF2B5EF4-FFF2-40B4-BE49-F238E27FC236}">
                    <a16:creationId xmlns:a16="http://schemas.microsoft.com/office/drawing/2014/main" id="{F12B023A-C0C7-DEF6-8FE7-F6DD8E5209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30468" b="82742"/>
              <a:stretch/>
            </p:blipFill>
            <p:spPr>
              <a:xfrm>
                <a:off x="133994" y="2940391"/>
                <a:ext cx="3132284" cy="736601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50B181-35F9-AC09-4AA2-438917FC5BD5}"/>
                  </a:ext>
                </a:extLst>
              </p:cNvPr>
              <p:cNvSpPr txBox="1"/>
              <p:nvPr/>
            </p:nvSpPr>
            <p:spPr>
              <a:xfrm>
                <a:off x="79662" y="3755636"/>
                <a:ext cx="1333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Calibri" panose="020F050202020403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Version 3</a:t>
                </a:r>
                <a:endParaRPr lang="en-SG" sz="1800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8C6620D-FEAE-8C17-7C05-8ADA34AA0997}"/>
                  </a:ext>
                </a:extLst>
              </p:cNvPr>
              <p:cNvSpPr/>
              <p:nvPr/>
            </p:nvSpPr>
            <p:spPr bwMode="auto">
              <a:xfrm>
                <a:off x="133994" y="2940391"/>
                <a:ext cx="2990206" cy="1105933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5AFF406-24FB-9277-6610-9CE3CCBD8CA4}"/>
                </a:ext>
              </a:extLst>
            </p:cNvPr>
            <p:cNvGrpSpPr/>
            <p:nvPr/>
          </p:nvGrpSpPr>
          <p:grpSpPr>
            <a:xfrm>
              <a:off x="4480933" y="3134373"/>
              <a:ext cx="3416300" cy="2624399"/>
              <a:chOff x="5679351" y="2634085"/>
              <a:chExt cx="3416300" cy="2624399"/>
            </a:xfrm>
          </p:grpSpPr>
          <p:pic>
            <p:nvPicPr>
              <p:cNvPr id="3" name="Picture 6">
                <a:extLst>
                  <a:ext uri="{FF2B5EF4-FFF2-40B4-BE49-F238E27FC236}">
                    <a16:creationId xmlns:a16="http://schemas.microsoft.com/office/drawing/2014/main" id="{8D1C2369-BF68-348C-2A8B-50DAF5FAB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79351" y="2644338"/>
                <a:ext cx="3416300" cy="2234561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964ADA-FD03-7D6C-1C3A-D1A014E185FF}"/>
                  </a:ext>
                </a:extLst>
              </p:cNvPr>
              <p:cNvSpPr txBox="1"/>
              <p:nvPr/>
            </p:nvSpPr>
            <p:spPr>
              <a:xfrm>
                <a:off x="5718111" y="4889152"/>
                <a:ext cx="1333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Calibri" panose="020F0502020204030204" pitchFamily="34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Version 4</a:t>
                </a:r>
                <a:endParaRPr lang="en-SG" sz="1800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E44A58D-7C31-0BEE-FFCF-8EECE6E6C96C}"/>
                  </a:ext>
                </a:extLst>
              </p:cNvPr>
              <p:cNvSpPr/>
              <p:nvPr/>
            </p:nvSpPr>
            <p:spPr bwMode="auto">
              <a:xfrm>
                <a:off x="5681659" y="2634085"/>
                <a:ext cx="3413991" cy="2614146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717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build="p"/>
    </p:bld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ro2Gradschool" id="{8ABCC169-56E4-7446-9F23-24C08815A42B}" vid="{986AD0CE-622F-1E4A-B6D4-406E16E504C2}"/>
    </a:ext>
  </a:extLst>
</a:theme>
</file>

<file path=ppt/theme/theme2.xml><?xml version="1.0" encoding="utf-8"?>
<a:theme xmlns:a="http://schemas.openxmlformats.org/drawingml/2006/main" name="Technic">
  <a:themeElements>
    <a:clrScheme name="Technic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00FF"/>
      </a:hlink>
      <a:folHlink>
        <a:srgbClr val="FF00FF"/>
      </a:folHlink>
    </a:clrScheme>
    <a:fontScheme name="Technic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2590</TotalTime>
  <Words>1432</Words>
  <Application>Microsoft Office PowerPoint</Application>
  <PresentationFormat>On-screen Show (4:3)</PresentationFormat>
  <Paragraphs>161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KaTeX_Main</vt:lpstr>
      <vt:lpstr>KaTeX_Math</vt:lpstr>
      <vt:lpstr>SimSun</vt:lpstr>
      <vt:lpstr>Arial</vt:lpstr>
      <vt:lpstr>Calibri</vt:lpstr>
      <vt:lpstr>Cambria Math</vt:lpstr>
      <vt:lpstr>Times</vt:lpstr>
      <vt:lpstr>Times New Roman</vt:lpstr>
      <vt:lpstr>Wingdings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Lau Chee Loong, Desmond</cp:lastModifiedBy>
  <cp:revision>196</cp:revision>
  <dcterms:modified xsi:type="dcterms:W3CDTF">2026-02-12T08:17:03Z</dcterms:modified>
</cp:coreProperties>
</file>